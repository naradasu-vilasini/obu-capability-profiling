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62" r:id="rId7"/>
    <p:sldId id="264" r:id="rId8"/>
    <p:sldId id="263" r:id="rId9"/>
    <p:sldId id="287" r:id="rId10"/>
    <p:sldId id="288" r:id="rId11"/>
    <p:sldId id="265" r:id="rId12"/>
    <p:sldId id="290" r:id="rId13"/>
    <p:sldId id="267" r:id="rId14"/>
    <p:sldId id="266" r:id="rId15"/>
    <p:sldId id="268" r:id="rId16"/>
    <p:sldId id="280" r:id="rId17"/>
    <p:sldId id="283" r:id="rId18"/>
    <p:sldId id="284" r:id="rId19"/>
    <p:sldId id="285" r:id="rId20"/>
    <p:sldId id="289"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52400" y="0"/>
            <a:ext cx="12039600" cy="1583436"/>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0408" y="65277"/>
            <a:ext cx="7867015" cy="799922"/>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58774" y="1149222"/>
            <a:ext cx="11012805" cy="468058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3390/en7063576" TargetMode="External"/><Relationship Id="rId2" Type="http://schemas.openxmlformats.org/officeDocument/2006/relationships/hyperlink" Target="https://doi.org/10.3390/en5124892" TargetMode="External"/><Relationship Id="rId1" Type="http://schemas.openxmlformats.org/officeDocument/2006/relationships/slideLayout" Target="../slideLayouts/slideLayout2.xml"/><Relationship Id="rId6" Type="http://schemas.openxmlformats.org/officeDocument/2006/relationships/hyperlink" Target="https://doi.org/10.3390/app9224844" TargetMode="External"/><Relationship Id="rId5" Type="http://schemas.openxmlformats.org/officeDocument/2006/relationships/hyperlink" Target="https://doi.org/10.3390/en10010030" TargetMode="External"/><Relationship Id="rId4" Type="http://schemas.openxmlformats.org/officeDocument/2006/relationships/hyperlink" Target="https://doi.org/10.3390/su9050694"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3390/s22093190" TargetMode="External"/><Relationship Id="rId2" Type="http://schemas.openxmlformats.org/officeDocument/2006/relationships/hyperlink" Target="https://doi.org/10.3390/wevj13010020" TargetMode="External"/><Relationship Id="rId1" Type="http://schemas.openxmlformats.org/officeDocument/2006/relationships/slideLayout" Target="../slideLayouts/slideLayout2.xml"/><Relationship Id="rId6" Type="http://schemas.openxmlformats.org/officeDocument/2006/relationships/hyperlink" Target="https://doi.org/10.3390/technologies10060128" TargetMode="External"/><Relationship Id="rId5" Type="http://schemas.openxmlformats.org/officeDocument/2006/relationships/hyperlink" Target="https://doi.org/10.3390/app12052705" TargetMode="External"/><Relationship Id="rId4" Type="http://schemas.openxmlformats.org/officeDocument/2006/relationships/hyperlink" Target="https://doi.org/10.3390/smartcities4020034"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90/analytics2020018" TargetMode="External"/><Relationship Id="rId7" Type="http://schemas.openxmlformats.org/officeDocument/2006/relationships/hyperlink" Target="https://www.mdpi.com/2073-431X/14/7/285" TargetMode="External"/><Relationship Id="rId2" Type="http://schemas.openxmlformats.org/officeDocument/2006/relationships/hyperlink" Target="https://doi.org/10.3390/smartcities6050116" TargetMode="External"/><Relationship Id="rId1" Type="http://schemas.openxmlformats.org/officeDocument/2006/relationships/slideLayout" Target="../slideLayouts/slideLayout2.xml"/><Relationship Id="rId6" Type="http://schemas.openxmlformats.org/officeDocument/2006/relationships/hyperlink" Target="https://doi.org/10.3390/app13158919" TargetMode="External"/><Relationship Id="rId5" Type="http://schemas.openxmlformats.org/officeDocument/2006/relationships/hyperlink" Target="https://doi.org/10.3390/su15107845" TargetMode="External"/><Relationship Id="rId4" Type="http://schemas.openxmlformats.org/officeDocument/2006/relationships/hyperlink" Target="https://doi.org/10.3390/wevj14100267"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3390/electronics14010110" TargetMode="External"/><Relationship Id="rId7" Type="http://schemas.openxmlformats.org/officeDocument/2006/relationships/hyperlink" Target="https://www.mdpi.com/2073-431X/14/7/285" TargetMode="External"/><Relationship Id="rId2" Type="http://schemas.openxmlformats.org/officeDocument/2006/relationships/hyperlink" Target="https://doi.org/10.3390/s25020562" TargetMode="External"/><Relationship Id="rId1" Type="http://schemas.openxmlformats.org/officeDocument/2006/relationships/slideLayout" Target="../slideLayouts/slideLayout2.xml"/><Relationship Id="rId6" Type="http://schemas.openxmlformats.org/officeDocument/2006/relationships/hyperlink" Target="https://doi.org/10.3390/app15084361" TargetMode="External"/><Relationship Id="rId5" Type="http://schemas.openxmlformats.org/officeDocument/2006/relationships/hyperlink" Target="https://doi.org/10.3390/s25061941" TargetMode="External"/><Relationship Id="rId4" Type="http://schemas.openxmlformats.org/officeDocument/2006/relationships/hyperlink" Target="https://doi.org/10.3390/s250307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1676400"/>
            <a:ext cx="9341485" cy="2052320"/>
          </a:xfrm>
          <a:prstGeom prst="rect">
            <a:avLst/>
          </a:prstGeom>
        </p:spPr>
        <p:txBody>
          <a:bodyPr vert="horz" wrap="square" lIns="0" tIns="62865" rIns="0" bIns="0" rtlCol="0">
            <a:spAutoFit/>
          </a:bodyPr>
          <a:lstStyle/>
          <a:p>
            <a:pPr marR="516255" algn="ctr">
              <a:lnSpc>
                <a:spcPct val="100000"/>
              </a:lnSpc>
              <a:spcBef>
                <a:spcPts val="495"/>
              </a:spcBef>
            </a:pPr>
            <a:r>
              <a:rPr sz="1800" b="1" spc="-20" dirty="0">
                <a:solidFill>
                  <a:srgbClr val="FF914D"/>
                </a:solidFill>
                <a:latin typeface="Calibri"/>
                <a:cs typeface="Calibri"/>
              </a:rPr>
              <a:t>DEPARTMENT</a:t>
            </a:r>
            <a:r>
              <a:rPr sz="1800" b="1" spc="-5" dirty="0">
                <a:solidFill>
                  <a:srgbClr val="FF914D"/>
                </a:solidFill>
                <a:latin typeface="Calibri"/>
                <a:cs typeface="Calibri"/>
              </a:rPr>
              <a:t> </a:t>
            </a:r>
            <a:r>
              <a:rPr sz="1800" b="1" dirty="0">
                <a:solidFill>
                  <a:srgbClr val="FF914D"/>
                </a:solidFill>
                <a:latin typeface="Calibri"/>
                <a:cs typeface="Calibri"/>
              </a:rPr>
              <a:t>OF</a:t>
            </a:r>
            <a:r>
              <a:rPr sz="1800" b="1" spc="-10" dirty="0">
                <a:solidFill>
                  <a:srgbClr val="FF914D"/>
                </a:solidFill>
                <a:latin typeface="Calibri"/>
                <a:cs typeface="Calibri"/>
              </a:rPr>
              <a:t> </a:t>
            </a:r>
            <a:r>
              <a:rPr sz="1800" b="1" spc="-25" dirty="0">
                <a:solidFill>
                  <a:srgbClr val="FF914D"/>
                </a:solidFill>
                <a:latin typeface="Calibri"/>
                <a:cs typeface="Calibri"/>
              </a:rPr>
              <a:t>CSE-</a:t>
            </a:r>
            <a:r>
              <a:rPr sz="1800" b="1" spc="-20" dirty="0">
                <a:solidFill>
                  <a:srgbClr val="FF914D"/>
                </a:solidFill>
                <a:latin typeface="Calibri"/>
                <a:cs typeface="Calibri"/>
              </a:rPr>
              <a:t>AI&amp;ML</a:t>
            </a:r>
            <a:endParaRPr sz="1800" dirty="0">
              <a:latin typeface="Calibri"/>
              <a:cs typeface="Calibri"/>
            </a:endParaRPr>
          </a:p>
          <a:p>
            <a:pPr marR="505459" algn="ctr">
              <a:lnSpc>
                <a:spcPct val="100000"/>
              </a:lnSpc>
              <a:spcBef>
                <a:spcPts val="450"/>
              </a:spcBef>
            </a:pPr>
            <a:r>
              <a:rPr sz="2000" b="1" dirty="0">
                <a:latin typeface="Times New Roman"/>
                <a:cs typeface="Times New Roman"/>
              </a:rPr>
              <a:t>Major</a:t>
            </a:r>
            <a:r>
              <a:rPr sz="2000" b="1" spc="-80" dirty="0">
                <a:latin typeface="Times New Roman"/>
                <a:cs typeface="Times New Roman"/>
              </a:rPr>
              <a:t> </a:t>
            </a:r>
            <a:r>
              <a:rPr sz="2000" b="1" spc="-10" dirty="0">
                <a:latin typeface="Times New Roman"/>
                <a:cs typeface="Times New Roman"/>
              </a:rPr>
              <a:t>Project</a:t>
            </a:r>
            <a:endParaRPr sz="2000" dirty="0">
              <a:latin typeface="Times New Roman"/>
              <a:cs typeface="Times New Roman"/>
            </a:endParaRPr>
          </a:p>
          <a:p>
            <a:pPr marR="501650" algn="ctr">
              <a:lnSpc>
                <a:spcPct val="100000"/>
              </a:lnSpc>
            </a:pPr>
            <a:r>
              <a:rPr sz="2000" b="1" spc="-25" dirty="0">
                <a:latin typeface="Times New Roman"/>
                <a:cs typeface="Times New Roman"/>
              </a:rPr>
              <a:t>on</a:t>
            </a:r>
            <a:endParaRPr sz="2000" dirty="0">
              <a:latin typeface="Times New Roman"/>
              <a:cs typeface="Times New Roman"/>
            </a:endParaRPr>
          </a:p>
          <a:p>
            <a:pPr marL="3632200" marR="5080" indent="-3620135">
              <a:lnSpc>
                <a:spcPct val="100000"/>
              </a:lnSpc>
              <a:spcBef>
                <a:spcPts val="470"/>
              </a:spcBef>
            </a:pPr>
            <a:r>
              <a:rPr sz="3200" b="1" dirty="0">
                <a:latin typeface="Times New Roman"/>
                <a:cs typeface="Times New Roman"/>
              </a:rPr>
              <a:t>Capability</a:t>
            </a:r>
            <a:r>
              <a:rPr sz="3200" b="1" spc="-135" dirty="0">
                <a:latin typeface="Times New Roman"/>
                <a:cs typeface="Times New Roman"/>
              </a:rPr>
              <a:t> </a:t>
            </a:r>
            <a:r>
              <a:rPr sz="3200" b="1" dirty="0">
                <a:latin typeface="Times New Roman"/>
                <a:cs typeface="Times New Roman"/>
              </a:rPr>
              <a:t>Profiling</a:t>
            </a:r>
            <a:r>
              <a:rPr sz="3200" b="1" spc="-114" dirty="0">
                <a:latin typeface="Times New Roman"/>
                <a:cs typeface="Times New Roman"/>
              </a:rPr>
              <a:t> </a:t>
            </a:r>
            <a:r>
              <a:rPr sz="3200" b="1" dirty="0">
                <a:latin typeface="Times New Roman"/>
                <a:cs typeface="Times New Roman"/>
              </a:rPr>
              <a:t>and</a:t>
            </a:r>
            <a:r>
              <a:rPr sz="3200" b="1" spc="-105" dirty="0">
                <a:latin typeface="Times New Roman"/>
                <a:cs typeface="Times New Roman"/>
              </a:rPr>
              <a:t> </a:t>
            </a:r>
            <a:r>
              <a:rPr sz="3200" b="1" dirty="0">
                <a:latin typeface="Times New Roman"/>
                <a:cs typeface="Times New Roman"/>
              </a:rPr>
              <a:t>Optimization</a:t>
            </a:r>
            <a:r>
              <a:rPr sz="3200" b="1" spc="-140" dirty="0">
                <a:latin typeface="Times New Roman"/>
                <a:cs typeface="Times New Roman"/>
              </a:rPr>
              <a:t> </a:t>
            </a:r>
            <a:r>
              <a:rPr sz="3200" b="1" dirty="0">
                <a:latin typeface="Times New Roman"/>
                <a:cs typeface="Times New Roman"/>
              </a:rPr>
              <a:t>for</a:t>
            </a:r>
            <a:r>
              <a:rPr sz="3200" b="1" spc="-180" dirty="0">
                <a:latin typeface="Times New Roman"/>
                <a:cs typeface="Times New Roman"/>
              </a:rPr>
              <a:t> </a:t>
            </a:r>
            <a:r>
              <a:rPr sz="3200" b="1" spc="-20" dirty="0">
                <a:latin typeface="Times New Roman"/>
                <a:cs typeface="Times New Roman"/>
              </a:rPr>
              <a:t>Vehicle</a:t>
            </a:r>
            <a:r>
              <a:rPr sz="3200" b="1" spc="-120" dirty="0">
                <a:latin typeface="Times New Roman"/>
                <a:cs typeface="Times New Roman"/>
              </a:rPr>
              <a:t> </a:t>
            </a:r>
            <a:r>
              <a:rPr sz="3200" b="1" spc="-25" dirty="0">
                <a:latin typeface="Times New Roman"/>
                <a:cs typeface="Times New Roman"/>
              </a:rPr>
              <a:t>On- </a:t>
            </a:r>
            <a:r>
              <a:rPr sz="3200" b="1" dirty="0">
                <a:latin typeface="Times New Roman"/>
                <a:cs typeface="Times New Roman"/>
              </a:rPr>
              <a:t>Board</a:t>
            </a:r>
            <a:r>
              <a:rPr sz="3200" b="1" spc="-45" dirty="0">
                <a:latin typeface="Times New Roman"/>
                <a:cs typeface="Times New Roman"/>
              </a:rPr>
              <a:t> </a:t>
            </a:r>
            <a:r>
              <a:rPr sz="3200" b="1" spc="-10" dirty="0">
                <a:latin typeface="Times New Roman"/>
                <a:cs typeface="Times New Roman"/>
              </a:rPr>
              <a:t>Units</a:t>
            </a:r>
            <a:endParaRPr sz="3200" dirty="0">
              <a:latin typeface="Times New Roman"/>
              <a:cs typeface="Times New Roman"/>
            </a:endParaRPr>
          </a:p>
        </p:txBody>
      </p:sp>
      <p:sp>
        <p:nvSpPr>
          <p:cNvPr id="3" name="object 3"/>
          <p:cNvSpPr txBox="1"/>
          <p:nvPr/>
        </p:nvSpPr>
        <p:spPr>
          <a:xfrm>
            <a:off x="8077581" y="4314825"/>
            <a:ext cx="3293110" cy="1623060"/>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Times New Roman"/>
                <a:cs typeface="Times New Roman"/>
              </a:rPr>
              <a:t>Batch:8</a:t>
            </a:r>
            <a:endParaRPr sz="3200">
              <a:latin typeface="Times New Roman"/>
              <a:cs typeface="Times New Roman"/>
            </a:endParaRPr>
          </a:p>
          <a:p>
            <a:pPr marL="12700" marR="5080" algn="just">
              <a:lnSpc>
                <a:spcPct val="100000"/>
              </a:lnSpc>
              <a:spcBef>
                <a:spcPts val="95"/>
              </a:spcBef>
            </a:pPr>
            <a:r>
              <a:rPr sz="1800" dirty="0">
                <a:latin typeface="Calibri"/>
                <a:cs typeface="Calibri"/>
              </a:rPr>
              <a:t>KALAKONDA</a:t>
            </a:r>
            <a:r>
              <a:rPr sz="1800" spc="105" dirty="0">
                <a:latin typeface="Calibri"/>
                <a:cs typeface="Calibri"/>
              </a:rPr>
              <a:t> </a:t>
            </a:r>
            <a:r>
              <a:rPr sz="1800" dirty="0">
                <a:latin typeface="Calibri"/>
                <a:cs typeface="Calibri"/>
              </a:rPr>
              <a:t>PAVAN</a:t>
            </a:r>
            <a:r>
              <a:rPr sz="1800" spc="140" dirty="0">
                <a:latin typeface="Calibri"/>
                <a:cs typeface="Calibri"/>
              </a:rPr>
              <a:t> </a:t>
            </a:r>
            <a:r>
              <a:rPr sz="1800" spc="-10" dirty="0">
                <a:latin typeface="Calibri"/>
                <a:cs typeface="Calibri"/>
              </a:rPr>
              <a:t>(22UJ1A6624) </a:t>
            </a:r>
            <a:r>
              <a:rPr sz="1800" dirty="0">
                <a:latin typeface="Calibri"/>
                <a:cs typeface="Calibri"/>
              </a:rPr>
              <a:t>NARADASU</a:t>
            </a:r>
            <a:r>
              <a:rPr sz="1800" spc="95" dirty="0">
                <a:latin typeface="Calibri"/>
                <a:cs typeface="Calibri"/>
              </a:rPr>
              <a:t> </a:t>
            </a:r>
            <a:r>
              <a:rPr sz="1800" dirty="0">
                <a:latin typeface="Calibri"/>
                <a:cs typeface="Calibri"/>
              </a:rPr>
              <a:t>VILASINI</a:t>
            </a:r>
            <a:r>
              <a:rPr sz="1800" spc="114" dirty="0">
                <a:latin typeface="Calibri"/>
                <a:cs typeface="Calibri"/>
              </a:rPr>
              <a:t> </a:t>
            </a:r>
            <a:r>
              <a:rPr sz="1800" spc="-10" dirty="0">
                <a:latin typeface="Calibri"/>
                <a:cs typeface="Calibri"/>
              </a:rPr>
              <a:t>(22UJ1A6644) </a:t>
            </a:r>
            <a:r>
              <a:rPr sz="1800" dirty="0">
                <a:latin typeface="Calibri"/>
                <a:cs typeface="Calibri"/>
              </a:rPr>
              <a:t>SANTHOSHI</a:t>
            </a:r>
            <a:r>
              <a:rPr sz="1800" spc="35" dirty="0">
                <a:latin typeface="Calibri"/>
                <a:cs typeface="Calibri"/>
              </a:rPr>
              <a:t> </a:t>
            </a:r>
            <a:r>
              <a:rPr sz="1800" dirty="0">
                <a:latin typeface="Calibri"/>
                <a:cs typeface="Calibri"/>
              </a:rPr>
              <a:t>MISHRA</a:t>
            </a:r>
            <a:r>
              <a:rPr sz="1800" spc="70" dirty="0">
                <a:latin typeface="Calibri"/>
                <a:cs typeface="Calibri"/>
              </a:rPr>
              <a:t> </a:t>
            </a:r>
            <a:r>
              <a:rPr sz="1800" spc="-10" dirty="0">
                <a:latin typeface="Calibri"/>
                <a:cs typeface="Calibri"/>
              </a:rPr>
              <a:t>(22UJ1A6650) VELAGALETY</a:t>
            </a:r>
            <a:r>
              <a:rPr sz="1800" spc="-55" dirty="0">
                <a:latin typeface="Calibri"/>
                <a:cs typeface="Calibri"/>
              </a:rPr>
              <a:t> </a:t>
            </a:r>
            <a:r>
              <a:rPr sz="1800" dirty="0">
                <a:latin typeface="Calibri"/>
                <a:cs typeface="Calibri"/>
              </a:rPr>
              <a:t>AKASH</a:t>
            </a:r>
            <a:r>
              <a:rPr sz="1800" spc="355" dirty="0">
                <a:latin typeface="Calibri"/>
                <a:cs typeface="Calibri"/>
              </a:rPr>
              <a:t> </a:t>
            </a:r>
            <a:r>
              <a:rPr sz="1800" spc="-10" dirty="0">
                <a:latin typeface="Calibri"/>
                <a:cs typeface="Calibri"/>
              </a:rPr>
              <a:t>(22UJ1A6658)</a:t>
            </a:r>
            <a:endParaRPr sz="1800">
              <a:latin typeface="Calibri"/>
              <a:cs typeface="Calibri"/>
            </a:endParaRPr>
          </a:p>
        </p:txBody>
      </p:sp>
      <p:sp>
        <p:nvSpPr>
          <p:cNvPr id="4" name="object 4"/>
          <p:cNvSpPr txBox="1"/>
          <p:nvPr/>
        </p:nvSpPr>
        <p:spPr>
          <a:xfrm>
            <a:off x="1026363" y="4580966"/>
            <a:ext cx="4912995" cy="1116331"/>
          </a:xfrm>
          <a:prstGeom prst="rect">
            <a:avLst/>
          </a:prstGeom>
        </p:spPr>
        <p:txBody>
          <a:bodyPr vert="horz" wrap="square" lIns="0" tIns="13335" rIns="0" bIns="0" rtlCol="0">
            <a:spAutoFit/>
          </a:bodyPr>
          <a:lstStyle/>
          <a:p>
            <a:pPr marL="12700">
              <a:lnSpc>
                <a:spcPts val="2355"/>
              </a:lnSpc>
              <a:spcBef>
                <a:spcPts val="105"/>
              </a:spcBef>
            </a:pPr>
            <a:r>
              <a:rPr sz="2000" b="1" u="sng" spc="-20" dirty="0">
                <a:uFill>
                  <a:solidFill>
                    <a:srgbClr val="000000"/>
                  </a:solidFill>
                </a:uFill>
                <a:latin typeface="Times New Roman"/>
                <a:cs typeface="Times New Roman"/>
              </a:rPr>
              <a:t>UNDER</a:t>
            </a:r>
            <a:r>
              <a:rPr sz="2000" b="1" u="sng" spc="-95" dirty="0">
                <a:uFill>
                  <a:solidFill>
                    <a:srgbClr val="000000"/>
                  </a:solidFill>
                </a:uFill>
                <a:latin typeface="Times New Roman"/>
                <a:cs typeface="Times New Roman"/>
              </a:rPr>
              <a:t> </a:t>
            </a:r>
            <a:r>
              <a:rPr sz="2000" b="1" u="sng" dirty="0">
                <a:uFill>
                  <a:solidFill>
                    <a:srgbClr val="000000"/>
                  </a:solidFill>
                </a:uFill>
                <a:latin typeface="Times New Roman"/>
                <a:cs typeface="Times New Roman"/>
              </a:rPr>
              <a:t>THE</a:t>
            </a:r>
            <a:r>
              <a:rPr sz="2000" b="1" u="sng" spc="-80" dirty="0">
                <a:uFill>
                  <a:solidFill>
                    <a:srgbClr val="000000"/>
                  </a:solidFill>
                </a:uFill>
                <a:latin typeface="Times New Roman"/>
                <a:cs typeface="Times New Roman"/>
              </a:rPr>
              <a:t> </a:t>
            </a:r>
            <a:r>
              <a:rPr sz="2000" b="1" u="sng" dirty="0">
                <a:uFill>
                  <a:solidFill>
                    <a:srgbClr val="000000"/>
                  </a:solidFill>
                </a:uFill>
                <a:latin typeface="Times New Roman"/>
                <a:cs typeface="Times New Roman"/>
              </a:rPr>
              <a:t>ESTEEMED</a:t>
            </a:r>
            <a:r>
              <a:rPr sz="2000" b="1" u="sng" spc="-45" dirty="0">
                <a:uFill>
                  <a:solidFill>
                    <a:srgbClr val="000000"/>
                  </a:solidFill>
                </a:uFill>
                <a:latin typeface="Times New Roman"/>
                <a:cs typeface="Times New Roman"/>
              </a:rPr>
              <a:t> </a:t>
            </a:r>
            <a:r>
              <a:rPr sz="2000" b="1" u="sng" spc="-10" dirty="0">
                <a:uFill>
                  <a:solidFill>
                    <a:srgbClr val="000000"/>
                  </a:solidFill>
                </a:uFill>
                <a:latin typeface="Times New Roman"/>
                <a:cs typeface="Times New Roman"/>
              </a:rPr>
              <a:t>GUIDANCE</a:t>
            </a:r>
            <a:r>
              <a:rPr sz="2000" b="1" u="sng" spc="-105" dirty="0">
                <a:uFill>
                  <a:solidFill>
                    <a:srgbClr val="000000"/>
                  </a:solidFill>
                </a:uFill>
                <a:latin typeface="Times New Roman"/>
                <a:cs typeface="Times New Roman"/>
              </a:rPr>
              <a:t> </a:t>
            </a:r>
            <a:r>
              <a:rPr sz="2000" b="1" u="sng" spc="-25" dirty="0">
                <a:uFill>
                  <a:solidFill>
                    <a:srgbClr val="000000"/>
                  </a:solidFill>
                </a:uFill>
                <a:latin typeface="Times New Roman"/>
                <a:cs typeface="Times New Roman"/>
              </a:rPr>
              <a:t>OF</a:t>
            </a:r>
            <a:r>
              <a:rPr sz="2000" b="1" spc="-25" dirty="0">
                <a:latin typeface="Times New Roman"/>
                <a:cs typeface="Times New Roman"/>
              </a:rPr>
              <a:t>:</a:t>
            </a:r>
            <a:endParaRPr sz="2000" dirty="0">
              <a:latin typeface="Times New Roman"/>
              <a:cs typeface="Times New Roman"/>
            </a:endParaRPr>
          </a:p>
          <a:p>
            <a:pPr marL="12700">
              <a:lnSpc>
                <a:spcPts val="2195"/>
              </a:lnSpc>
            </a:pPr>
            <a:r>
              <a:rPr sz="2000" dirty="0">
                <a:latin typeface="Times New Roman"/>
                <a:cs typeface="Times New Roman"/>
              </a:rPr>
              <a:t>Mrs.CH.</a:t>
            </a:r>
            <a:r>
              <a:rPr sz="2000" spc="-40" dirty="0">
                <a:latin typeface="Times New Roman"/>
                <a:cs typeface="Times New Roman"/>
              </a:rPr>
              <a:t> </a:t>
            </a:r>
            <a:r>
              <a:rPr sz="2000" spc="-10" dirty="0">
                <a:latin typeface="Times New Roman"/>
                <a:cs typeface="Times New Roman"/>
              </a:rPr>
              <a:t>Swapna</a:t>
            </a:r>
            <a:endParaRPr sz="2000" dirty="0">
              <a:latin typeface="Times New Roman"/>
              <a:cs typeface="Times New Roman"/>
            </a:endParaRPr>
          </a:p>
          <a:p>
            <a:pPr marR="821690" algn="ctr">
              <a:lnSpc>
                <a:spcPts val="1170"/>
              </a:lnSpc>
            </a:pPr>
            <a:r>
              <a:rPr sz="1200" spc="-10" dirty="0" err="1">
                <a:latin typeface="Times New Roman"/>
                <a:cs typeface="Times New Roman"/>
              </a:rPr>
              <a:t>M.Tech</a:t>
            </a:r>
            <a:endParaRPr sz="1200" dirty="0">
              <a:latin typeface="Times New Roman"/>
              <a:cs typeface="Times New Roman"/>
            </a:endParaRPr>
          </a:p>
          <a:p>
            <a:pPr marL="160020">
              <a:lnSpc>
                <a:spcPts val="2765"/>
              </a:lnSpc>
            </a:pPr>
            <a:r>
              <a:rPr sz="2400" spc="-10" dirty="0">
                <a:latin typeface="Times New Roman"/>
                <a:cs typeface="Times New Roman"/>
              </a:rPr>
              <a:t>Asst.Professor</a:t>
            </a:r>
            <a:endParaRPr sz="24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52400"/>
            <a:ext cx="7867015" cy="799922"/>
          </a:xfrm>
          <a:prstGeom prst="rect">
            <a:avLst/>
          </a:prstGeom>
        </p:spPr>
        <p:txBody>
          <a:bodyPr vert="horz" wrap="square" lIns="0" tIns="51765" rIns="0" bIns="0" rtlCol="0">
            <a:spAutoFit/>
          </a:bodyPr>
          <a:lstStyle/>
          <a:p>
            <a:pPr marL="2370455">
              <a:lnSpc>
                <a:spcPct val="100000"/>
              </a:lnSpc>
              <a:spcBef>
                <a:spcPts val="105"/>
              </a:spcBef>
            </a:pPr>
            <a:r>
              <a:rPr sz="3200" spc="-10" dirty="0"/>
              <a:t>INDEX</a:t>
            </a:r>
            <a:endParaRPr sz="3200" dirty="0"/>
          </a:p>
        </p:txBody>
      </p:sp>
      <p:graphicFrame>
        <p:nvGraphicFramePr>
          <p:cNvPr id="9" name="Table 8">
            <a:extLst>
              <a:ext uri="{FF2B5EF4-FFF2-40B4-BE49-F238E27FC236}">
                <a16:creationId xmlns:a16="http://schemas.microsoft.com/office/drawing/2014/main" id="{E5705926-BB80-9172-5131-6F942BC54F5C}"/>
              </a:ext>
            </a:extLst>
          </p:cNvPr>
          <p:cNvGraphicFramePr>
            <a:graphicFrameLocks noGrp="1"/>
          </p:cNvGraphicFramePr>
          <p:nvPr>
            <p:extLst>
              <p:ext uri="{D42A27DB-BD31-4B8C-83A1-F6EECF244321}">
                <p14:modId xmlns:p14="http://schemas.microsoft.com/office/powerpoint/2010/main" val="4110642005"/>
              </p:ext>
            </p:extLst>
          </p:nvPr>
        </p:nvGraphicFramePr>
        <p:xfrm>
          <a:off x="1600200" y="1066800"/>
          <a:ext cx="8127999" cy="506857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217854769"/>
                    </a:ext>
                  </a:extLst>
                </a:gridCol>
                <a:gridCol w="2709333">
                  <a:extLst>
                    <a:ext uri="{9D8B030D-6E8A-4147-A177-3AD203B41FA5}">
                      <a16:colId xmlns:a16="http://schemas.microsoft.com/office/drawing/2014/main" val="3102654543"/>
                    </a:ext>
                  </a:extLst>
                </a:gridCol>
                <a:gridCol w="2709333">
                  <a:extLst>
                    <a:ext uri="{9D8B030D-6E8A-4147-A177-3AD203B41FA5}">
                      <a16:colId xmlns:a16="http://schemas.microsoft.com/office/drawing/2014/main" val="2632092421"/>
                    </a:ext>
                  </a:extLst>
                </a:gridCol>
              </a:tblGrid>
              <a:tr h="370840">
                <a:tc>
                  <a:txBody>
                    <a:bodyPr/>
                    <a:lstStyle/>
                    <a:p>
                      <a:pPr marL="6350" algn="ctr">
                        <a:lnSpc>
                          <a:spcPct val="100000"/>
                        </a:lnSpc>
                        <a:spcBef>
                          <a:spcPts val="120"/>
                        </a:spcBef>
                      </a:pPr>
                      <a:r>
                        <a:rPr sz="1800" b="1" spc="-20" dirty="0">
                          <a:solidFill>
                            <a:srgbClr val="FFFFFF"/>
                          </a:solidFill>
                          <a:latin typeface="Calibri"/>
                          <a:cs typeface="Calibri"/>
                        </a:rPr>
                        <a:t>S.NO</a:t>
                      </a:r>
                      <a:endParaRPr sz="1800" dirty="0">
                        <a:latin typeface="Calibri"/>
                        <a:cs typeface="Calibri"/>
                      </a:endParaRPr>
                    </a:p>
                  </a:txBody>
                  <a:tcPr marL="0" marR="0" marT="15240" marB="0"/>
                </a:tc>
                <a:tc>
                  <a:txBody>
                    <a:bodyPr/>
                    <a:lstStyle/>
                    <a:p>
                      <a:pPr marL="2540" algn="ctr">
                        <a:lnSpc>
                          <a:spcPct val="100000"/>
                        </a:lnSpc>
                        <a:spcBef>
                          <a:spcPts val="120"/>
                        </a:spcBef>
                      </a:pPr>
                      <a:r>
                        <a:rPr sz="1800" b="1" spc="-10" dirty="0">
                          <a:solidFill>
                            <a:srgbClr val="FFFFFF"/>
                          </a:solidFill>
                          <a:latin typeface="Calibri"/>
                          <a:cs typeface="Calibri"/>
                        </a:rPr>
                        <a:t>CONTENT</a:t>
                      </a:r>
                      <a:endParaRPr sz="1800" dirty="0">
                        <a:latin typeface="Calibri"/>
                        <a:cs typeface="Calibri"/>
                      </a:endParaRPr>
                    </a:p>
                  </a:txBody>
                  <a:tcPr marL="0" marR="0" marT="15240" marB="0"/>
                </a:tc>
                <a:tc>
                  <a:txBody>
                    <a:bodyPr/>
                    <a:lstStyle/>
                    <a:p>
                      <a:pPr algn="ctr"/>
                      <a:r>
                        <a:rPr lang="en-US" dirty="0"/>
                        <a:t>PGNO</a:t>
                      </a:r>
                    </a:p>
                  </a:txBody>
                  <a:tcPr/>
                </a:tc>
                <a:extLst>
                  <a:ext uri="{0D108BD9-81ED-4DB2-BD59-A6C34878D82A}">
                    <a16:rowId xmlns:a16="http://schemas.microsoft.com/office/drawing/2014/main" val="4192634923"/>
                  </a:ext>
                </a:extLst>
              </a:tr>
              <a:tr h="370840">
                <a:tc>
                  <a:txBody>
                    <a:bodyPr/>
                    <a:lstStyle/>
                    <a:p>
                      <a:pPr marL="7620" algn="ctr">
                        <a:lnSpc>
                          <a:spcPct val="100000"/>
                        </a:lnSpc>
                        <a:spcBef>
                          <a:spcPts val="120"/>
                        </a:spcBef>
                      </a:pPr>
                      <a:r>
                        <a:rPr sz="1800" spc="-50" dirty="0">
                          <a:latin typeface="Times New Roman" panose="02020603050405020304" pitchFamily="18" charset="0"/>
                          <a:cs typeface="Times New Roman" panose="02020603050405020304" pitchFamily="18" charset="0"/>
                        </a:rPr>
                        <a:t>1</a:t>
                      </a:r>
                      <a:endParaRPr sz="1800" dirty="0">
                        <a:latin typeface="Times New Roman" panose="02020603050405020304" pitchFamily="18" charset="0"/>
                        <a:cs typeface="Times New Roman" panose="02020603050405020304" pitchFamily="18" charset="0"/>
                      </a:endParaRPr>
                    </a:p>
                  </a:txBody>
                  <a:tcPr marL="0" marR="0" marT="15240" marB="0"/>
                </a:tc>
                <a:tc>
                  <a:txBody>
                    <a:bodyPr/>
                    <a:lstStyle/>
                    <a:p>
                      <a:pPr marL="2540" algn="ctr">
                        <a:lnSpc>
                          <a:spcPct val="100000"/>
                        </a:lnSpc>
                        <a:spcBef>
                          <a:spcPts val="240"/>
                        </a:spcBef>
                      </a:pPr>
                      <a:r>
                        <a:rPr sz="1800" spc="-10" dirty="0">
                          <a:latin typeface="Times New Roman" panose="02020603050405020304" pitchFamily="18" charset="0"/>
                          <a:cs typeface="Times New Roman" panose="02020603050405020304" pitchFamily="18" charset="0"/>
                        </a:rPr>
                        <a:t>Abstract</a:t>
                      </a:r>
                      <a:endParaRPr sz="1800" dirty="0">
                        <a:latin typeface="Times New Roman" panose="02020603050405020304" pitchFamily="18" charset="0"/>
                        <a:cs typeface="Times New Roman" panose="02020603050405020304" pitchFamily="18" charset="0"/>
                      </a:endParaRPr>
                    </a:p>
                  </a:txBody>
                  <a:tcPr marL="0" marR="0" marT="30480" marB="0"/>
                </a:tc>
                <a:tc>
                  <a:txBody>
                    <a:bodyPr/>
                    <a:lstStyle/>
                    <a:p>
                      <a:pPr algn="ctr"/>
                      <a:r>
                        <a:rPr lang="en-US"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2008882297"/>
                  </a:ext>
                </a:extLst>
              </a:tr>
              <a:tr h="370840">
                <a:tc>
                  <a:txBody>
                    <a:bodyPr/>
                    <a:lstStyle/>
                    <a:p>
                      <a:pPr marL="7620" algn="ctr">
                        <a:lnSpc>
                          <a:spcPct val="100000"/>
                        </a:lnSpc>
                        <a:spcBef>
                          <a:spcPts val="120"/>
                        </a:spcBef>
                      </a:pPr>
                      <a:r>
                        <a:rPr sz="1800" spc="-50" dirty="0">
                          <a:latin typeface="Times New Roman" panose="02020603050405020304" pitchFamily="18" charset="0"/>
                          <a:cs typeface="Times New Roman" panose="02020603050405020304" pitchFamily="18" charset="0"/>
                        </a:rPr>
                        <a:t>2</a:t>
                      </a:r>
                      <a:endParaRPr sz="1800" dirty="0">
                        <a:latin typeface="Times New Roman" panose="02020603050405020304" pitchFamily="18" charset="0"/>
                        <a:cs typeface="Times New Roman" panose="02020603050405020304" pitchFamily="18" charset="0"/>
                      </a:endParaRPr>
                    </a:p>
                  </a:txBody>
                  <a:tcPr marL="0" marR="0" marT="15240" marB="0"/>
                </a:tc>
                <a:tc>
                  <a:txBody>
                    <a:bodyPr/>
                    <a:lstStyle/>
                    <a:p>
                      <a:pPr marL="2540" algn="ctr">
                        <a:lnSpc>
                          <a:spcPct val="100000"/>
                        </a:lnSpc>
                        <a:spcBef>
                          <a:spcPts val="244"/>
                        </a:spcBef>
                      </a:pPr>
                      <a:r>
                        <a:rPr sz="1800" spc="-10" dirty="0">
                          <a:latin typeface="Times New Roman" panose="02020603050405020304" pitchFamily="18" charset="0"/>
                          <a:cs typeface="Times New Roman" panose="02020603050405020304" pitchFamily="18" charset="0"/>
                        </a:rPr>
                        <a:t>Introduction</a:t>
                      </a:r>
                      <a:endParaRPr sz="1800" dirty="0">
                        <a:latin typeface="Times New Roman" panose="02020603050405020304" pitchFamily="18" charset="0"/>
                        <a:cs typeface="Times New Roman" panose="02020603050405020304" pitchFamily="18" charset="0"/>
                      </a:endParaRPr>
                    </a:p>
                  </a:txBody>
                  <a:tcPr marL="0" marR="0" marT="31114" marB="0"/>
                </a:tc>
                <a:tc>
                  <a:txBody>
                    <a:bodyPr/>
                    <a:lstStyle/>
                    <a:p>
                      <a:pPr algn="ctr"/>
                      <a:r>
                        <a:rPr lang="en-US" dirty="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3219971524"/>
                  </a:ext>
                </a:extLst>
              </a:tr>
              <a:tr h="370840">
                <a:tc>
                  <a:txBody>
                    <a:bodyPr/>
                    <a:lstStyle/>
                    <a:p>
                      <a:pPr marL="7620" algn="ctr">
                        <a:lnSpc>
                          <a:spcPct val="100000"/>
                        </a:lnSpc>
                        <a:spcBef>
                          <a:spcPts val="130"/>
                        </a:spcBef>
                      </a:pPr>
                      <a:r>
                        <a:rPr sz="1800" spc="-50" dirty="0">
                          <a:latin typeface="Times New Roman" panose="02020603050405020304" pitchFamily="18" charset="0"/>
                          <a:cs typeface="Times New Roman" panose="02020603050405020304" pitchFamily="18" charset="0"/>
                        </a:rPr>
                        <a:t>3</a:t>
                      </a:r>
                      <a:endParaRPr sz="1800" dirty="0">
                        <a:latin typeface="Times New Roman" panose="02020603050405020304" pitchFamily="18" charset="0"/>
                        <a:cs typeface="Times New Roman" panose="02020603050405020304" pitchFamily="18" charset="0"/>
                      </a:endParaRPr>
                    </a:p>
                  </a:txBody>
                  <a:tcPr marL="0" marR="0" marT="16510" marB="0"/>
                </a:tc>
                <a:tc>
                  <a:txBody>
                    <a:bodyPr/>
                    <a:lstStyle/>
                    <a:p>
                      <a:pPr marL="1270" algn="ctr">
                        <a:lnSpc>
                          <a:spcPct val="100000"/>
                        </a:lnSpc>
                        <a:spcBef>
                          <a:spcPts val="245"/>
                        </a:spcBef>
                      </a:pPr>
                      <a:r>
                        <a:rPr sz="1800" spc="-10" dirty="0">
                          <a:latin typeface="Times New Roman" panose="02020603050405020304" pitchFamily="18" charset="0"/>
                          <a:cs typeface="Times New Roman" panose="02020603050405020304" pitchFamily="18" charset="0"/>
                        </a:rPr>
                        <a:t>Motivation</a:t>
                      </a:r>
                      <a:endParaRPr sz="1800" dirty="0">
                        <a:latin typeface="Times New Roman" panose="02020603050405020304" pitchFamily="18" charset="0"/>
                        <a:cs typeface="Times New Roman" panose="02020603050405020304" pitchFamily="18" charset="0"/>
                      </a:endParaRPr>
                    </a:p>
                  </a:txBody>
                  <a:tcPr marL="0" marR="0" marT="31115" marB="0"/>
                </a:tc>
                <a:tc>
                  <a:txBody>
                    <a:bodyPr/>
                    <a:lstStyle/>
                    <a:p>
                      <a:pPr algn="ctr"/>
                      <a:r>
                        <a:rPr lang="en-US" dirty="0">
                          <a:latin typeface="Times New Roman" panose="02020603050405020304" pitchFamily="18" charset="0"/>
                          <a:cs typeface="Times New Roman" panose="02020603050405020304" pitchFamily="18" charset="0"/>
                        </a:rPr>
                        <a:t>5</a:t>
                      </a:r>
                    </a:p>
                  </a:txBody>
                  <a:tcPr/>
                </a:tc>
                <a:extLst>
                  <a:ext uri="{0D108BD9-81ED-4DB2-BD59-A6C34878D82A}">
                    <a16:rowId xmlns:a16="http://schemas.microsoft.com/office/drawing/2014/main" val="1777991518"/>
                  </a:ext>
                </a:extLst>
              </a:tr>
              <a:tr h="370840">
                <a:tc>
                  <a:txBody>
                    <a:bodyPr/>
                    <a:lstStyle/>
                    <a:p>
                      <a:pPr marL="7620" algn="ctr">
                        <a:lnSpc>
                          <a:spcPct val="100000"/>
                        </a:lnSpc>
                        <a:spcBef>
                          <a:spcPts val="125"/>
                        </a:spcBef>
                      </a:pPr>
                      <a:r>
                        <a:rPr sz="1800" spc="-50" dirty="0">
                          <a:latin typeface="Times New Roman" panose="02020603050405020304" pitchFamily="18" charset="0"/>
                          <a:cs typeface="Times New Roman" panose="02020603050405020304" pitchFamily="18" charset="0"/>
                        </a:rPr>
                        <a:t>4</a:t>
                      </a:r>
                      <a:endParaRPr sz="1800">
                        <a:latin typeface="Times New Roman" panose="02020603050405020304" pitchFamily="18" charset="0"/>
                        <a:cs typeface="Times New Roman" panose="02020603050405020304" pitchFamily="18" charset="0"/>
                      </a:endParaRPr>
                    </a:p>
                  </a:txBody>
                  <a:tcPr marL="0" marR="0" marT="15875" marB="0"/>
                </a:tc>
                <a:tc>
                  <a:txBody>
                    <a:bodyPr/>
                    <a:lstStyle/>
                    <a:p>
                      <a:pPr marL="2540" algn="ctr">
                        <a:lnSpc>
                          <a:spcPct val="100000"/>
                        </a:lnSpc>
                        <a:spcBef>
                          <a:spcPts val="245"/>
                        </a:spcBef>
                      </a:pPr>
                      <a:r>
                        <a:rPr sz="1800" dirty="0">
                          <a:latin typeface="Times New Roman" panose="02020603050405020304" pitchFamily="18" charset="0"/>
                          <a:cs typeface="Times New Roman" panose="02020603050405020304" pitchFamily="18" charset="0"/>
                        </a:rPr>
                        <a:t>Problem</a:t>
                      </a:r>
                      <a:r>
                        <a:rPr sz="1800" spc="-8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Definition</a:t>
                      </a:r>
                      <a:endParaRPr sz="1800" dirty="0">
                        <a:latin typeface="Times New Roman" panose="02020603050405020304" pitchFamily="18" charset="0"/>
                        <a:cs typeface="Times New Roman" panose="02020603050405020304" pitchFamily="18" charset="0"/>
                      </a:endParaRPr>
                    </a:p>
                  </a:txBody>
                  <a:tcPr marL="0" marR="0" marT="31115" marB="0"/>
                </a:tc>
                <a:tc>
                  <a:txBody>
                    <a:bodyPr/>
                    <a:lstStyle/>
                    <a:p>
                      <a:pPr algn="ctr"/>
                      <a:r>
                        <a:rPr lang="en-US" dirty="0">
                          <a:latin typeface="Times New Roman" panose="02020603050405020304" pitchFamily="18" charset="0"/>
                          <a:cs typeface="Times New Roman" panose="02020603050405020304" pitchFamily="18" charset="0"/>
                        </a:rPr>
                        <a:t>6</a:t>
                      </a:r>
                    </a:p>
                  </a:txBody>
                  <a:tcPr/>
                </a:tc>
                <a:extLst>
                  <a:ext uri="{0D108BD9-81ED-4DB2-BD59-A6C34878D82A}">
                    <a16:rowId xmlns:a16="http://schemas.microsoft.com/office/drawing/2014/main" val="1021482226"/>
                  </a:ext>
                </a:extLst>
              </a:tr>
              <a:tr h="370840">
                <a:tc>
                  <a:txBody>
                    <a:bodyPr/>
                    <a:lstStyle/>
                    <a:p>
                      <a:pPr marL="7620" algn="ctr">
                        <a:lnSpc>
                          <a:spcPct val="100000"/>
                        </a:lnSpc>
                        <a:spcBef>
                          <a:spcPts val="125"/>
                        </a:spcBef>
                      </a:pPr>
                      <a:r>
                        <a:rPr sz="1800" spc="-50" dirty="0">
                          <a:latin typeface="Times New Roman" panose="02020603050405020304" pitchFamily="18" charset="0"/>
                          <a:cs typeface="Times New Roman" panose="02020603050405020304" pitchFamily="18" charset="0"/>
                        </a:rPr>
                        <a:t>5</a:t>
                      </a:r>
                      <a:endParaRPr sz="1800">
                        <a:latin typeface="Times New Roman" panose="02020603050405020304" pitchFamily="18" charset="0"/>
                        <a:cs typeface="Times New Roman" panose="02020603050405020304" pitchFamily="18" charset="0"/>
                      </a:endParaRPr>
                    </a:p>
                  </a:txBody>
                  <a:tcPr marL="0" marR="0" marT="15875" marB="0"/>
                </a:tc>
                <a:tc>
                  <a:txBody>
                    <a:bodyPr/>
                    <a:lstStyle/>
                    <a:p>
                      <a:pPr marL="635" algn="ctr">
                        <a:lnSpc>
                          <a:spcPct val="100000"/>
                        </a:lnSpc>
                        <a:spcBef>
                          <a:spcPts val="250"/>
                        </a:spcBef>
                      </a:pPr>
                      <a:r>
                        <a:rPr sz="1800" dirty="0">
                          <a:latin typeface="Times New Roman" panose="02020603050405020304" pitchFamily="18" charset="0"/>
                          <a:cs typeface="Times New Roman" panose="02020603050405020304" pitchFamily="18" charset="0"/>
                        </a:rPr>
                        <a:t>Literature</a:t>
                      </a:r>
                      <a:r>
                        <a:rPr sz="1800" spc="-10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Survey</a:t>
                      </a:r>
                      <a:endParaRPr sz="1800" dirty="0">
                        <a:latin typeface="Times New Roman" panose="02020603050405020304" pitchFamily="18" charset="0"/>
                        <a:cs typeface="Times New Roman" panose="02020603050405020304" pitchFamily="18" charset="0"/>
                      </a:endParaRP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3228739067"/>
                  </a:ext>
                </a:extLst>
              </a:tr>
              <a:tr h="370840">
                <a:tc>
                  <a:txBody>
                    <a:bodyPr/>
                    <a:lstStyle/>
                    <a:p>
                      <a:pPr marL="7620" algn="ctr">
                        <a:lnSpc>
                          <a:spcPct val="100000"/>
                        </a:lnSpc>
                        <a:spcBef>
                          <a:spcPts val="130"/>
                        </a:spcBef>
                      </a:pPr>
                      <a:r>
                        <a:rPr sz="1800" spc="-50" dirty="0">
                          <a:latin typeface="Times New Roman" panose="02020603050405020304" pitchFamily="18" charset="0"/>
                          <a:cs typeface="Times New Roman" panose="02020603050405020304" pitchFamily="18" charset="0"/>
                        </a:rPr>
                        <a:t>6</a:t>
                      </a:r>
                      <a:endParaRPr sz="1800">
                        <a:latin typeface="Times New Roman" panose="02020603050405020304" pitchFamily="18" charset="0"/>
                        <a:cs typeface="Times New Roman" panose="02020603050405020304" pitchFamily="18" charset="0"/>
                      </a:endParaRPr>
                    </a:p>
                  </a:txBody>
                  <a:tcPr marL="0" marR="0" marT="16510" marB="0"/>
                </a:tc>
                <a:tc>
                  <a:txBody>
                    <a:bodyPr/>
                    <a:lstStyle/>
                    <a:p>
                      <a:pPr marL="6985" algn="ctr">
                        <a:lnSpc>
                          <a:spcPct val="100000"/>
                        </a:lnSpc>
                        <a:spcBef>
                          <a:spcPts val="250"/>
                        </a:spcBef>
                      </a:pPr>
                      <a:r>
                        <a:rPr sz="1800" spc="-10" dirty="0">
                          <a:latin typeface="Times New Roman" panose="02020603050405020304" pitchFamily="18" charset="0"/>
                          <a:cs typeface="Times New Roman" panose="02020603050405020304" pitchFamily="18" charset="0"/>
                        </a:rPr>
                        <a:t>Research</a:t>
                      </a:r>
                      <a:r>
                        <a:rPr sz="1800" spc="-5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Gaps</a:t>
                      </a:r>
                      <a:endParaRPr sz="1800" dirty="0">
                        <a:latin typeface="Times New Roman" panose="02020603050405020304" pitchFamily="18" charset="0"/>
                        <a:cs typeface="Times New Roman" panose="02020603050405020304" pitchFamily="18" charset="0"/>
                      </a:endParaRP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11</a:t>
                      </a:r>
                    </a:p>
                  </a:txBody>
                  <a:tcPr/>
                </a:tc>
                <a:extLst>
                  <a:ext uri="{0D108BD9-81ED-4DB2-BD59-A6C34878D82A}">
                    <a16:rowId xmlns:a16="http://schemas.microsoft.com/office/drawing/2014/main" val="4221784584"/>
                  </a:ext>
                </a:extLst>
              </a:tr>
              <a:tr h="370840">
                <a:tc>
                  <a:txBody>
                    <a:bodyPr/>
                    <a:lstStyle/>
                    <a:p>
                      <a:pPr marL="7620" algn="ctr">
                        <a:lnSpc>
                          <a:spcPct val="100000"/>
                        </a:lnSpc>
                        <a:spcBef>
                          <a:spcPts val="130"/>
                        </a:spcBef>
                      </a:pPr>
                      <a:r>
                        <a:rPr sz="1800" spc="-50" dirty="0">
                          <a:latin typeface="Times New Roman" panose="02020603050405020304" pitchFamily="18" charset="0"/>
                          <a:cs typeface="Times New Roman" panose="02020603050405020304" pitchFamily="18" charset="0"/>
                        </a:rPr>
                        <a:t>7</a:t>
                      </a:r>
                      <a:endParaRPr sz="1800">
                        <a:latin typeface="Times New Roman" panose="02020603050405020304" pitchFamily="18" charset="0"/>
                        <a:cs typeface="Times New Roman" panose="02020603050405020304" pitchFamily="18" charset="0"/>
                      </a:endParaRPr>
                    </a:p>
                  </a:txBody>
                  <a:tcPr marL="0" marR="0" marT="16510" marB="0"/>
                </a:tc>
                <a:tc>
                  <a:txBody>
                    <a:bodyPr/>
                    <a:lstStyle/>
                    <a:p>
                      <a:pPr marL="635" algn="ctr">
                        <a:lnSpc>
                          <a:spcPct val="100000"/>
                        </a:lnSpc>
                        <a:spcBef>
                          <a:spcPts val="250"/>
                        </a:spcBef>
                      </a:pPr>
                      <a:r>
                        <a:rPr lang="en-US" sz="1800" dirty="0">
                          <a:latin typeface="Times New Roman" panose="02020603050405020304" pitchFamily="18" charset="0"/>
                          <a:cs typeface="Times New Roman" panose="02020603050405020304" pitchFamily="18" charset="0"/>
                        </a:rPr>
                        <a:t>Traditional System</a:t>
                      </a:r>
                      <a:endParaRPr sz="1800" dirty="0">
                        <a:latin typeface="Times New Roman" panose="02020603050405020304" pitchFamily="18" charset="0"/>
                        <a:cs typeface="Times New Roman" panose="02020603050405020304" pitchFamily="18" charset="0"/>
                      </a:endParaRP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12</a:t>
                      </a:r>
                    </a:p>
                  </a:txBody>
                  <a:tcPr/>
                </a:tc>
                <a:extLst>
                  <a:ext uri="{0D108BD9-81ED-4DB2-BD59-A6C34878D82A}">
                    <a16:rowId xmlns:a16="http://schemas.microsoft.com/office/drawing/2014/main" val="2550598406"/>
                  </a:ext>
                </a:extLst>
              </a:tr>
              <a:tr h="370840">
                <a:tc>
                  <a:txBody>
                    <a:bodyPr/>
                    <a:lstStyle/>
                    <a:p>
                      <a:pPr marL="7620" algn="ctr">
                        <a:lnSpc>
                          <a:spcPct val="100000"/>
                        </a:lnSpc>
                        <a:spcBef>
                          <a:spcPts val="130"/>
                        </a:spcBef>
                      </a:pPr>
                      <a:r>
                        <a:rPr sz="1800" spc="-50" dirty="0">
                          <a:latin typeface="Times New Roman" panose="02020603050405020304" pitchFamily="18" charset="0"/>
                          <a:cs typeface="Times New Roman" panose="02020603050405020304" pitchFamily="18" charset="0"/>
                        </a:rPr>
                        <a:t>8</a:t>
                      </a:r>
                      <a:endParaRPr sz="1800">
                        <a:latin typeface="Times New Roman" panose="02020603050405020304" pitchFamily="18" charset="0"/>
                        <a:cs typeface="Times New Roman" panose="02020603050405020304" pitchFamily="18" charset="0"/>
                      </a:endParaRPr>
                    </a:p>
                  </a:txBody>
                  <a:tcPr marL="0" marR="0" marT="16510" marB="0"/>
                </a:tc>
                <a:tc>
                  <a:txBody>
                    <a:bodyPr/>
                    <a:lstStyle/>
                    <a:p>
                      <a:pPr algn="ctr">
                        <a:lnSpc>
                          <a:spcPct val="100000"/>
                        </a:lnSpc>
                        <a:spcBef>
                          <a:spcPts val="250"/>
                        </a:spcBef>
                      </a:pPr>
                      <a:r>
                        <a:rPr sz="1800" dirty="0">
                          <a:latin typeface="Times New Roman" panose="02020603050405020304" pitchFamily="18" charset="0"/>
                          <a:cs typeface="Times New Roman" panose="02020603050405020304" pitchFamily="18" charset="0"/>
                        </a:rPr>
                        <a:t>Drawbacks</a:t>
                      </a: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13</a:t>
                      </a:r>
                    </a:p>
                  </a:txBody>
                  <a:tcPr/>
                </a:tc>
                <a:extLst>
                  <a:ext uri="{0D108BD9-81ED-4DB2-BD59-A6C34878D82A}">
                    <a16:rowId xmlns:a16="http://schemas.microsoft.com/office/drawing/2014/main" val="120210134"/>
                  </a:ext>
                </a:extLst>
              </a:tr>
              <a:tr h="370840">
                <a:tc>
                  <a:txBody>
                    <a:bodyPr/>
                    <a:lstStyle/>
                    <a:p>
                      <a:pPr marL="7620" algn="ctr">
                        <a:lnSpc>
                          <a:spcPct val="100000"/>
                        </a:lnSpc>
                        <a:spcBef>
                          <a:spcPts val="130"/>
                        </a:spcBef>
                      </a:pPr>
                      <a:r>
                        <a:rPr sz="1800" spc="-50" dirty="0">
                          <a:latin typeface="Times New Roman" panose="02020603050405020304" pitchFamily="18" charset="0"/>
                          <a:cs typeface="Times New Roman" panose="02020603050405020304" pitchFamily="18" charset="0"/>
                        </a:rPr>
                        <a:t>9</a:t>
                      </a:r>
                      <a:endParaRPr sz="1800">
                        <a:latin typeface="Times New Roman" panose="02020603050405020304" pitchFamily="18" charset="0"/>
                        <a:cs typeface="Times New Roman" panose="02020603050405020304" pitchFamily="18" charset="0"/>
                      </a:endParaRPr>
                    </a:p>
                  </a:txBody>
                  <a:tcPr marL="0" marR="0" marT="16510" marB="0"/>
                </a:tc>
                <a:tc>
                  <a:txBody>
                    <a:bodyPr/>
                    <a:lstStyle/>
                    <a:p>
                      <a:pPr marL="635" algn="ctr">
                        <a:lnSpc>
                          <a:spcPct val="100000"/>
                        </a:lnSpc>
                        <a:spcBef>
                          <a:spcPts val="250"/>
                        </a:spcBef>
                      </a:pPr>
                      <a:r>
                        <a:rPr lang="en-US" sz="1800" dirty="0">
                          <a:latin typeface="Times New Roman" panose="02020603050405020304" pitchFamily="18" charset="0"/>
                          <a:cs typeface="Times New Roman" panose="02020603050405020304" pitchFamily="18" charset="0"/>
                        </a:rPr>
                        <a:t>Existing system</a:t>
                      </a: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1164032553"/>
                  </a:ext>
                </a:extLst>
              </a:tr>
              <a:tr h="370840">
                <a:tc>
                  <a:txBody>
                    <a:bodyPr/>
                    <a:lstStyle/>
                    <a:p>
                      <a:pPr marL="1270" algn="ctr">
                        <a:lnSpc>
                          <a:spcPct val="100000"/>
                        </a:lnSpc>
                        <a:spcBef>
                          <a:spcPts val="135"/>
                        </a:spcBef>
                      </a:pPr>
                      <a:r>
                        <a:rPr lang="en-US" sz="1800" dirty="0">
                          <a:latin typeface="Times New Roman" panose="02020603050405020304" pitchFamily="18" charset="0"/>
                          <a:cs typeface="Times New Roman" panose="02020603050405020304" pitchFamily="18" charset="0"/>
                        </a:rPr>
                        <a:t>10</a:t>
                      </a:r>
                      <a:endParaRPr sz="1800" dirty="0">
                        <a:latin typeface="Times New Roman" panose="02020603050405020304" pitchFamily="18" charset="0"/>
                        <a:cs typeface="Times New Roman" panose="02020603050405020304" pitchFamily="18" charset="0"/>
                      </a:endParaRPr>
                    </a:p>
                  </a:txBody>
                  <a:tcPr marL="0" marR="0" marT="17145" marB="0"/>
                </a:tc>
                <a:tc>
                  <a:txBody>
                    <a:bodyPr/>
                    <a:lstStyle/>
                    <a:p>
                      <a:pPr marL="0" marR="0" lvl="0" indent="0" algn="ctr" defTabSz="914400" eaLnBrk="1" fontAlgn="auto" latinLnBrk="0" hangingPunct="1">
                        <a:lnSpc>
                          <a:spcPct val="100000"/>
                        </a:lnSpc>
                        <a:spcBef>
                          <a:spcPts val="25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Proposed</a:t>
                      </a:r>
                      <a:r>
                        <a:rPr lang="en-US" sz="1800" spc="-25" dirty="0">
                          <a:latin typeface="Times New Roman" panose="02020603050405020304" pitchFamily="18" charset="0"/>
                          <a:cs typeface="Times New Roman" panose="02020603050405020304" pitchFamily="18" charset="0"/>
                        </a:rPr>
                        <a:t> </a:t>
                      </a:r>
                      <a:r>
                        <a:rPr lang="en-US" sz="1800" spc="-10" dirty="0">
                          <a:latin typeface="Times New Roman" panose="02020603050405020304" pitchFamily="18" charset="0"/>
                          <a:cs typeface="Times New Roman" panose="02020603050405020304" pitchFamily="18" charset="0"/>
                        </a:rPr>
                        <a:t>system</a:t>
                      </a:r>
                      <a:endParaRPr lang="en-US" sz="1800" dirty="0">
                        <a:latin typeface="Times New Roman" panose="02020603050405020304" pitchFamily="18" charset="0"/>
                        <a:cs typeface="Times New Roman" panose="02020603050405020304" pitchFamily="18" charset="0"/>
                      </a:endParaRPr>
                    </a:p>
                    <a:p>
                      <a:pPr marL="0" marR="0" lvl="0" indent="0" algn="ctr" defTabSz="914400" eaLnBrk="1" fontAlgn="auto" latinLnBrk="0" hangingPunct="1">
                        <a:lnSpc>
                          <a:spcPct val="100000"/>
                        </a:lnSpc>
                        <a:spcBef>
                          <a:spcPts val="250"/>
                        </a:spcBef>
                        <a:spcAft>
                          <a:spcPts val="0"/>
                        </a:spcAft>
                        <a:buClrTx/>
                        <a:buSzTx/>
                        <a:buFontTx/>
                        <a:buNone/>
                        <a:tabLst/>
                        <a:defRPr/>
                      </a:pPr>
                      <a:endParaRPr lang="en-US" sz="1800" dirty="0">
                        <a:latin typeface="Times New Roman" panose="02020603050405020304" pitchFamily="18" charset="0"/>
                        <a:cs typeface="Times New Roman" panose="02020603050405020304" pitchFamily="18" charset="0"/>
                      </a:endParaRPr>
                    </a:p>
                  </a:txBody>
                  <a:tcPr marL="0" marR="0" marT="31750" marB="0"/>
                </a:tc>
                <a:tc>
                  <a:txBody>
                    <a:bodyPr/>
                    <a:lstStyle/>
                    <a:p>
                      <a:pPr algn="ctr"/>
                      <a:r>
                        <a:rPr lang="en-US" dirty="0">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2132152402"/>
                  </a:ext>
                </a:extLst>
              </a:tr>
              <a:tr h="370840">
                <a:tc>
                  <a:txBody>
                    <a:bodyPr/>
                    <a:lstStyle/>
                    <a:p>
                      <a:pPr marL="1270" algn="ctr">
                        <a:lnSpc>
                          <a:spcPct val="100000"/>
                        </a:lnSpc>
                        <a:spcBef>
                          <a:spcPts val="135"/>
                        </a:spcBef>
                      </a:pPr>
                      <a:r>
                        <a:rPr lang="en-US" sz="1800" dirty="0">
                          <a:latin typeface="Times New Roman" panose="02020603050405020304" pitchFamily="18" charset="0"/>
                          <a:cs typeface="Times New Roman" panose="02020603050405020304" pitchFamily="18" charset="0"/>
                        </a:rPr>
                        <a:t>11</a:t>
                      </a:r>
                      <a:endParaRPr sz="1800" dirty="0">
                        <a:latin typeface="Times New Roman" panose="02020603050405020304" pitchFamily="18" charset="0"/>
                        <a:cs typeface="Times New Roman" panose="02020603050405020304" pitchFamily="18" charset="0"/>
                      </a:endParaRPr>
                    </a:p>
                  </a:txBody>
                  <a:tcPr marL="0" marR="0" marT="17145" marB="0"/>
                </a:tc>
                <a:tc>
                  <a:txBody>
                    <a:bodyPr/>
                    <a:lstStyle/>
                    <a:p>
                      <a:pPr marL="0" marR="0" lvl="0" indent="0" algn="ctr" defTabSz="914400" eaLnBrk="1" fontAlgn="auto" latinLnBrk="0" hangingPunct="1">
                        <a:lnSpc>
                          <a:spcPct val="100000"/>
                        </a:lnSpc>
                        <a:spcBef>
                          <a:spcPts val="254"/>
                        </a:spcBef>
                        <a:spcAft>
                          <a:spcPts val="0"/>
                        </a:spcAft>
                        <a:buClrTx/>
                        <a:buSzTx/>
                        <a:buFontTx/>
                        <a:buNone/>
                        <a:tabLst/>
                        <a:defRPr/>
                      </a:pPr>
                      <a:r>
                        <a:rPr lang="en-US" sz="1800" spc="-10" dirty="0">
                          <a:latin typeface="Times New Roman" panose="02020603050405020304" pitchFamily="18" charset="0"/>
                          <a:cs typeface="Times New Roman" panose="02020603050405020304" pitchFamily="18" charset="0"/>
                        </a:rPr>
                        <a:t>Conclusion</a:t>
                      </a:r>
                      <a:endParaRPr lang="en-US" sz="1800" dirty="0">
                        <a:latin typeface="Times New Roman" panose="02020603050405020304" pitchFamily="18" charset="0"/>
                        <a:cs typeface="Times New Roman" panose="02020603050405020304" pitchFamily="18" charset="0"/>
                      </a:endParaRPr>
                    </a:p>
                  </a:txBody>
                  <a:tcPr marL="0" marR="0" marT="32384" marB="0"/>
                </a:tc>
                <a:tc>
                  <a:txBody>
                    <a:bodyPr/>
                    <a:lstStyle/>
                    <a:p>
                      <a:pPr algn="ctr"/>
                      <a:r>
                        <a:rPr lang="en-US" dirty="0">
                          <a:latin typeface="Times New Roman" panose="02020603050405020304" pitchFamily="18" charset="0"/>
                          <a:cs typeface="Times New Roman" panose="02020603050405020304" pitchFamily="18" charset="0"/>
                        </a:rPr>
                        <a:t>16</a:t>
                      </a:r>
                    </a:p>
                  </a:txBody>
                  <a:tcPr/>
                </a:tc>
                <a:extLst>
                  <a:ext uri="{0D108BD9-81ED-4DB2-BD59-A6C34878D82A}">
                    <a16:rowId xmlns:a16="http://schemas.microsoft.com/office/drawing/2014/main" val="3716227545"/>
                  </a:ext>
                </a:extLst>
              </a:tr>
              <a:tr h="370840">
                <a:tc>
                  <a:txBody>
                    <a:bodyPr/>
                    <a:lstStyle/>
                    <a:p>
                      <a:pPr marL="1270" algn="ctr">
                        <a:lnSpc>
                          <a:spcPct val="100000"/>
                        </a:lnSpc>
                        <a:spcBef>
                          <a:spcPts val="135"/>
                        </a:spcBef>
                      </a:pPr>
                      <a:r>
                        <a:rPr lang="en-US" sz="1800" dirty="0">
                          <a:latin typeface="Times New Roman" panose="02020603050405020304" pitchFamily="18" charset="0"/>
                          <a:cs typeface="Times New Roman" panose="02020603050405020304" pitchFamily="18" charset="0"/>
                        </a:rPr>
                        <a:t>12</a:t>
                      </a:r>
                      <a:endParaRPr sz="1800" dirty="0">
                        <a:latin typeface="Times New Roman" panose="02020603050405020304" pitchFamily="18" charset="0"/>
                        <a:cs typeface="Times New Roman" panose="02020603050405020304" pitchFamily="18" charset="0"/>
                      </a:endParaRPr>
                    </a:p>
                  </a:txBody>
                  <a:tcPr marL="0" marR="0" marT="17145" marB="0"/>
                </a:tc>
                <a:tc>
                  <a:txBody>
                    <a:bodyPr/>
                    <a:lstStyle/>
                    <a:p>
                      <a:pPr marL="0" marR="0" lvl="0" indent="0" algn="ctr" defTabSz="914400" eaLnBrk="1" fontAlgn="auto" latinLnBrk="0" hangingPunct="1">
                        <a:lnSpc>
                          <a:spcPct val="100000"/>
                        </a:lnSpc>
                        <a:spcBef>
                          <a:spcPts val="254"/>
                        </a:spcBef>
                        <a:spcAft>
                          <a:spcPts val="0"/>
                        </a:spcAft>
                        <a:buClrTx/>
                        <a:buSzTx/>
                        <a:buFontTx/>
                        <a:buNone/>
                        <a:tabLst/>
                        <a:defRPr/>
                      </a:pPr>
                      <a:r>
                        <a:rPr lang="en-US" sz="1800" spc="-10" dirty="0">
                          <a:latin typeface="Times New Roman" panose="02020603050405020304" pitchFamily="18" charset="0"/>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a:txBody>
                  <a:tcPr marL="0" marR="0" marT="32384" marB="0"/>
                </a:tc>
                <a:tc>
                  <a:txBody>
                    <a:bodyPr/>
                    <a:lstStyle/>
                    <a:p>
                      <a:pPr algn="ctr"/>
                      <a:r>
                        <a:rPr lang="en-US" dirty="0">
                          <a:latin typeface="Times New Roman" panose="02020603050405020304" pitchFamily="18" charset="0"/>
                          <a:cs typeface="Times New Roman" panose="02020603050405020304" pitchFamily="18" charset="0"/>
                        </a:rPr>
                        <a:t>17</a:t>
                      </a:r>
                    </a:p>
                  </a:txBody>
                  <a:tcPr/>
                </a:tc>
                <a:extLst>
                  <a:ext uri="{0D108BD9-81ED-4DB2-BD59-A6C34878D82A}">
                    <a16:rowId xmlns:a16="http://schemas.microsoft.com/office/drawing/2014/main" val="373321241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5603" y="165049"/>
            <a:ext cx="1946910" cy="452120"/>
          </a:xfrm>
          <a:prstGeom prst="rect">
            <a:avLst/>
          </a:prstGeom>
        </p:spPr>
        <p:txBody>
          <a:bodyPr vert="horz" wrap="square" lIns="0" tIns="12065" rIns="0" bIns="0" rtlCol="0">
            <a:spAutoFit/>
          </a:bodyPr>
          <a:lstStyle/>
          <a:p>
            <a:pPr marL="12700">
              <a:lnSpc>
                <a:spcPct val="100000"/>
              </a:lnSpc>
              <a:spcBef>
                <a:spcPts val="95"/>
              </a:spcBef>
            </a:pPr>
            <a:r>
              <a:rPr spc="-10" dirty="0"/>
              <a:t>ABSTRACT</a:t>
            </a:r>
          </a:p>
        </p:txBody>
      </p:sp>
      <p:sp>
        <p:nvSpPr>
          <p:cNvPr id="3" name="object 3"/>
          <p:cNvSpPr txBox="1"/>
          <p:nvPr/>
        </p:nvSpPr>
        <p:spPr>
          <a:xfrm>
            <a:off x="255219" y="938910"/>
            <a:ext cx="11450320" cy="496443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Times New Roman"/>
                <a:cs typeface="Times New Roman"/>
              </a:rPr>
              <a:t>The</a:t>
            </a:r>
            <a:r>
              <a:rPr sz="1800" spc="229" dirty="0">
                <a:latin typeface="Times New Roman"/>
                <a:cs typeface="Times New Roman"/>
              </a:rPr>
              <a:t> </a:t>
            </a:r>
            <a:r>
              <a:rPr sz="1800" dirty="0">
                <a:latin typeface="Times New Roman"/>
                <a:cs typeface="Times New Roman"/>
              </a:rPr>
              <a:t>advancement</a:t>
            </a:r>
            <a:r>
              <a:rPr sz="1800" spc="245" dirty="0">
                <a:latin typeface="Times New Roman"/>
                <a:cs typeface="Times New Roman"/>
              </a:rPr>
              <a:t> </a:t>
            </a:r>
            <a:r>
              <a:rPr sz="1800" dirty="0">
                <a:latin typeface="Times New Roman"/>
                <a:cs typeface="Times New Roman"/>
              </a:rPr>
              <a:t>technology</a:t>
            </a:r>
            <a:r>
              <a:rPr sz="1800" spc="265" dirty="0">
                <a:latin typeface="Times New Roman"/>
                <a:cs typeface="Times New Roman"/>
              </a:rPr>
              <a:t> </a:t>
            </a:r>
            <a:r>
              <a:rPr sz="1800" dirty="0">
                <a:latin typeface="Times New Roman"/>
                <a:cs typeface="Times New Roman"/>
              </a:rPr>
              <a:t>of</a:t>
            </a:r>
            <a:r>
              <a:rPr sz="1800" spc="245" dirty="0">
                <a:latin typeface="Times New Roman"/>
                <a:cs typeface="Times New Roman"/>
              </a:rPr>
              <a:t> </a:t>
            </a:r>
            <a:r>
              <a:rPr sz="1800" dirty="0">
                <a:latin typeface="Times New Roman"/>
                <a:cs typeface="Times New Roman"/>
              </a:rPr>
              <a:t>transportation</a:t>
            </a:r>
            <a:r>
              <a:rPr sz="1800" spc="240" dirty="0">
                <a:latin typeface="Times New Roman"/>
                <a:cs typeface="Times New Roman"/>
              </a:rPr>
              <a:t> </a:t>
            </a:r>
            <a:r>
              <a:rPr sz="1800" dirty="0">
                <a:latin typeface="Times New Roman"/>
                <a:cs typeface="Times New Roman"/>
              </a:rPr>
              <a:t>systems</a:t>
            </a:r>
            <a:r>
              <a:rPr sz="1800" spc="250" dirty="0">
                <a:latin typeface="Times New Roman"/>
                <a:cs typeface="Times New Roman"/>
              </a:rPr>
              <a:t> </a:t>
            </a:r>
            <a:r>
              <a:rPr sz="1800" dirty="0">
                <a:latin typeface="Times New Roman"/>
                <a:cs typeface="Times New Roman"/>
              </a:rPr>
              <a:t>has</a:t>
            </a:r>
            <a:r>
              <a:rPr sz="1800" spc="235" dirty="0">
                <a:latin typeface="Times New Roman"/>
                <a:cs typeface="Times New Roman"/>
              </a:rPr>
              <a:t> </a:t>
            </a:r>
            <a:r>
              <a:rPr sz="1800" dirty="0">
                <a:latin typeface="Times New Roman"/>
                <a:cs typeface="Times New Roman"/>
              </a:rPr>
              <a:t>significantly</a:t>
            </a:r>
            <a:r>
              <a:rPr sz="1800" spc="250" dirty="0">
                <a:latin typeface="Times New Roman"/>
                <a:cs typeface="Times New Roman"/>
              </a:rPr>
              <a:t> </a:t>
            </a:r>
            <a:r>
              <a:rPr sz="1800" dirty="0">
                <a:latin typeface="Times New Roman"/>
                <a:cs typeface="Times New Roman"/>
              </a:rPr>
              <a:t>increased</a:t>
            </a:r>
            <a:r>
              <a:rPr sz="1800" spc="250" dirty="0">
                <a:latin typeface="Times New Roman"/>
                <a:cs typeface="Times New Roman"/>
              </a:rPr>
              <a:t> </a:t>
            </a:r>
            <a:r>
              <a:rPr sz="1800" dirty="0">
                <a:latin typeface="Times New Roman"/>
                <a:cs typeface="Times New Roman"/>
              </a:rPr>
              <a:t>the</a:t>
            </a:r>
            <a:r>
              <a:rPr sz="1800" spc="254" dirty="0">
                <a:latin typeface="Times New Roman"/>
                <a:cs typeface="Times New Roman"/>
              </a:rPr>
              <a:t> </a:t>
            </a:r>
            <a:r>
              <a:rPr sz="1800" dirty="0">
                <a:latin typeface="Times New Roman"/>
                <a:cs typeface="Times New Roman"/>
              </a:rPr>
              <a:t>demand</a:t>
            </a:r>
            <a:r>
              <a:rPr sz="1800" spc="254" dirty="0">
                <a:latin typeface="Times New Roman"/>
                <a:cs typeface="Times New Roman"/>
              </a:rPr>
              <a:t> </a:t>
            </a:r>
            <a:r>
              <a:rPr sz="1800" dirty="0">
                <a:latin typeface="Times New Roman"/>
                <a:cs typeface="Times New Roman"/>
              </a:rPr>
              <a:t>for</a:t>
            </a:r>
            <a:r>
              <a:rPr sz="1800" spc="235" dirty="0">
                <a:latin typeface="Times New Roman"/>
                <a:cs typeface="Times New Roman"/>
              </a:rPr>
              <a:t> </a:t>
            </a:r>
            <a:r>
              <a:rPr sz="1800" dirty="0">
                <a:latin typeface="Times New Roman"/>
                <a:cs typeface="Times New Roman"/>
              </a:rPr>
              <a:t>efficient</a:t>
            </a:r>
            <a:r>
              <a:rPr sz="1800" spc="235" dirty="0">
                <a:latin typeface="Times New Roman"/>
                <a:cs typeface="Times New Roman"/>
              </a:rPr>
              <a:t> </a:t>
            </a:r>
            <a:r>
              <a:rPr sz="1800" dirty="0">
                <a:latin typeface="Times New Roman"/>
                <a:cs typeface="Times New Roman"/>
              </a:rPr>
              <a:t>and</a:t>
            </a:r>
            <a:r>
              <a:rPr sz="1800" spc="250" dirty="0">
                <a:latin typeface="Times New Roman"/>
                <a:cs typeface="Times New Roman"/>
              </a:rPr>
              <a:t> </a:t>
            </a:r>
            <a:r>
              <a:rPr sz="1800" spc="-10" dirty="0">
                <a:latin typeface="Times New Roman"/>
                <a:cs typeface="Times New Roman"/>
              </a:rPr>
              <a:t>reliable </a:t>
            </a:r>
            <a:r>
              <a:rPr sz="1800" dirty="0">
                <a:latin typeface="Times New Roman"/>
                <a:cs typeface="Times New Roman"/>
              </a:rPr>
              <a:t>vehicle</a:t>
            </a:r>
            <a:r>
              <a:rPr sz="1800" spc="75" dirty="0">
                <a:latin typeface="Times New Roman"/>
                <a:cs typeface="Times New Roman"/>
              </a:rPr>
              <a:t> </a:t>
            </a:r>
            <a:r>
              <a:rPr sz="1800" spc="-25" dirty="0">
                <a:latin typeface="Times New Roman"/>
                <a:cs typeface="Times New Roman"/>
              </a:rPr>
              <a:t>on-</a:t>
            </a:r>
            <a:r>
              <a:rPr sz="1800" dirty="0">
                <a:latin typeface="Times New Roman"/>
                <a:cs typeface="Times New Roman"/>
              </a:rPr>
              <a:t>board</a:t>
            </a:r>
            <a:r>
              <a:rPr sz="1800" spc="70" dirty="0">
                <a:latin typeface="Times New Roman"/>
                <a:cs typeface="Times New Roman"/>
              </a:rPr>
              <a:t> </a:t>
            </a:r>
            <a:r>
              <a:rPr sz="1800" dirty="0">
                <a:latin typeface="Times New Roman"/>
                <a:cs typeface="Times New Roman"/>
              </a:rPr>
              <a:t>units</a:t>
            </a:r>
            <a:r>
              <a:rPr sz="1800" spc="70" dirty="0">
                <a:latin typeface="Times New Roman"/>
                <a:cs typeface="Times New Roman"/>
              </a:rPr>
              <a:t> </a:t>
            </a:r>
            <a:r>
              <a:rPr sz="1800" dirty="0">
                <a:latin typeface="Times New Roman"/>
                <a:cs typeface="Times New Roman"/>
              </a:rPr>
              <a:t>(OBUs),</a:t>
            </a:r>
            <a:r>
              <a:rPr sz="1800" spc="80" dirty="0">
                <a:latin typeface="Times New Roman"/>
                <a:cs typeface="Times New Roman"/>
              </a:rPr>
              <a:t> </a:t>
            </a:r>
            <a:r>
              <a:rPr sz="1800" dirty="0">
                <a:latin typeface="Times New Roman"/>
                <a:cs typeface="Times New Roman"/>
              </a:rPr>
              <a:t>which</a:t>
            </a:r>
            <a:r>
              <a:rPr sz="1800" spc="75" dirty="0">
                <a:latin typeface="Times New Roman"/>
                <a:cs typeface="Times New Roman"/>
              </a:rPr>
              <a:t> </a:t>
            </a:r>
            <a:r>
              <a:rPr sz="1800" dirty="0">
                <a:latin typeface="Times New Roman"/>
                <a:cs typeface="Times New Roman"/>
              </a:rPr>
              <a:t>act</a:t>
            </a:r>
            <a:r>
              <a:rPr sz="1800" spc="60" dirty="0">
                <a:latin typeface="Times New Roman"/>
                <a:cs typeface="Times New Roman"/>
              </a:rPr>
              <a:t> </a:t>
            </a:r>
            <a:r>
              <a:rPr sz="1800" dirty="0">
                <a:latin typeface="Times New Roman"/>
                <a:cs typeface="Times New Roman"/>
              </a:rPr>
              <a:t>as</a:t>
            </a:r>
            <a:r>
              <a:rPr sz="1800" spc="70" dirty="0">
                <a:latin typeface="Times New Roman"/>
                <a:cs typeface="Times New Roman"/>
              </a:rPr>
              <a:t> </a:t>
            </a:r>
            <a:r>
              <a:rPr sz="1800" dirty="0">
                <a:latin typeface="Times New Roman"/>
                <a:cs typeface="Times New Roman"/>
              </a:rPr>
              <a:t>central</a:t>
            </a:r>
            <a:r>
              <a:rPr sz="1800" spc="80" dirty="0">
                <a:latin typeface="Times New Roman"/>
                <a:cs typeface="Times New Roman"/>
              </a:rPr>
              <a:t> </a:t>
            </a:r>
            <a:r>
              <a:rPr sz="1800" dirty="0">
                <a:latin typeface="Times New Roman"/>
                <a:cs typeface="Times New Roman"/>
              </a:rPr>
              <a:t>hubs</a:t>
            </a:r>
            <a:r>
              <a:rPr sz="1800" spc="65" dirty="0">
                <a:latin typeface="Times New Roman"/>
                <a:cs typeface="Times New Roman"/>
              </a:rPr>
              <a:t> </a:t>
            </a:r>
            <a:r>
              <a:rPr sz="1800" dirty="0">
                <a:latin typeface="Times New Roman"/>
                <a:cs typeface="Times New Roman"/>
              </a:rPr>
              <a:t>for</a:t>
            </a:r>
            <a:r>
              <a:rPr sz="1800" spc="75" dirty="0">
                <a:latin typeface="Times New Roman"/>
                <a:cs typeface="Times New Roman"/>
              </a:rPr>
              <a:t> </a:t>
            </a:r>
            <a:r>
              <a:rPr sz="1800" dirty="0">
                <a:latin typeface="Times New Roman"/>
                <a:cs typeface="Times New Roman"/>
              </a:rPr>
              <a:t>communication,</a:t>
            </a:r>
            <a:r>
              <a:rPr sz="1800" spc="85" dirty="0">
                <a:latin typeface="Times New Roman"/>
                <a:cs typeface="Times New Roman"/>
              </a:rPr>
              <a:t> </a:t>
            </a:r>
            <a:r>
              <a:rPr sz="1800" dirty="0">
                <a:latin typeface="Times New Roman"/>
                <a:cs typeface="Times New Roman"/>
              </a:rPr>
              <a:t>data</a:t>
            </a:r>
            <a:r>
              <a:rPr sz="1800" spc="80" dirty="0">
                <a:latin typeface="Times New Roman"/>
                <a:cs typeface="Times New Roman"/>
              </a:rPr>
              <a:t> </a:t>
            </a:r>
            <a:r>
              <a:rPr sz="1800" dirty="0">
                <a:latin typeface="Times New Roman"/>
                <a:cs typeface="Times New Roman"/>
              </a:rPr>
              <a:t>processing,</a:t>
            </a:r>
            <a:r>
              <a:rPr sz="1800" spc="65" dirty="0">
                <a:latin typeface="Times New Roman"/>
                <a:cs typeface="Times New Roman"/>
              </a:rPr>
              <a:t> </a:t>
            </a:r>
            <a:r>
              <a:rPr sz="1800" dirty="0">
                <a:latin typeface="Times New Roman"/>
                <a:cs typeface="Times New Roman"/>
              </a:rPr>
              <a:t>and</a:t>
            </a:r>
            <a:r>
              <a:rPr sz="1800" spc="85" dirty="0">
                <a:latin typeface="Times New Roman"/>
                <a:cs typeface="Times New Roman"/>
              </a:rPr>
              <a:t> </a:t>
            </a:r>
            <a:r>
              <a:rPr sz="1800" dirty="0">
                <a:latin typeface="Times New Roman"/>
                <a:cs typeface="Times New Roman"/>
              </a:rPr>
              <a:t>decision</a:t>
            </a:r>
            <a:r>
              <a:rPr sz="1800" spc="75" dirty="0">
                <a:latin typeface="Times New Roman"/>
                <a:cs typeface="Times New Roman"/>
              </a:rPr>
              <a:t> </a:t>
            </a:r>
            <a:r>
              <a:rPr sz="1800" dirty="0">
                <a:latin typeface="Times New Roman"/>
                <a:cs typeface="Times New Roman"/>
              </a:rPr>
              <a:t>support</a:t>
            </a:r>
            <a:r>
              <a:rPr sz="1800" spc="85" dirty="0">
                <a:latin typeface="Times New Roman"/>
                <a:cs typeface="Times New Roman"/>
              </a:rPr>
              <a:t> </a:t>
            </a:r>
            <a:r>
              <a:rPr sz="1800" spc="-10" dirty="0">
                <a:latin typeface="Times New Roman"/>
                <a:cs typeface="Times New Roman"/>
              </a:rPr>
              <a:t>within </a:t>
            </a:r>
            <a:r>
              <a:rPr sz="1800" dirty="0">
                <a:latin typeface="Times New Roman"/>
                <a:cs typeface="Times New Roman"/>
              </a:rPr>
              <a:t>modern</a:t>
            </a:r>
            <a:r>
              <a:rPr sz="1800" spc="85" dirty="0">
                <a:latin typeface="Times New Roman"/>
                <a:cs typeface="Times New Roman"/>
              </a:rPr>
              <a:t>  </a:t>
            </a:r>
            <a:r>
              <a:rPr sz="1800" dirty="0">
                <a:latin typeface="Times New Roman"/>
                <a:cs typeface="Times New Roman"/>
              </a:rPr>
              <a:t>vehicles.</a:t>
            </a:r>
            <a:r>
              <a:rPr sz="1800" spc="95" dirty="0">
                <a:latin typeface="Times New Roman"/>
                <a:cs typeface="Times New Roman"/>
              </a:rPr>
              <a:t>  </a:t>
            </a:r>
            <a:r>
              <a:rPr sz="1800" spc="-25" dirty="0">
                <a:latin typeface="Times New Roman"/>
                <a:cs typeface="Times New Roman"/>
              </a:rPr>
              <a:t>On-</a:t>
            </a:r>
            <a:r>
              <a:rPr sz="1800" dirty="0">
                <a:latin typeface="Times New Roman"/>
                <a:cs typeface="Times New Roman"/>
              </a:rPr>
              <a:t>Board</a:t>
            </a:r>
            <a:r>
              <a:rPr sz="1800" spc="90" dirty="0">
                <a:latin typeface="Times New Roman"/>
                <a:cs typeface="Times New Roman"/>
              </a:rPr>
              <a:t>  </a:t>
            </a:r>
            <a:r>
              <a:rPr sz="1800" dirty="0">
                <a:latin typeface="Times New Roman"/>
                <a:cs typeface="Times New Roman"/>
              </a:rPr>
              <a:t>Units</a:t>
            </a:r>
            <a:r>
              <a:rPr sz="1800" spc="95" dirty="0">
                <a:latin typeface="Times New Roman"/>
                <a:cs typeface="Times New Roman"/>
              </a:rPr>
              <a:t>  </a:t>
            </a:r>
            <a:r>
              <a:rPr sz="1800" dirty="0">
                <a:latin typeface="Times New Roman"/>
                <a:cs typeface="Times New Roman"/>
              </a:rPr>
              <a:t>(OBUs)</a:t>
            </a:r>
            <a:r>
              <a:rPr sz="1800" spc="90" dirty="0">
                <a:latin typeface="Times New Roman"/>
                <a:cs typeface="Times New Roman"/>
              </a:rPr>
              <a:t>  </a:t>
            </a:r>
            <a:r>
              <a:rPr sz="1800" dirty="0">
                <a:latin typeface="Times New Roman"/>
                <a:cs typeface="Times New Roman"/>
              </a:rPr>
              <a:t>manage</a:t>
            </a:r>
            <a:r>
              <a:rPr sz="1800" spc="90" dirty="0">
                <a:latin typeface="Times New Roman"/>
                <a:cs typeface="Times New Roman"/>
              </a:rPr>
              <a:t>  </a:t>
            </a:r>
            <a:r>
              <a:rPr sz="1800" dirty="0">
                <a:latin typeface="Times New Roman"/>
                <a:cs typeface="Times New Roman"/>
              </a:rPr>
              <a:t>tasks</a:t>
            </a:r>
            <a:r>
              <a:rPr sz="1800" spc="90" dirty="0">
                <a:latin typeface="Times New Roman"/>
                <a:cs typeface="Times New Roman"/>
              </a:rPr>
              <a:t>  </a:t>
            </a:r>
            <a:r>
              <a:rPr sz="1800" dirty="0">
                <a:latin typeface="Times New Roman"/>
                <a:cs typeface="Times New Roman"/>
              </a:rPr>
              <a:t>like</a:t>
            </a:r>
            <a:r>
              <a:rPr sz="1800" spc="90" dirty="0">
                <a:latin typeface="Times New Roman"/>
                <a:cs typeface="Times New Roman"/>
              </a:rPr>
              <a:t>  </a:t>
            </a:r>
            <a:r>
              <a:rPr sz="1800" dirty="0">
                <a:latin typeface="Times New Roman"/>
                <a:cs typeface="Times New Roman"/>
              </a:rPr>
              <a:t>navigation,</a:t>
            </a:r>
            <a:r>
              <a:rPr sz="1800" spc="90" dirty="0">
                <a:latin typeface="Times New Roman"/>
                <a:cs typeface="Times New Roman"/>
              </a:rPr>
              <a:t>  </a:t>
            </a:r>
            <a:r>
              <a:rPr sz="1800" dirty="0">
                <a:latin typeface="Times New Roman"/>
                <a:cs typeface="Times New Roman"/>
              </a:rPr>
              <a:t>communication,</a:t>
            </a:r>
            <a:r>
              <a:rPr sz="1800" spc="85" dirty="0">
                <a:latin typeface="Times New Roman"/>
                <a:cs typeface="Times New Roman"/>
              </a:rPr>
              <a:t>  </a:t>
            </a:r>
            <a:r>
              <a:rPr sz="1800" dirty="0">
                <a:latin typeface="Times New Roman"/>
                <a:cs typeface="Times New Roman"/>
              </a:rPr>
              <a:t>safety</a:t>
            </a:r>
            <a:r>
              <a:rPr sz="1800" spc="95" dirty="0">
                <a:latin typeface="Times New Roman"/>
                <a:cs typeface="Times New Roman"/>
              </a:rPr>
              <a:t>  </a:t>
            </a:r>
            <a:r>
              <a:rPr sz="1800" dirty="0">
                <a:latin typeface="Times New Roman"/>
                <a:cs typeface="Times New Roman"/>
              </a:rPr>
              <a:t>notifications,</a:t>
            </a:r>
            <a:r>
              <a:rPr sz="1800" spc="95" dirty="0">
                <a:latin typeface="Times New Roman"/>
                <a:cs typeface="Times New Roman"/>
              </a:rPr>
              <a:t>  </a:t>
            </a:r>
            <a:r>
              <a:rPr sz="1800" spc="-25" dirty="0">
                <a:latin typeface="Times New Roman"/>
                <a:cs typeface="Times New Roman"/>
              </a:rPr>
              <a:t>and </a:t>
            </a:r>
            <a:r>
              <a:rPr sz="1800" dirty="0">
                <a:latin typeface="Times New Roman"/>
                <a:cs typeface="Times New Roman"/>
              </a:rPr>
              <a:t>entertainment.</a:t>
            </a:r>
            <a:r>
              <a:rPr sz="1800" spc="145" dirty="0">
                <a:latin typeface="Times New Roman"/>
                <a:cs typeface="Times New Roman"/>
              </a:rPr>
              <a:t> </a:t>
            </a:r>
            <a:r>
              <a:rPr sz="1800" dirty="0">
                <a:latin typeface="Times New Roman"/>
                <a:cs typeface="Times New Roman"/>
              </a:rPr>
              <a:t>However,</a:t>
            </a:r>
            <a:r>
              <a:rPr sz="1800" spc="150" dirty="0">
                <a:latin typeface="Times New Roman"/>
                <a:cs typeface="Times New Roman"/>
              </a:rPr>
              <a:t> </a:t>
            </a:r>
            <a:r>
              <a:rPr sz="1800" dirty="0">
                <a:latin typeface="Times New Roman"/>
                <a:cs typeface="Times New Roman"/>
              </a:rPr>
              <a:t>not</a:t>
            </a:r>
            <a:r>
              <a:rPr sz="1800" spc="130" dirty="0">
                <a:latin typeface="Times New Roman"/>
                <a:cs typeface="Times New Roman"/>
              </a:rPr>
              <a:t> </a:t>
            </a:r>
            <a:r>
              <a:rPr sz="1800" dirty="0">
                <a:latin typeface="Times New Roman"/>
                <a:cs typeface="Times New Roman"/>
              </a:rPr>
              <a:t>all</a:t>
            </a:r>
            <a:r>
              <a:rPr sz="1800" spc="135" dirty="0">
                <a:latin typeface="Times New Roman"/>
                <a:cs typeface="Times New Roman"/>
              </a:rPr>
              <a:t> </a:t>
            </a:r>
            <a:r>
              <a:rPr sz="1800" dirty="0">
                <a:latin typeface="Times New Roman"/>
                <a:cs typeface="Times New Roman"/>
              </a:rPr>
              <a:t>OBUs</a:t>
            </a:r>
            <a:r>
              <a:rPr sz="1800" spc="135" dirty="0">
                <a:latin typeface="Times New Roman"/>
                <a:cs typeface="Times New Roman"/>
              </a:rPr>
              <a:t> </a:t>
            </a:r>
            <a:r>
              <a:rPr sz="1800" dirty="0">
                <a:latin typeface="Times New Roman"/>
                <a:cs typeface="Times New Roman"/>
              </a:rPr>
              <a:t>are</a:t>
            </a:r>
            <a:r>
              <a:rPr sz="1800" spc="145" dirty="0">
                <a:latin typeface="Times New Roman"/>
                <a:cs typeface="Times New Roman"/>
              </a:rPr>
              <a:t> </a:t>
            </a:r>
            <a:r>
              <a:rPr sz="1800" dirty="0">
                <a:latin typeface="Times New Roman"/>
                <a:cs typeface="Times New Roman"/>
              </a:rPr>
              <a:t>the</a:t>
            </a:r>
            <a:r>
              <a:rPr sz="1800" spc="150" dirty="0">
                <a:latin typeface="Times New Roman"/>
                <a:cs typeface="Times New Roman"/>
              </a:rPr>
              <a:t> </a:t>
            </a:r>
            <a:r>
              <a:rPr sz="1800" spc="-25" dirty="0">
                <a:latin typeface="Times New Roman"/>
                <a:cs typeface="Times New Roman"/>
              </a:rPr>
              <a:t>same—</a:t>
            </a:r>
            <a:r>
              <a:rPr sz="1800" dirty="0">
                <a:latin typeface="Times New Roman"/>
                <a:cs typeface="Times New Roman"/>
              </a:rPr>
              <a:t>some</a:t>
            </a:r>
            <a:r>
              <a:rPr sz="1800" spc="160" dirty="0">
                <a:latin typeface="Times New Roman"/>
                <a:cs typeface="Times New Roman"/>
              </a:rPr>
              <a:t> </a:t>
            </a:r>
            <a:r>
              <a:rPr sz="1800" dirty="0">
                <a:latin typeface="Times New Roman"/>
                <a:cs typeface="Times New Roman"/>
              </a:rPr>
              <a:t>have</a:t>
            </a:r>
            <a:r>
              <a:rPr sz="1800" spc="135" dirty="0">
                <a:latin typeface="Times New Roman"/>
                <a:cs typeface="Times New Roman"/>
              </a:rPr>
              <a:t> </a:t>
            </a:r>
            <a:r>
              <a:rPr sz="1800" dirty="0">
                <a:latin typeface="Times New Roman"/>
                <a:cs typeface="Times New Roman"/>
              </a:rPr>
              <a:t>strong</a:t>
            </a:r>
            <a:r>
              <a:rPr sz="1800" spc="140" dirty="0">
                <a:latin typeface="Times New Roman"/>
                <a:cs typeface="Times New Roman"/>
              </a:rPr>
              <a:t> </a:t>
            </a:r>
            <a:r>
              <a:rPr sz="1800" dirty="0">
                <a:latin typeface="Times New Roman"/>
                <a:cs typeface="Times New Roman"/>
              </a:rPr>
              <a:t>processing</a:t>
            </a:r>
            <a:r>
              <a:rPr sz="1800" spc="160" dirty="0">
                <a:latin typeface="Times New Roman"/>
                <a:cs typeface="Times New Roman"/>
              </a:rPr>
              <a:t> </a:t>
            </a:r>
            <a:r>
              <a:rPr sz="1800" dirty="0">
                <a:latin typeface="Times New Roman"/>
                <a:cs typeface="Times New Roman"/>
              </a:rPr>
              <a:t>power</a:t>
            </a:r>
            <a:r>
              <a:rPr sz="1800" spc="145" dirty="0">
                <a:latin typeface="Times New Roman"/>
                <a:cs typeface="Times New Roman"/>
              </a:rPr>
              <a:t> </a:t>
            </a:r>
            <a:r>
              <a:rPr sz="1800" dirty="0">
                <a:latin typeface="Times New Roman"/>
                <a:cs typeface="Times New Roman"/>
              </a:rPr>
              <a:t>and</a:t>
            </a:r>
            <a:r>
              <a:rPr sz="1800" spc="140" dirty="0">
                <a:latin typeface="Times New Roman"/>
                <a:cs typeface="Times New Roman"/>
              </a:rPr>
              <a:t> </a:t>
            </a:r>
            <a:r>
              <a:rPr sz="1800" dirty="0">
                <a:latin typeface="Times New Roman"/>
                <a:cs typeface="Times New Roman"/>
              </a:rPr>
              <a:t>fast</a:t>
            </a:r>
            <a:r>
              <a:rPr sz="1800" spc="140" dirty="0">
                <a:latin typeface="Times New Roman"/>
                <a:cs typeface="Times New Roman"/>
              </a:rPr>
              <a:t> </a:t>
            </a:r>
            <a:r>
              <a:rPr sz="1800" dirty="0">
                <a:latin typeface="Times New Roman"/>
                <a:cs typeface="Times New Roman"/>
              </a:rPr>
              <a:t>communication,</a:t>
            </a:r>
            <a:r>
              <a:rPr sz="1800" spc="155" dirty="0">
                <a:latin typeface="Times New Roman"/>
                <a:cs typeface="Times New Roman"/>
              </a:rPr>
              <a:t> </a:t>
            </a:r>
            <a:r>
              <a:rPr sz="1800" spc="-10" dirty="0">
                <a:latin typeface="Times New Roman"/>
                <a:cs typeface="Times New Roman"/>
              </a:rPr>
              <a:t>while </a:t>
            </a:r>
            <a:r>
              <a:rPr sz="1800" dirty="0">
                <a:latin typeface="Times New Roman"/>
                <a:cs typeface="Times New Roman"/>
              </a:rPr>
              <a:t>others</a:t>
            </a:r>
            <a:r>
              <a:rPr sz="1800" spc="-40" dirty="0">
                <a:latin typeface="Times New Roman"/>
                <a:cs typeface="Times New Roman"/>
              </a:rPr>
              <a:t> </a:t>
            </a:r>
            <a:r>
              <a:rPr sz="1800" dirty="0">
                <a:latin typeface="Times New Roman"/>
                <a:cs typeface="Times New Roman"/>
              </a:rPr>
              <a:t>are</a:t>
            </a:r>
            <a:r>
              <a:rPr sz="1800" spc="-15" dirty="0">
                <a:latin typeface="Times New Roman"/>
                <a:cs typeface="Times New Roman"/>
              </a:rPr>
              <a:t> </a:t>
            </a:r>
            <a:r>
              <a:rPr sz="1800" dirty="0">
                <a:latin typeface="Times New Roman"/>
                <a:cs typeface="Times New Roman"/>
              </a:rPr>
              <a:t>more</a:t>
            </a:r>
            <a:r>
              <a:rPr sz="1800" spc="-20" dirty="0">
                <a:latin typeface="Times New Roman"/>
                <a:cs typeface="Times New Roman"/>
              </a:rPr>
              <a:t> </a:t>
            </a:r>
            <a:r>
              <a:rPr sz="1800" dirty="0">
                <a:latin typeface="Times New Roman"/>
                <a:cs typeface="Times New Roman"/>
              </a:rPr>
              <a:t>limited.</a:t>
            </a:r>
            <a:r>
              <a:rPr sz="1800" spc="-25" dirty="0">
                <a:latin typeface="Times New Roman"/>
                <a:cs typeface="Times New Roman"/>
              </a:rPr>
              <a:t> </a:t>
            </a:r>
            <a:r>
              <a:rPr sz="1800" dirty="0">
                <a:latin typeface="Times New Roman"/>
                <a:cs typeface="Times New Roman"/>
              </a:rPr>
              <a:t>This</a:t>
            </a:r>
            <a:r>
              <a:rPr sz="1800" spc="-25" dirty="0">
                <a:latin typeface="Times New Roman"/>
                <a:cs typeface="Times New Roman"/>
              </a:rPr>
              <a:t> </a:t>
            </a:r>
            <a:r>
              <a:rPr sz="1800" dirty="0">
                <a:latin typeface="Times New Roman"/>
                <a:cs typeface="Times New Roman"/>
              </a:rPr>
              <a:t>dual</a:t>
            </a:r>
            <a:r>
              <a:rPr sz="1800" spc="-15" dirty="0">
                <a:latin typeface="Times New Roman"/>
                <a:cs typeface="Times New Roman"/>
              </a:rPr>
              <a:t> </a:t>
            </a:r>
            <a:r>
              <a:rPr sz="1800" dirty="0">
                <a:latin typeface="Times New Roman"/>
                <a:cs typeface="Times New Roman"/>
              </a:rPr>
              <a:t>approach</a:t>
            </a:r>
            <a:r>
              <a:rPr sz="1800" spc="-20" dirty="0">
                <a:latin typeface="Times New Roman"/>
                <a:cs typeface="Times New Roman"/>
              </a:rPr>
              <a:t> </a:t>
            </a:r>
            <a:r>
              <a:rPr sz="1800" dirty="0">
                <a:latin typeface="Times New Roman"/>
                <a:cs typeface="Times New Roman"/>
              </a:rPr>
              <a:t>not</a:t>
            </a:r>
            <a:r>
              <a:rPr sz="1800" spc="-30" dirty="0">
                <a:latin typeface="Times New Roman"/>
                <a:cs typeface="Times New Roman"/>
              </a:rPr>
              <a:t> </a:t>
            </a:r>
            <a:r>
              <a:rPr sz="1800" dirty="0">
                <a:latin typeface="Times New Roman"/>
                <a:cs typeface="Times New Roman"/>
              </a:rPr>
              <a:t>only strengthens</a:t>
            </a:r>
            <a:r>
              <a:rPr sz="1800" spc="-2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current</a:t>
            </a:r>
            <a:r>
              <a:rPr sz="1800" spc="-20" dirty="0">
                <a:latin typeface="Times New Roman"/>
                <a:cs typeface="Times New Roman"/>
              </a:rPr>
              <a:t> </a:t>
            </a:r>
            <a:r>
              <a:rPr sz="1800" dirty="0">
                <a:latin typeface="Times New Roman"/>
                <a:cs typeface="Times New Roman"/>
              </a:rPr>
              <a:t>performance</a:t>
            </a:r>
            <a:r>
              <a:rPr sz="1800" spc="-1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OBUs</a:t>
            </a:r>
            <a:r>
              <a:rPr sz="1800" spc="-20" dirty="0">
                <a:latin typeface="Times New Roman"/>
                <a:cs typeface="Times New Roman"/>
              </a:rPr>
              <a:t> </a:t>
            </a:r>
            <a:r>
              <a:rPr sz="1800" dirty="0">
                <a:latin typeface="Times New Roman"/>
                <a:cs typeface="Times New Roman"/>
              </a:rPr>
              <a:t>but</a:t>
            </a:r>
            <a:r>
              <a:rPr sz="1800" spc="-25" dirty="0">
                <a:latin typeface="Times New Roman"/>
                <a:cs typeface="Times New Roman"/>
              </a:rPr>
              <a:t> </a:t>
            </a:r>
            <a:r>
              <a:rPr sz="1800" dirty="0">
                <a:latin typeface="Times New Roman"/>
                <a:cs typeface="Times New Roman"/>
              </a:rPr>
              <a:t>also</a:t>
            </a:r>
            <a:r>
              <a:rPr sz="1800" spc="-25" dirty="0">
                <a:latin typeface="Times New Roman"/>
                <a:cs typeface="Times New Roman"/>
              </a:rPr>
              <a:t> </a:t>
            </a:r>
            <a:r>
              <a:rPr sz="1800" dirty="0">
                <a:latin typeface="Times New Roman"/>
                <a:cs typeface="Times New Roman"/>
              </a:rPr>
              <a:t>ensures</a:t>
            </a:r>
            <a:r>
              <a:rPr sz="1800" spc="-35" dirty="0">
                <a:latin typeface="Times New Roman"/>
                <a:cs typeface="Times New Roman"/>
              </a:rPr>
              <a:t> </a:t>
            </a:r>
            <a:r>
              <a:rPr sz="1800" dirty="0">
                <a:latin typeface="Times New Roman"/>
                <a:cs typeface="Times New Roman"/>
              </a:rPr>
              <a:t>for</a:t>
            </a:r>
            <a:r>
              <a:rPr sz="1800" spc="-25" dirty="0">
                <a:latin typeface="Times New Roman"/>
                <a:cs typeface="Times New Roman"/>
              </a:rPr>
              <a:t> </a:t>
            </a:r>
            <a:r>
              <a:rPr sz="1800" spc="-10" dirty="0">
                <a:latin typeface="Times New Roman"/>
                <a:cs typeface="Times New Roman"/>
              </a:rPr>
              <a:t>next- </a:t>
            </a:r>
            <a:r>
              <a:rPr sz="1800" dirty="0">
                <a:latin typeface="Times New Roman"/>
                <a:cs typeface="Times New Roman"/>
              </a:rPr>
              <a:t>generation</a:t>
            </a:r>
            <a:r>
              <a:rPr sz="1800" spc="85" dirty="0">
                <a:latin typeface="Times New Roman"/>
                <a:cs typeface="Times New Roman"/>
              </a:rPr>
              <a:t> </a:t>
            </a:r>
            <a:r>
              <a:rPr sz="1800" dirty="0">
                <a:latin typeface="Times New Roman"/>
                <a:cs typeface="Times New Roman"/>
              </a:rPr>
              <a:t>mobility</a:t>
            </a:r>
            <a:r>
              <a:rPr sz="1800" spc="95" dirty="0">
                <a:latin typeface="Times New Roman"/>
                <a:cs typeface="Times New Roman"/>
              </a:rPr>
              <a:t> </a:t>
            </a:r>
            <a:r>
              <a:rPr sz="1800" dirty="0">
                <a:latin typeface="Times New Roman"/>
                <a:cs typeface="Times New Roman"/>
              </a:rPr>
              <a:t>technologies,</a:t>
            </a:r>
            <a:r>
              <a:rPr sz="1800" spc="90" dirty="0">
                <a:latin typeface="Times New Roman"/>
                <a:cs typeface="Times New Roman"/>
              </a:rPr>
              <a:t> </a:t>
            </a:r>
            <a:r>
              <a:rPr sz="1800" dirty="0">
                <a:latin typeface="Times New Roman"/>
                <a:cs typeface="Times New Roman"/>
              </a:rPr>
              <a:t>including</a:t>
            </a:r>
            <a:r>
              <a:rPr sz="1800" spc="85" dirty="0">
                <a:latin typeface="Times New Roman"/>
                <a:cs typeface="Times New Roman"/>
              </a:rPr>
              <a:t> </a:t>
            </a:r>
            <a:r>
              <a:rPr sz="1800" spc="-30" dirty="0">
                <a:latin typeface="Times New Roman"/>
                <a:cs typeface="Times New Roman"/>
              </a:rPr>
              <a:t>5G-</a:t>
            </a:r>
            <a:r>
              <a:rPr sz="1800" dirty="0">
                <a:latin typeface="Times New Roman"/>
                <a:cs typeface="Times New Roman"/>
              </a:rPr>
              <a:t>enabled</a:t>
            </a:r>
            <a:r>
              <a:rPr sz="1800" spc="90" dirty="0">
                <a:latin typeface="Times New Roman"/>
                <a:cs typeface="Times New Roman"/>
              </a:rPr>
              <a:t> </a:t>
            </a:r>
            <a:r>
              <a:rPr sz="1800" dirty="0">
                <a:latin typeface="Times New Roman"/>
                <a:cs typeface="Times New Roman"/>
              </a:rPr>
              <a:t>V2X</a:t>
            </a:r>
            <a:r>
              <a:rPr sz="1800" spc="75" dirty="0">
                <a:latin typeface="Times New Roman"/>
                <a:cs typeface="Times New Roman"/>
              </a:rPr>
              <a:t> </a:t>
            </a:r>
            <a:r>
              <a:rPr sz="1800" dirty="0">
                <a:latin typeface="Times New Roman"/>
                <a:cs typeface="Times New Roman"/>
              </a:rPr>
              <a:t>networks,</a:t>
            </a:r>
            <a:r>
              <a:rPr sz="1800" spc="95" dirty="0">
                <a:latin typeface="Times New Roman"/>
                <a:cs typeface="Times New Roman"/>
              </a:rPr>
              <a:t> </a:t>
            </a:r>
            <a:r>
              <a:rPr sz="1800" dirty="0">
                <a:latin typeface="Times New Roman"/>
                <a:cs typeface="Times New Roman"/>
              </a:rPr>
              <a:t>autonomous</a:t>
            </a:r>
            <a:r>
              <a:rPr sz="1800" spc="80" dirty="0">
                <a:latin typeface="Times New Roman"/>
                <a:cs typeface="Times New Roman"/>
              </a:rPr>
              <a:t> </a:t>
            </a:r>
            <a:r>
              <a:rPr sz="1800" dirty="0">
                <a:latin typeface="Times New Roman"/>
                <a:cs typeface="Times New Roman"/>
              </a:rPr>
              <a:t>driving</a:t>
            </a:r>
            <a:r>
              <a:rPr sz="1800" spc="100" dirty="0">
                <a:latin typeface="Times New Roman"/>
                <a:cs typeface="Times New Roman"/>
              </a:rPr>
              <a:t> </a:t>
            </a:r>
            <a:r>
              <a:rPr sz="1800" dirty="0">
                <a:latin typeface="Times New Roman"/>
                <a:cs typeface="Times New Roman"/>
              </a:rPr>
              <a:t>frameworks,</a:t>
            </a:r>
            <a:r>
              <a:rPr sz="1800" spc="85" dirty="0">
                <a:latin typeface="Times New Roman"/>
                <a:cs typeface="Times New Roman"/>
              </a:rPr>
              <a:t> </a:t>
            </a:r>
            <a:r>
              <a:rPr sz="1800" dirty="0">
                <a:latin typeface="Times New Roman"/>
                <a:cs typeface="Times New Roman"/>
              </a:rPr>
              <a:t>and</a:t>
            </a:r>
            <a:r>
              <a:rPr sz="1800" spc="95" dirty="0">
                <a:latin typeface="Times New Roman"/>
                <a:cs typeface="Times New Roman"/>
              </a:rPr>
              <a:t> </a:t>
            </a:r>
            <a:r>
              <a:rPr sz="1800" dirty="0">
                <a:latin typeface="Times New Roman"/>
                <a:cs typeface="Times New Roman"/>
              </a:rPr>
              <a:t>smart</a:t>
            </a:r>
            <a:r>
              <a:rPr sz="1800" spc="95" dirty="0">
                <a:latin typeface="Times New Roman"/>
                <a:cs typeface="Times New Roman"/>
              </a:rPr>
              <a:t> </a:t>
            </a:r>
            <a:r>
              <a:rPr sz="1800" spc="-10" dirty="0">
                <a:latin typeface="Times New Roman"/>
                <a:cs typeface="Times New Roman"/>
              </a:rPr>
              <a:t>traffic </a:t>
            </a:r>
            <a:r>
              <a:rPr sz="1800" dirty="0">
                <a:latin typeface="Times New Roman"/>
                <a:cs typeface="Times New Roman"/>
              </a:rPr>
              <a:t>management</a:t>
            </a:r>
            <a:r>
              <a:rPr sz="1800" spc="135" dirty="0">
                <a:latin typeface="Times New Roman"/>
                <a:cs typeface="Times New Roman"/>
              </a:rPr>
              <a:t>  </a:t>
            </a:r>
            <a:r>
              <a:rPr sz="1800" dirty="0">
                <a:latin typeface="Times New Roman"/>
                <a:cs typeface="Times New Roman"/>
              </a:rPr>
              <a:t>systems.</a:t>
            </a:r>
            <a:r>
              <a:rPr sz="1800" spc="150" dirty="0">
                <a:latin typeface="Times New Roman"/>
                <a:cs typeface="Times New Roman"/>
              </a:rPr>
              <a:t>  </a:t>
            </a:r>
            <a:r>
              <a:rPr sz="1800" dirty="0">
                <a:latin typeface="Times New Roman"/>
                <a:cs typeface="Times New Roman"/>
              </a:rPr>
              <a:t>The</a:t>
            </a:r>
            <a:r>
              <a:rPr sz="1800" spc="145" dirty="0">
                <a:latin typeface="Times New Roman"/>
                <a:cs typeface="Times New Roman"/>
              </a:rPr>
              <a:t>  </a:t>
            </a:r>
            <a:r>
              <a:rPr sz="1800" dirty="0">
                <a:latin typeface="Times New Roman"/>
                <a:cs typeface="Times New Roman"/>
              </a:rPr>
              <a:t>research</a:t>
            </a:r>
            <a:r>
              <a:rPr sz="1800" spc="145" dirty="0">
                <a:latin typeface="Times New Roman"/>
                <a:cs typeface="Times New Roman"/>
              </a:rPr>
              <a:t>  </a:t>
            </a:r>
            <a:r>
              <a:rPr sz="1800" dirty="0">
                <a:latin typeface="Times New Roman"/>
                <a:cs typeface="Times New Roman"/>
              </a:rPr>
              <a:t>implements</a:t>
            </a:r>
            <a:r>
              <a:rPr sz="1800" spc="140" dirty="0">
                <a:latin typeface="Times New Roman"/>
                <a:cs typeface="Times New Roman"/>
              </a:rPr>
              <a:t>  </a:t>
            </a:r>
            <a:r>
              <a:rPr sz="1800" dirty="0">
                <a:latin typeface="Times New Roman"/>
                <a:cs typeface="Times New Roman"/>
              </a:rPr>
              <a:t>and</a:t>
            </a:r>
            <a:r>
              <a:rPr sz="1800" spc="145" dirty="0">
                <a:latin typeface="Times New Roman"/>
                <a:cs typeface="Times New Roman"/>
              </a:rPr>
              <a:t>  </a:t>
            </a:r>
            <a:r>
              <a:rPr sz="1800" dirty="0">
                <a:latin typeface="Times New Roman"/>
                <a:cs typeface="Times New Roman"/>
              </a:rPr>
              <a:t>evaluates</a:t>
            </a:r>
            <a:r>
              <a:rPr sz="1800" spc="145" dirty="0">
                <a:latin typeface="Times New Roman"/>
                <a:cs typeface="Times New Roman"/>
              </a:rPr>
              <a:t>  </a:t>
            </a:r>
            <a:r>
              <a:rPr sz="1800" dirty="0">
                <a:latin typeface="Times New Roman"/>
                <a:cs typeface="Times New Roman"/>
              </a:rPr>
              <a:t>four</a:t>
            </a:r>
            <a:r>
              <a:rPr sz="1800" spc="140" dirty="0">
                <a:latin typeface="Times New Roman"/>
                <a:cs typeface="Times New Roman"/>
              </a:rPr>
              <a:t>  </a:t>
            </a:r>
            <a:r>
              <a:rPr sz="1800" dirty="0">
                <a:latin typeface="Times New Roman"/>
                <a:cs typeface="Times New Roman"/>
              </a:rPr>
              <a:t>regression</a:t>
            </a:r>
            <a:r>
              <a:rPr sz="1800" spc="145" dirty="0">
                <a:latin typeface="Times New Roman"/>
                <a:cs typeface="Times New Roman"/>
              </a:rPr>
              <a:t>  </a:t>
            </a:r>
            <a:r>
              <a:rPr sz="1800" spc="-20" dirty="0">
                <a:latin typeface="Times New Roman"/>
                <a:cs typeface="Times New Roman"/>
              </a:rPr>
              <a:t>models—</a:t>
            </a:r>
            <a:r>
              <a:rPr sz="1800" dirty="0">
                <a:latin typeface="Times New Roman"/>
                <a:cs typeface="Times New Roman"/>
              </a:rPr>
              <a:t>Decision</a:t>
            </a:r>
            <a:r>
              <a:rPr sz="1800" spc="145" dirty="0">
                <a:latin typeface="Times New Roman"/>
                <a:cs typeface="Times New Roman"/>
              </a:rPr>
              <a:t>  </a:t>
            </a:r>
            <a:r>
              <a:rPr sz="1800" dirty="0">
                <a:latin typeface="Times New Roman"/>
                <a:cs typeface="Times New Roman"/>
              </a:rPr>
              <a:t>Tree</a:t>
            </a:r>
            <a:r>
              <a:rPr sz="1800" spc="135" dirty="0">
                <a:latin typeface="Times New Roman"/>
                <a:cs typeface="Times New Roman"/>
              </a:rPr>
              <a:t>  </a:t>
            </a:r>
            <a:r>
              <a:rPr sz="1800" spc="-10" dirty="0">
                <a:latin typeface="Times New Roman"/>
                <a:cs typeface="Times New Roman"/>
              </a:rPr>
              <a:t>Regressor, </a:t>
            </a:r>
            <a:r>
              <a:rPr sz="1800" dirty="0">
                <a:latin typeface="Times New Roman"/>
                <a:cs typeface="Times New Roman"/>
              </a:rPr>
              <a:t>Orthogonal</a:t>
            </a:r>
            <a:r>
              <a:rPr sz="1800" spc="225" dirty="0">
                <a:latin typeface="Times New Roman"/>
                <a:cs typeface="Times New Roman"/>
              </a:rPr>
              <a:t> </a:t>
            </a:r>
            <a:r>
              <a:rPr sz="1800" dirty="0">
                <a:latin typeface="Times New Roman"/>
                <a:cs typeface="Times New Roman"/>
              </a:rPr>
              <a:t>Matching</a:t>
            </a:r>
            <a:r>
              <a:rPr sz="1800" spc="240" dirty="0">
                <a:latin typeface="Times New Roman"/>
                <a:cs typeface="Times New Roman"/>
              </a:rPr>
              <a:t> </a:t>
            </a:r>
            <a:r>
              <a:rPr sz="1800" dirty="0">
                <a:latin typeface="Times New Roman"/>
                <a:cs typeface="Times New Roman"/>
              </a:rPr>
              <a:t>Pursuit</a:t>
            </a:r>
            <a:r>
              <a:rPr sz="1800" spc="245" dirty="0">
                <a:latin typeface="Times New Roman"/>
                <a:cs typeface="Times New Roman"/>
              </a:rPr>
              <a:t> </a:t>
            </a:r>
            <a:r>
              <a:rPr sz="1800" dirty="0">
                <a:latin typeface="Times New Roman"/>
                <a:cs typeface="Times New Roman"/>
              </a:rPr>
              <a:t>(OMP),</a:t>
            </a:r>
            <a:r>
              <a:rPr sz="1800" spc="235" dirty="0">
                <a:latin typeface="Times New Roman"/>
                <a:cs typeface="Times New Roman"/>
              </a:rPr>
              <a:t> </a:t>
            </a:r>
            <a:r>
              <a:rPr sz="1800" spc="-30" dirty="0">
                <a:latin typeface="Times New Roman"/>
                <a:cs typeface="Times New Roman"/>
              </a:rPr>
              <a:t>K-</a:t>
            </a:r>
            <a:r>
              <a:rPr sz="1800" dirty="0">
                <a:latin typeface="Times New Roman"/>
                <a:cs typeface="Times New Roman"/>
              </a:rPr>
              <a:t>Nearest</a:t>
            </a:r>
            <a:r>
              <a:rPr sz="1800" spc="240" dirty="0">
                <a:latin typeface="Times New Roman"/>
                <a:cs typeface="Times New Roman"/>
              </a:rPr>
              <a:t> </a:t>
            </a:r>
            <a:r>
              <a:rPr sz="1800" dirty="0">
                <a:latin typeface="Times New Roman"/>
                <a:cs typeface="Times New Roman"/>
              </a:rPr>
              <a:t>Neighbors</a:t>
            </a:r>
            <a:r>
              <a:rPr sz="1800" spc="229" dirty="0">
                <a:latin typeface="Times New Roman"/>
                <a:cs typeface="Times New Roman"/>
              </a:rPr>
              <a:t> </a:t>
            </a:r>
            <a:r>
              <a:rPr sz="1800" dirty="0">
                <a:latin typeface="Times New Roman"/>
                <a:cs typeface="Times New Roman"/>
              </a:rPr>
              <a:t>(KNN),</a:t>
            </a:r>
            <a:r>
              <a:rPr sz="1800" spc="254" dirty="0">
                <a:latin typeface="Times New Roman"/>
                <a:cs typeface="Times New Roman"/>
              </a:rPr>
              <a:t> </a:t>
            </a:r>
            <a:r>
              <a:rPr sz="1800" dirty="0">
                <a:latin typeface="Times New Roman"/>
                <a:cs typeface="Times New Roman"/>
              </a:rPr>
              <a:t>and</a:t>
            </a:r>
            <a:r>
              <a:rPr sz="1800" spc="229" dirty="0">
                <a:latin typeface="Times New Roman"/>
                <a:cs typeface="Times New Roman"/>
              </a:rPr>
              <a:t> </a:t>
            </a:r>
            <a:r>
              <a:rPr sz="1800" dirty="0">
                <a:latin typeface="Times New Roman"/>
                <a:cs typeface="Times New Roman"/>
              </a:rPr>
              <a:t>a</a:t>
            </a:r>
            <a:r>
              <a:rPr sz="1800" spc="240" dirty="0">
                <a:latin typeface="Times New Roman"/>
                <a:cs typeface="Times New Roman"/>
              </a:rPr>
              <a:t> </a:t>
            </a:r>
            <a:r>
              <a:rPr sz="1800" dirty="0">
                <a:latin typeface="Times New Roman"/>
                <a:cs typeface="Times New Roman"/>
              </a:rPr>
              <a:t>hybrid</a:t>
            </a:r>
            <a:r>
              <a:rPr sz="1800" spc="229" dirty="0">
                <a:latin typeface="Times New Roman"/>
                <a:cs typeface="Times New Roman"/>
              </a:rPr>
              <a:t> </a:t>
            </a:r>
            <a:r>
              <a:rPr sz="1800" dirty="0">
                <a:latin typeface="Times New Roman"/>
                <a:cs typeface="Times New Roman"/>
              </a:rPr>
              <a:t>Random</a:t>
            </a:r>
            <a:r>
              <a:rPr sz="1800" spc="245" dirty="0">
                <a:latin typeface="Times New Roman"/>
                <a:cs typeface="Times New Roman"/>
              </a:rPr>
              <a:t> </a:t>
            </a:r>
            <a:r>
              <a:rPr sz="1800" dirty="0">
                <a:latin typeface="Times New Roman"/>
                <a:cs typeface="Times New Roman"/>
              </a:rPr>
              <a:t>Forest</a:t>
            </a:r>
            <a:r>
              <a:rPr sz="1800" spc="235" dirty="0">
                <a:latin typeface="Times New Roman"/>
                <a:cs typeface="Times New Roman"/>
              </a:rPr>
              <a:t> </a:t>
            </a:r>
            <a:r>
              <a:rPr sz="1800" dirty="0">
                <a:latin typeface="Times New Roman"/>
                <a:cs typeface="Times New Roman"/>
              </a:rPr>
              <a:t>combined</a:t>
            </a:r>
            <a:r>
              <a:rPr sz="1800" spc="245" dirty="0">
                <a:latin typeface="Times New Roman"/>
                <a:cs typeface="Times New Roman"/>
              </a:rPr>
              <a:t> </a:t>
            </a:r>
            <a:r>
              <a:rPr sz="1800" dirty="0">
                <a:latin typeface="Times New Roman"/>
                <a:cs typeface="Times New Roman"/>
              </a:rPr>
              <a:t>with</a:t>
            </a:r>
            <a:r>
              <a:rPr sz="1800" spc="240" dirty="0">
                <a:latin typeface="Times New Roman"/>
                <a:cs typeface="Times New Roman"/>
              </a:rPr>
              <a:t> </a:t>
            </a:r>
            <a:r>
              <a:rPr sz="1800" spc="-10" dirty="0">
                <a:latin typeface="Times New Roman"/>
                <a:cs typeface="Times New Roman"/>
              </a:rPr>
              <a:t>Linear </a:t>
            </a:r>
            <a:r>
              <a:rPr sz="1800" dirty="0">
                <a:latin typeface="Times New Roman"/>
                <a:cs typeface="Times New Roman"/>
              </a:rPr>
              <a:t>Regression.</a:t>
            </a:r>
            <a:r>
              <a:rPr sz="1800" spc="105" dirty="0">
                <a:latin typeface="Times New Roman"/>
                <a:cs typeface="Times New Roman"/>
              </a:rPr>
              <a:t> </a:t>
            </a:r>
            <a:r>
              <a:rPr sz="1800" dirty="0">
                <a:latin typeface="Times New Roman"/>
                <a:cs typeface="Times New Roman"/>
              </a:rPr>
              <a:t>Tools</a:t>
            </a:r>
            <a:r>
              <a:rPr sz="1800" spc="110" dirty="0">
                <a:latin typeface="Times New Roman"/>
                <a:cs typeface="Times New Roman"/>
              </a:rPr>
              <a:t> </a:t>
            </a:r>
            <a:r>
              <a:rPr sz="1800" dirty="0">
                <a:latin typeface="Times New Roman"/>
                <a:cs typeface="Times New Roman"/>
              </a:rPr>
              <a:t>like</a:t>
            </a:r>
            <a:r>
              <a:rPr sz="1800" spc="110" dirty="0">
                <a:latin typeface="Times New Roman"/>
                <a:cs typeface="Times New Roman"/>
              </a:rPr>
              <a:t> </a:t>
            </a:r>
            <a:r>
              <a:rPr sz="1800" dirty="0">
                <a:latin typeface="Times New Roman"/>
                <a:cs typeface="Times New Roman"/>
              </a:rPr>
              <a:t>Pandas,</a:t>
            </a:r>
            <a:r>
              <a:rPr sz="1800" spc="95" dirty="0">
                <a:latin typeface="Times New Roman"/>
                <a:cs typeface="Times New Roman"/>
              </a:rPr>
              <a:t> </a:t>
            </a:r>
            <a:r>
              <a:rPr sz="1800" dirty="0">
                <a:latin typeface="Times New Roman"/>
                <a:cs typeface="Times New Roman"/>
              </a:rPr>
              <a:t>NumPy,</a:t>
            </a:r>
            <a:r>
              <a:rPr sz="1800" spc="110" dirty="0">
                <a:latin typeface="Times New Roman"/>
                <a:cs typeface="Times New Roman"/>
              </a:rPr>
              <a:t> </a:t>
            </a:r>
            <a:r>
              <a:rPr sz="1800" spc="-20" dirty="0">
                <a:latin typeface="Times New Roman"/>
                <a:cs typeface="Times New Roman"/>
              </a:rPr>
              <a:t>scikit-</a:t>
            </a:r>
            <a:r>
              <a:rPr sz="1800" dirty="0">
                <a:latin typeface="Times New Roman"/>
                <a:cs typeface="Times New Roman"/>
              </a:rPr>
              <a:t>learn,</a:t>
            </a:r>
            <a:r>
              <a:rPr sz="1800" spc="125" dirty="0">
                <a:latin typeface="Times New Roman"/>
                <a:cs typeface="Times New Roman"/>
              </a:rPr>
              <a:t> </a:t>
            </a:r>
            <a:r>
              <a:rPr sz="1800" dirty="0">
                <a:latin typeface="Times New Roman"/>
                <a:cs typeface="Times New Roman"/>
              </a:rPr>
              <a:t>TensorFlow,</a:t>
            </a:r>
            <a:r>
              <a:rPr sz="1800" spc="105" dirty="0">
                <a:latin typeface="Times New Roman"/>
                <a:cs typeface="Times New Roman"/>
              </a:rPr>
              <a:t> </a:t>
            </a:r>
            <a:r>
              <a:rPr sz="1800" dirty="0">
                <a:latin typeface="Times New Roman"/>
                <a:cs typeface="Times New Roman"/>
              </a:rPr>
              <a:t>and</a:t>
            </a:r>
            <a:r>
              <a:rPr sz="1800" spc="105" dirty="0">
                <a:latin typeface="Times New Roman"/>
                <a:cs typeface="Times New Roman"/>
              </a:rPr>
              <a:t> </a:t>
            </a:r>
            <a:r>
              <a:rPr sz="1800" dirty="0">
                <a:latin typeface="Times New Roman"/>
                <a:cs typeface="Times New Roman"/>
              </a:rPr>
              <a:t>Matplotlib.</a:t>
            </a:r>
            <a:r>
              <a:rPr sz="1800" spc="105" dirty="0">
                <a:latin typeface="Times New Roman"/>
                <a:cs typeface="Times New Roman"/>
              </a:rPr>
              <a:t> </a:t>
            </a:r>
            <a:r>
              <a:rPr sz="1800" dirty="0">
                <a:latin typeface="Times New Roman"/>
                <a:cs typeface="Times New Roman"/>
              </a:rPr>
              <a:t>Each</a:t>
            </a:r>
            <a:r>
              <a:rPr sz="1800" spc="105" dirty="0">
                <a:latin typeface="Times New Roman"/>
                <a:cs typeface="Times New Roman"/>
              </a:rPr>
              <a:t> </a:t>
            </a:r>
            <a:r>
              <a:rPr sz="1800" dirty="0">
                <a:latin typeface="Times New Roman"/>
                <a:cs typeface="Times New Roman"/>
              </a:rPr>
              <a:t>model</a:t>
            </a:r>
            <a:r>
              <a:rPr sz="1800" spc="110" dirty="0">
                <a:latin typeface="Times New Roman"/>
                <a:cs typeface="Times New Roman"/>
              </a:rPr>
              <a:t> </a:t>
            </a:r>
            <a:r>
              <a:rPr sz="1800" dirty="0">
                <a:latin typeface="Times New Roman"/>
                <a:cs typeface="Times New Roman"/>
              </a:rPr>
              <a:t>is</a:t>
            </a:r>
            <a:r>
              <a:rPr sz="1800" spc="110" dirty="0">
                <a:latin typeface="Times New Roman"/>
                <a:cs typeface="Times New Roman"/>
              </a:rPr>
              <a:t> </a:t>
            </a:r>
            <a:r>
              <a:rPr sz="1800" dirty="0">
                <a:latin typeface="Times New Roman"/>
                <a:cs typeface="Times New Roman"/>
              </a:rPr>
              <a:t>rigorously</a:t>
            </a:r>
            <a:r>
              <a:rPr sz="1800" spc="130" dirty="0">
                <a:latin typeface="Times New Roman"/>
                <a:cs typeface="Times New Roman"/>
              </a:rPr>
              <a:t> </a:t>
            </a:r>
            <a:r>
              <a:rPr sz="1800" dirty="0">
                <a:latin typeface="Times New Roman"/>
                <a:cs typeface="Times New Roman"/>
              </a:rPr>
              <a:t>assessed</a:t>
            </a:r>
            <a:r>
              <a:rPr sz="1800" spc="114" dirty="0">
                <a:latin typeface="Times New Roman"/>
                <a:cs typeface="Times New Roman"/>
              </a:rPr>
              <a:t> </a:t>
            </a:r>
            <a:r>
              <a:rPr sz="1800" spc="-10" dirty="0">
                <a:latin typeface="Times New Roman"/>
                <a:cs typeface="Times New Roman"/>
              </a:rPr>
              <a:t>using </a:t>
            </a:r>
            <a:r>
              <a:rPr sz="1800" dirty="0">
                <a:latin typeface="Times New Roman"/>
                <a:cs typeface="Times New Roman"/>
              </a:rPr>
              <a:t>standard</a:t>
            </a:r>
            <a:r>
              <a:rPr sz="1800" spc="114" dirty="0">
                <a:latin typeface="Times New Roman"/>
                <a:cs typeface="Times New Roman"/>
              </a:rPr>
              <a:t> </a:t>
            </a:r>
            <a:r>
              <a:rPr sz="1800" dirty="0">
                <a:latin typeface="Times New Roman"/>
                <a:cs typeface="Times New Roman"/>
              </a:rPr>
              <a:t>evaluation</a:t>
            </a:r>
            <a:r>
              <a:rPr sz="1800" spc="125" dirty="0">
                <a:latin typeface="Times New Roman"/>
                <a:cs typeface="Times New Roman"/>
              </a:rPr>
              <a:t> </a:t>
            </a:r>
            <a:r>
              <a:rPr sz="1800" dirty="0">
                <a:latin typeface="Times New Roman"/>
                <a:cs typeface="Times New Roman"/>
              </a:rPr>
              <a:t>metrics</a:t>
            </a:r>
            <a:r>
              <a:rPr sz="1800" spc="120" dirty="0">
                <a:latin typeface="Times New Roman"/>
                <a:cs typeface="Times New Roman"/>
              </a:rPr>
              <a:t> </a:t>
            </a:r>
            <a:r>
              <a:rPr sz="1800" dirty="0">
                <a:latin typeface="Times New Roman"/>
                <a:cs typeface="Times New Roman"/>
              </a:rPr>
              <a:t>such</a:t>
            </a:r>
            <a:r>
              <a:rPr sz="1800" spc="110" dirty="0">
                <a:latin typeface="Times New Roman"/>
                <a:cs typeface="Times New Roman"/>
              </a:rPr>
              <a:t> </a:t>
            </a:r>
            <a:r>
              <a:rPr sz="1800" dirty="0">
                <a:latin typeface="Times New Roman"/>
                <a:cs typeface="Times New Roman"/>
              </a:rPr>
              <a:t>as</a:t>
            </a:r>
            <a:r>
              <a:rPr sz="1800" spc="114" dirty="0">
                <a:latin typeface="Times New Roman"/>
                <a:cs typeface="Times New Roman"/>
              </a:rPr>
              <a:t> </a:t>
            </a:r>
            <a:r>
              <a:rPr sz="1800" dirty="0">
                <a:latin typeface="Times New Roman"/>
                <a:cs typeface="Times New Roman"/>
              </a:rPr>
              <a:t>Mean</a:t>
            </a:r>
            <a:r>
              <a:rPr sz="1800" spc="120" dirty="0">
                <a:latin typeface="Times New Roman"/>
                <a:cs typeface="Times New Roman"/>
              </a:rPr>
              <a:t> </a:t>
            </a:r>
            <a:r>
              <a:rPr sz="1800" dirty="0">
                <a:latin typeface="Times New Roman"/>
                <a:cs typeface="Times New Roman"/>
              </a:rPr>
              <a:t>Absolute</a:t>
            </a:r>
            <a:r>
              <a:rPr sz="1800" spc="130" dirty="0">
                <a:latin typeface="Times New Roman"/>
                <a:cs typeface="Times New Roman"/>
              </a:rPr>
              <a:t> </a:t>
            </a:r>
            <a:r>
              <a:rPr sz="1800" dirty="0">
                <a:latin typeface="Times New Roman"/>
                <a:cs typeface="Times New Roman"/>
              </a:rPr>
              <a:t>Error</a:t>
            </a:r>
            <a:r>
              <a:rPr sz="1800" spc="110" dirty="0">
                <a:latin typeface="Times New Roman"/>
                <a:cs typeface="Times New Roman"/>
              </a:rPr>
              <a:t> </a:t>
            </a:r>
            <a:r>
              <a:rPr sz="1800" dirty="0">
                <a:latin typeface="Times New Roman"/>
                <a:cs typeface="Times New Roman"/>
              </a:rPr>
              <a:t>(MAE),</a:t>
            </a:r>
            <a:r>
              <a:rPr sz="1800" spc="130" dirty="0">
                <a:latin typeface="Times New Roman"/>
                <a:cs typeface="Times New Roman"/>
              </a:rPr>
              <a:t> </a:t>
            </a:r>
            <a:r>
              <a:rPr sz="1800" dirty="0">
                <a:latin typeface="Times New Roman"/>
                <a:cs typeface="Times New Roman"/>
              </a:rPr>
              <a:t>Mean</a:t>
            </a:r>
            <a:r>
              <a:rPr sz="1800" spc="125" dirty="0">
                <a:latin typeface="Times New Roman"/>
                <a:cs typeface="Times New Roman"/>
              </a:rPr>
              <a:t> </a:t>
            </a:r>
            <a:r>
              <a:rPr sz="1800" dirty="0">
                <a:latin typeface="Times New Roman"/>
                <a:cs typeface="Times New Roman"/>
              </a:rPr>
              <a:t>Squared</a:t>
            </a:r>
            <a:r>
              <a:rPr sz="1800" spc="114" dirty="0">
                <a:latin typeface="Times New Roman"/>
                <a:cs typeface="Times New Roman"/>
              </a:rPr>
              <a:t> </a:t>
            </a:r>
            <a:r>
              <a:rPr sz="1800" dirty="0">
                <a:latin typeface="Times New Roman"/>
                <a:cs typeface="Times New Roman"/>
              </a:rPr>
              <a:t>Error</a:t>
            </a:r>
            <a:r>
              <a:rPr sz="1800" spc="120" dirty="0">
                <a:latin typeface="Times New Roman"/>
                <a:cs typeface="Times New Roman"/>
              </a:rPr>
              <a:t> </a:t>
            </a:r>
            <a:r>
              <a:rPr sz="1800" dirty="0">
                <a:latin typeface="Times New Roman"/>
                <a:cs typeface="Times New Roman"/>
              </a:rPr>
              <a:t>(MSE),</a:t>
            </a:r>
            <a:r>
              <a:rPr sz="1800" spc="130" dirty="0">
                <a:latin typeface="Times New Roman"/>
                <a:cs typeface="Times New Roman"/>
              </a:rPr>
              <a:t> </a:t>
            </a:r>
            <a:r>
              <a:rPr sz="1800" dirty="0">
                <a:latin typeface="Times New Roman"/>
                <a:cs typeface="Times New Roman"/>
              </a:rPr>
              <a:t>Root</a:t>
            </a:r>
            <a:r>
              <a:rPr sz="1800" spc="125" dirty="0">
                <a:latin typeface="Times New Roman"/>
                <a:cs typeface="Times New Roman"/>
              </a:rPr>
              <a:t> </a:t>
            </a:r>
            <a:r>
              <a:rPr sz="1800" dirty="0">
                <a:latin typeface="Times New Roman"/>
                <a:cs typeface="Times New Roman"/>
              </a:rPr>
              <a:t>Mean</a:t>
            </a:r>
            <a:r>
              <a:rPr sz="1800" spc="120" dirty="0">
                <a:latin typeface="Times New Roman"/>
                <a:cs typeface="Times New Roman"/>
              </a:rPr>
              <a:t> </a:t>
            </a:r>
            <a:r>
              <a:rPr sz="1800" dirty="0">
                <a:latin typeface="Times New Roman"/>
                <a:cs typeface="Times New Roman"/>
              </a:rPr>
              <a:t>Squared</a:t>
            </a:r>
            <a:r>
              <a:rPr sz="1800" spc="125" dirty="0">
                <a:latin typeface="Times New Roman"/>
                <a:cs typeface="Times New Roman"/>
              </a:rPr>
              <a:t> </a:t>
            </a:r>
            <a:r>
              <a:rPr sz="1800" spc="-10" dirty="0">
                <a:latin typeface="Times New Roman"/>
                <a:cs typeface="Times New Roman"/>
              </a:rPr>
              <a:t>Error </a:t>
            </a:r>
            <a:r>
              <a:rPr sz="1800" dirty="0">
                <a:latin typeface="Times New Roman"/>
                <a:cs typeface="Times New Roman"/>
              </a:rPr>
              <a:t>(RMSE),</a:t>
            </a:r>
            <a:r>
              <a:rPr sz="1800" spc="200" dirty="0">
                <a:latin typeface="Times New Roman"/>
                <a:cs typeface="Times New Roman"/>
              </a:rPr>
              <a:t> </a:t>
            </a:r>
            <a:r>
              <a:rPr sz="1800" dirty="0">
                <a:latin typeface="Times New Roman"/>
                <a:cs typeface="Times New Roman"/>
              </a:rPr>
              <a:t>and</a:t>
            </a:r>
            <a:r>
              <a:rPr sz="1800" spc="204" dirty="0">
                <a:latin typeface="Times New Roman"/>
                <a:cs typeface="Times New Roman"/>
              </a:rPr>
              <a:t> </a:t>
            </a:r>
            <a:r>
              <a:rPr sz="1800" dirty="0">
                <a:latin typeface="Times New Roman"/>
                <a:cs typeface="Times New Roman"/>
              </a:rPr>
              <a:t>R²</a:t>
            </a:r>
            <a:r>
              <a:rPr sz="1800" spc="200" dirty="0">
                <a:latin typeface="Times New Roman"/>
                <a:cs typeface="Times New Roman"/>
              </a:rPr>
              <a:t> </a:t>
            </a:r>
            <a:r>
              <a:rPr sz="1800" dirty="0">
                <a:latin typeface="Times New Roman"/>
                <a:cs typeface="Times New Roman"/>
              </a:rPr>
              <a:t>Score.</a:t>
            </a:r>
            <a:r>
              <a:rPr sz="1800" spc="195" dirty="0">
                <a:latin typeface="Times New Roman"/>
                <a:cs typeface="Times New Roman"/>
              </a:rPr>
              <a:t> </a:t>
            </a:r>
            <a:r>
              <a:rPr sz="1800" dirty="0">
                <a:latin typeface="Times New Roman"/>
                <a:cs typeface="Times New Roman"/>
              </a:rPr>
              <a:t>The</a:t>
            </a:r>
            <a:r>
              <a:rPr sz="1800" spc="190" dirty="0">
                <a:latin typeface="Times New Roman"/>
                <a:cs typeface="Times New Roman"/>
              </a:rPr>
              <a:t> </a:t>
            </a:r>
            <a:r>
              <a:rPr sz="1800" dirty="0">
                <a:latin typeface="Times New Roman"/>
                <a:cs typeface="Times New Roman"/>
              </a:rPr>
              <a:t>research</a:t>
            </a:r>
            <a:r>
              <a:rPr sz="1800" spc="204" dirty="0">
                <a:latin typeface="Times New Roman"/>
                <a:cs typeface="Times New Roman"/>
              </a:rPr>
              <a:t> </a:t>
            </a:r>
            <a:r>
              <a:rPr sz="1800" dirty="0">
                <a:latin typeface="Times New Roman"/>
                <a:cs typeface="Times New Roman"/>
              </a:rPr>
              <a:t>also</a:t>
            </a:r>
            <a:r>
              <a:rPr sz="1800" spc="200" dirty="0">
                <a:latin typeface="Times New Roman"/>
                <a:cs typeface="Times New Roman"/>
              </a:rPr>
              <a:t> </a:t>
            </a:r>
            <a:r>
              <a:rPr sz="1800" dirty="0">
                <a:latin typeface="Times New Roman"/>
                <a:cs typeface="Times New Roman"/>
              </a:rPr>
              <a:t>integrates</a:t>
            </a:r>
            <a:r>
              <a:rPr sz="1800" spc="204" dirty="0">
                <a:latin typeface="Times New Roman"/>
                <a:cs typeface="Times New Roman"/>
              </a:rPr>
              <a:t> </a:t>
            </a:r>
            <a:r>
              <a:rPr sz="1800" dirty="0">
                <a:latin typeface="Times New Roman"/>
                <a:cs typeface="Times New Roman"/>
              </a:rPr>
              <a:t>a</a:t>
            </a:r>
            <a:r>
              <a:rPr sz="1800" spc="195" dirty="0">
                <a:latin typeface="Times New Roman"/>
                <a:cs typeface="Times New Roman"/>
              </a:rPr>
              <a:t> </a:t>
            </a:r>
            <a:r>
              <a:rPr sz="1800" spc="-35" dirty="0">
                <a:latin typeface="Times New Roman"/>
                <a:cs typeface="Times New Roman"/>
              </a:rPr>
              <a:t>user-</a:t>
            </a:r>
            <a:r>
              <a:rPr sz="1800" dirty="0">
                <a:latin typeface="Times New Roman"/>
                <a:cs typeface="Times New Roman"/>
              </a:rPr>
              <a:t>friendly</a:t>
            </a:r>
            <a:r>
              <a:rPr sz="1800" spc="210" dirty="0">
                <a:latin typeface="Times New Roman"/>
                <a:cs typeface="Times New Roman"/>
              </a:rPr>
              <a:t> </a:t>
            </a:r>
            <a:r>
              <a:rPr sz="1800" dirty="0">
                <a:latin typeface="Times New Roman"/>
                <a:cs typeface="Times New Roman"/>
              </a:rPr>
              <a:t>interface</a:t>
            </a:r>
            <a:r>
              <a:rPr sz="1800" spc="204" dirty="0">
                <a:latin typeface="Times New Roman"/>
                <a:cs typeface="Times New Roman"/>
              </a:rPr>
              <a:t> </a:t>
            </a:r>
            <a:r>
              <a:rPr sz="1800" dirty="0">
                <a:latin typeface="Times New Roman"/>
                <a:cs typeface="Times New Roman"/>
              </a:rPr>
              <a:t>developed</a:t>
            </a:r>
            <a:r>
              <a:rPr sz="1800" spc="204" dirty="0">
                <a:latin typeface="Times New Roman"/>
                <a:cs typeface="Times New Roman"/>
              </a:rPr>
              <a:t> </a:t>
            </a:r>
            <a:r>
              <a:rPr sz="1800" dirty="0">
                <a:latin typeface="Times New Roman"/>
                <a:cs typeface="Times New Roman"/>
              </a:rPr>
              <a:t>using</a:t>
            </a:r>
            <a:r>
              <a:rPr sz="1800" spc="195" dirty="0">
                <a:latin typeface="Times New Roman"/>
                <a:cs typeface="Times New Roman"/>
              </a:rPr>
              <a:t> </a:t>
            </a:r>
            <a:r>
              <a:rPr sz="1800" dirty="0">
                <a:latin typeface="Times New Roman"/>
                <a:cs typeface="Times New Roman"/>
              </a:rPr>
              <a:t>Tkinter,</a:t>
            </a:r>
            <a:r>
              <a:rPr sz="1800" spc="210" dirty="0">
                <a:latin typeface="Times New Roman"/>
                <a:cs typeface="Times New Roman"/>
              </a:rPr>
              <a:t> </a:t>
            </a:r>
            <a:r>
              <a:rPr sz="1800" dirty="0">
                <a:latin typeface="Times New Roman"/>
                <a:cs typeface="Times New Roman"/>
              </a:rPr>
              <a:t>enabling</a:t>
            </a:r>
            <a:r>
              <a:rPr sz="1800" spc="185" dirty="0">
                <a:latin typeface="Times New Roman"/>
                <a:cs typeface="Times New Roman"/>
              </a:rPr>
              <a:t> </a:t>
            </a:r>
            <a:r>
              <a:rPr sz="1800" spc="-25" dirty="0">
                <a:latin typeface="Times New Roman"/>
                <a:cs typeface="Times New Roman"/>
              </a:rPr>
              <a:t>real-</a:t>
            </a:r>
            <a:r>
              <a:rPr sz="1800" spc="-20" dirty="0">
                <a:latin typeface="Times New Roman"/>
                <a:cs typeface="Times New Roman"/>
              </a:rPr>
              <a:t>time </a:t>
            </a:r>
            <a:r>
              <a:rPr sz="1800" dirty="0">
                <a:latin typeface="Times New Roman"/>
                <a:cs typeface="Times New Roman"/>
              </a:rPr>
              <a:t>CSV</a:t>
            </a:r>
            <a:r>
              <a:rPr sz="1800" spc="15" dirty="0">
                <a:latin typeface="Times New Roman"/>
                <a:cs typeface="Times New Roman"/>
              </a:rPr>
              <a:t> </a:t>
            </a:r>
            <a:r>
              <a:rPr sz="1800" dirty="0">
                <a:latin typeface="Times New Roman"/>
                <a:cs typeface="Times New Roman"/>
              </a:rPr>
              <a:t>data</a:t>
            </a:r>
            <a:r>
              <a:rPr sz="1800" spc="25" dirty="0">
                <a:latin typeface="Times New Roman"/>
                <a:cs typeface="Times New Roman"/>
              </a:rPr>
              <a:t> </a:t>
            </a:r>
            <a:r>
              <a:rPr sz="1800" dirty="0">
                <a:latin typeface="Times New Roman"/>
                <a:cs typeface="Times New Roman"/>
              </a:rPr>
              <a:t>uploads</a:t>
            </a:r>
            <a:r>
              <a:rPr sz="1800" spc="15"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predictive</a:t>
            </a:r>
            <a:r>
              <a:rPr sz="1800" spc="35" dirty="0">
                <a:latin typeface="Times New Roman"/>
                <a:cs typeface="Times New Roman"/>
              </a:rPr>
              <a:t> </a:t>
            </a:r>
            <a:r>
              <a:rPr sz="1800" dirty="0">
                <a:latin typeface="Times New Roman"/>
                <a:cs typeface="Times New Roman"/>
              </a:rPr>
              <a:t>visualization.</a:t>
            </a:r>
            <a:r>
              <a:rPr sz="1800" spc="335" dirty="0">
                <a:latin typeface="Times New Roman"/>
                <a:cs typeface="Times New Roman"/>
              </a:rPr>
              <a:t> </a:t>
            </a:r>
            <a:r>
              <a:rPr sz="1800" dirty="0">
                <a:latin typeface="Times New Roman"/>
                <a:cs typeface="Times New Roman"/>
              </a:rPr>
              <a:t>we</a:t>
            </a:r>
            <a:r>
              <a:rPr sz="1800" spc="30" dirty="0">
                <a:latin typeface="Times New Roman"/>
                <a:cs typeface="Times New Roman"/>
              </a:rPr>
              <a:t> </a:t>
            </a:r>
            <a:r>
              <a:rPr sz="1800" dirty="0">
                <a:latin typeface="Times New Roman"/>
                <a:cs typeface="Times New Roman"/>
              </a:rPr>
              <a:t>concentrate</a:t>
            </a:r>
            <a:r>
              <a:rPr sz="1800" spc="5" dirty="0">
                <a:latin typeface="Times New Roman"/>
                <a:cs typeface="Times New Roman"/>
              </a:rPr>
              <a:t> </a:t>
            </a:r>
            <a:r>
              <a:rPr sz="1800" dirty="0">
                <a:latin typeface="Times New Roman"/>
                <a:cs typeface="Times New Roman"/>
              </a:rPr>
              <a:t>on</a:t>
            </a:r>
            <a:r>
              <a:rPr sz="1800" spc="30" dirty="0">
                <a:latin typeface="Times New Roman"/>
                <a:cs typeface="Times New Roman"/>
              </a:rPr>
              <a:t> </a:t>
            </a:r>
            <a:r>
              <a:rPr sz="1800" dirty="0">
                <a:latin typeface="Times New Roman"/>
                <a:cs typeface="Times New Roman"/>
              </a:rPr>
              <a:t>two</a:t>
            </a:r>
            <a:r>
              <a:rPr sz="1800" spc="25" dirty="0">
                <a:latin typeface="Times New Roman"/>
                <a:cs typeface="Times New Roman"/>
              </a:rPr>
              <a:t> </a:t>
            </a:r>
            <a:r>
              <a:rPr sz="1800" dirty="0">
                <a:latin typeface="Times New Roman"/>
                <a:cs typeface="Times New Roman"/>
              </a:rPr>
              <a:t>main</a:t>
            </a:r>
            <a:r>
              <a:rPr sz="1800" spc="20" dirty="0">
                <a:latin typeface="Times New Roman"/>
                <a:cs typeface="Times New Roman"/>
              </a:rPr>
              <a:t> </a:t>
            </a:r>
            <a:r>
              <a:rPr sz="1800" dirty="0">
                <a:latin typeface="Times New Roman"/>
                <a:cs typeface="Times New Roman"/>
              </a:rPr>
              <a:t>concepts:</a:t>
            </a:r>
            <a:r>
              <a:rPr sz="1800" spc="20" dirty="0">
                <a:latin typeface="Times New Roman"/>
                <a:cs typeface="Times New Roman"/>
              </a:rPr>
              <a:t> </a:t>
            </a:r>
            <a:r>
              <a:rPr sz="1800" dirty="0">
                <a:latin typeface="Times New Roman"/>
                <a:cs typeface="Times New Roman"/>
              </a:rPr>
              <a:t>capability</a:t>
            </a:r>
            <a:r>
              <a:rPr sz="1800" spc="20" dirty="0">
                <a:latin typeface="Times New Roman"/>
                <a:cs typeface="Times New Roman"/>
              </a:rPr>
              <a:t> </a:t>
            </a:r>
            <a:r>
              <a:rPr sz="1800" dirty="0">
                <a:latin typeface="Times New Roman"/>
                <a:cs typeface="Times New Roman"/>
              </a:rPr>
              <a:t>profiling and</a:t>
            </a:r>
            <a:r>
              <a:rPr sz="1800" spc="5" dirty="0">
                <a:latin typeface="Times New Roman"/>
                <a:cs typeface="Times New Roman"/>
              </a:rPr>
              <a:t> </a:t>
            </a:r>
            <a:r>
              <a:rPr sz="1800" spc="-10" dirty="0">
                <a:latin typeface="Times New Roman"/>
                <a:cs typeface="Times New Roman"/>
              </a:rPr>
              <a:t>optimization. </a:t>
            </a:r>
            <a:r>
              <a:rPr sz="1800" dirty="0">
                <a:latin typeface="Times New Roman"/>
                <a:cs typeface="Times New Roman"/>
              </a:rPr>
              <a:t>To</a:t>
            </a:r>
            <a:r>
              <a:rPr sz="1800" spc="295" dirty="0">
                <a:latin typeface="Times New Roman"/>
                <a:cs typeface="Times New Roman"/>
              </a:rPr>
              <a:t> </a:t>
            </a:r>
            <a:r>
              <a:rPr sz="1800" dirty="0">
                <a:latin typeface="Times New Roman"/>
                <a:cs typeface="Times New Roman"/>
              </a:rPr>
              <a:t>overcome</a:t>
            </a:r>
            <a:r>
              <a:rPr sz="1800" spc="295" dirty="0">
                <a:latin typeface="Times New Roman"/>
                <a:cs typeface="Times New Roman"/>
              </a:rPr>
              <a:t> </a:t>
            </a:r>
            <a:r>
              <a:rPr sz="1800" dirty="0">
                <a:latin typeface="Times New Roman"/>
                <a:cs typeface="Times New Roman"/>
              </a:rPr>
              <a:t>these</a:t>
            </a:r>
            <a:r>
              <a:rPr sz="1800" spc="290" dirty="0">
                <a:latin typeface="Times New Roman"/>
                <a:cs typeface="Times New Roman"/>
              </a:rPr>
              <a:t> </a:t>
            </a:r>
            <a:r>
              <a:rPr sz="1800" dirty="0">
                <a:latin typeface="Times New Roman"/>
                <a:cs typeface="Times New Roman"/>
              </a:rPr>
              <a:t>challenges</a:t>
            </a:r>
            <a:r>
              <a:rPr sz="1800" spc="285" dirty="0">
                <a:latin typeface="Times New Roman"/>
                <a:cs typeface="Times New Roman"/>
              </a:rPr>
              <a:t> </a:t>
            </a:r>
            <a:r>
              <a:rPr sz="1800" dirty="0">
                <a:latin typeface="Times New Roman"/>
                <a:cs typeface="Times New Roman"/>
              </a:rPr>
              <a:t>Capability</a:t>
            </a:r>
            <a:r>
              <a:rPr sz="1800" spc="305" dirty="0">
                <a:latin typeface="Times New Roman"/>
                <a:cs typeface="Times New Roman"/>
              </a:rPr>
              <a:t> </a:t>
            </a:r>
            <a:r>
              <a:rPr sz="1800" dirty="0">
                <a:latin typeface="Times New Roman"/>
                <a:cs typeface="Times New Roman"/>
              </a:rPr>
              <a:t>profiling</a:t>
            </a:r>
            <a:r>
              <a:rPr sz="1800" spc="290" dirty="0">
                <a:latin typeface="Times New Roman"/>
                <a:cs typeface="Times New Roman"/>
              </a:rPr>
              <a:t> </a:t>
            </a:r>
            <a:r>
              <a:rPr sz="1800" dirty="0">
                <a:latin typeface="Times New Roman"/>
                <a:cs typeface="Times New Roman"/>
              </a:rPr>
              <a:t>involves</a:t>
            </a:r>
            <a:r>
              <a:rPr sz="1800" spc="290" dirty="0">
                <a:latin typeface="Times New Roman"/>
                <a:cs typeface="Times New Roman"/>
              </a:rPr>
              <a:t> </a:t>
            </a:r>
            <a:r>
              <a:rPr sz="1800" dirty="0">
                <a:latin typeface="Times New Roman"/>
                <a:cs typeface="Times New Roman"/>
              </a:rPr>
              <a:t>identifying</a:t>
            </a:r>
            <a:r>
              <a:rPr sz="1800" spc="295" dirty="0">
                <a:latin typeface="Times New Roman"/>
                <a:cs typeface="Times New Roman"/>
              </a:rPr>
              <a:t> </a:t>
            </a:r>
            <a:r>
              <a:rPr sz="1800" dirty="0">
                <a:latin typeface="Times New Roman"/>
                <a:cs typeface="Times New Roman"/>
              </a:rPr>
              <a:t>and</a:t>
            </a:r>
            <a:r>
              <a:rPr sz="1800" spc="290" dirty="0">
                <a:latin typeface="Times New Roman"/>
                <a:cs typeface="Times New Roman"/>
              </a:rPr>
              <a:t> </a:t>
            </a:r>
            <a:r>
              <a:rPr sz="1800" dirty="0">
                <a:latin typeface="Times New Roman"/>
                <a:cs typeface="Times New Roman"/>
              </a:rPr>
              <a:t>analyzing</a:t>
            </a:r>
            <a:r>
              <a:rPr sz="1800" spc="280" dirty="0">
                <a:latin typeface="Times New Roman"/>
                <a:cs typeface="Times New Roman"/>
              </a:rPr>
              <a:t> </a:t>
            </a:r>
            <a:r>
              <a:rPr sz="1800" dirty="0">
                <a:latin typeface="Times New Roman"/>
                <a:cs typeface="Times New Roman"/>
              </a:rPr>
              <a:t>the</a:t>
            </a:r>
            <a:r>
              <a:rPr sz="1800" spc="295" dirty="0">
                <a:latin typeface="Times New Roman"/>
                <a:cs typeface="Times New Roman"/>
              </a:rPr>
              <a:t> </a:t>
            </a:r>
            <a:r>
              <a:rPr sz="1800" dirty="0">
                <a:latin typeface="Times New Roman"/>
                <a:cs typeface="Times New Roman"/>
              </a:rPr>
              <a:t>strengths</a:t>
            </a:r>
            <a:r>
              <a:rPr sz="1800" spc="295" dirty="0">
                <a:latin typeface="Times New Roman"/>
                <a:cs typeface="Times New Roman"/>
              </a:rPr>
              <a:t> </a:t>
            </a:r>
            <a:r>
              <a:rPr sz="1800" dirty="0">
                <a:latin typeface="Times New Roman"/>
                <a:cs typeface="Times New Roman"/>
              </a:rPr>
              <a:t>and</a:t>
            </a:r>
            <a:r>
              <a:rPr sz="1800" spc="295" dirty="0">
                <a:latin typeface="Times New Roman"/>
                <a:cs typeface="Times New Roman"/>
              </a:rPr>
              <a:t> </a:t>
            </a:r>
            <a:r>
              <a:rPr sz="1800" dirty="0">
                <a:latin typeface="Times New Roman"/>
                <a:cs typeface="Times New Roman"/>
              </a:rPr>
              <a:t>weaknesses</a:t>
            </a:r>
            <a:r>
              <a:rPr sz="1800" spc="300" dirty="0">
                <a:latin typeface="Times New Roman"/>
                <a:cs typeface="Times New Roman"/>
              </a:rPr>
              <a:t> </a:t>
            </a:r>
            <a:r>
              <a:rPr sz="1800" spc="-25" dirty="0">
                <a:latin typeface="Times New Roman"/>
                <a:cs typeface="Times New Roman"/>
              </a:rPr>
              <a:t>of </a:t>
            </a:r>
            <a:r>
              <a:rPr sz="1800" dirty="0">
                <a:latin typeface="Times New Roman"/>
                <a:cs typeface="Times New Roman"/>
              </a:rPr>
              <a:t>OBUs</a:t>
            </a:r>
            <a:r>
              <a:rPr sz="1800" spc="260" dirty="0">
                <a:latin typeface="Times New Roman"/>
                <a:cs typeface="Times New Roman"/>
              </a:rPr>
              <a:t> </a:t>
            </a:r>
            <a:r>
              <a:rPr sz="1800" dirty="0">
                <a:latin typeface="Times New Roman"/>
                <a:cs typeface="Times New Roman"/>
              </a:rPr>
              <a:t>in</a:t>
            </a:r>
            <a:r>
              <a:rPr sz="1800" spc="275" dirty="0">
                <a:latin typeface="Times New Roman"/>
                <a:cs typeface="Times New Roman"/>
              </a:rPr>
              <a:t> </a:t>
            </a:r>
            <a:r>
              <a:rPr sz="1800" dirty="0">
                <a:latin typeface="Times New Roman"/>
                <a:cs typeface="Times New Roman"/>
              </a:rPr>
              <a:t>terms</a:t>
            </a:r>
            <a:r>
              <a:rPr sz="1800" spc="275" dirty="0">
                <a:latin typeface="Times New Roman"/>
                <a:cs typeface="Times New Roman"/>
              </a:rPr>
              <a:t> </a:t>
            </a:r>
            <a:r>
              <a:rPr sz="1800" dirty="0">
                <a:latin typeface="Times New Roman"/>
                <a:cs typeface="Times New Roman"/>
              </a:rPr>
              <a:t>of</a:t>
            </a:r>
            <a:r>
              <a:rPr sz="1800" spc="270" dirty="0">
                <a:latin typeface="Times New Roman"/>
                <a:cs typeface="Times New Roman"/>
              </a:rPr>
              <a:t> </a:t>
            </a:r>
            <a:r>
              <a:rPr sz="1800" dirty="0">
                <a:latin typeface="Times New Roman"/>
                <a:cs typeface="Times New Roman"/>
              </a:rPr>
              <a:t>processing</a:t>
            </a:r>
            <a:r>
              <a:rPr sz="1800" spc="280" dirty="0">
                <a:latin typeface="Times New Roman"/>
                <a:cs typeface="Times New Roman"/>
              </a:rPr>
              <a:t> </a:t>
            </a:r>
            <a:r>
              <a:rPr sz="1800" dirty="0">
                <a:latin typeface="Times New Roman"/>
                <a:cs typeface="Times New Roman"/>
              </a:rPr>
              <a:t>power,</a:t>
            </a:r>
            <a:r>
              <a:rPr sz="1800" spc="280" dirty="0">
                <a:latin typeface="Times New Roman"/>
                <a:cs typeface="Times New Roman"/>
              </a:rPr>
              <a:t> </a:t>
            </a:r>
            <a:r>
              <a:rPr sz="1800" dirty="0">
                <a:latin typeface="Times New Roman"/>
                <a:cs typeface="Times New Roman"/>
              </a:rPr>
              <a:t>communication</a:t>
            </a:r>
            <a:r>
              <a:rPr sz="1800" spc="275" dirty="0">
                <a:latin typeface="Times New Roman"/>
                <a:cs typeface="Times New Roman"/>
              </a:rPr>
              <a:t> </a:t>
            </a:r>
            <a:r>
              <a:rPr sz="1800" dirty="0">
                <a:latin typeface="Times New Roman"/>
                <a:cs typeface="Times New Roman"/>
              </a:rPr>
              <a:t>bandwidth,</a:t>
            </a:r>
            <a:r>
              <a:rPr sz="1800" spc="280" dirty="0">
                <a:latin typeface="Times New Roman"/>
                <a:cs typeface="Times New Roman"/>
              </a:rPr>
              <a:t> </a:t>
            </a:r>
            <a:r>
              <a:rPr sz="1800" dirty="0">
                <a:latin typeface="Times New Roman"/>
                <a:cs typeface="Times New Roman"/>
              </a:rPr>
              <a:t>storage,</a:t>
            </a:r>
            <a:r>
              <a:rPr sz="1800" spc="270" dirty="0">
                <a:latin typeface="Times New Roman"/>
                <a:cs typeface="Times New Roman"/>
              </a:rPr>
              <a:t> </a:t>
            </a:r>
            <a:r>
              <a:rPr sz="1800" dirty="0">
                <a:latin typeface="Times New Roman"/>
                <a:cs typeface="Times New Roman"/>
              </a:rPr>
              <a:t>and</a:t>
            </a:r>
            <a:r>
              <a:rPr sz="1800" spc="265" dirty="0">
                <a:latin typeface="Times New Roman"/>
                <a:cs typeface="Times New Roman"/>
              </a:rPr>
              <a:t> </a:t>
            </a:r>
            <a:r>
              <a:rPr sz="1800" dirty="0">
                <a:latin typeface="Times New Roman"/>
                <a:cs typeface="Times New Roman"/>
              </a:rPr>
              <a:t>energy</a:t>
            </a:r>
            <a:r>
              <a:rPr sz="1800" spc="290" dirty="0">
                <a:latin typeface="Times New Roman"/>
                <a:cs typeface="Times New Roman"/>
              </a:rPr>
              <a:t> </a:t>
            </a:r>
            <a:r>
              <a:rPr sz="1800" dirty="0">
                <a:latin typeface="Times New Roman"/>
                <a:cs typeface="Times New Roman"/>
              </a:rPr>
              <a:t>efficiency.</a:t>
            </a:r>
            <a:r>
              <a:rPr sz="1800" spc="265" dirty="0">
                <a:latin typeface="Times New Roman"/>
                <a:cs typeface="Times New Roman"/>
              </a:rPr>
              <a:t> </a:t>
            </a:r>
            <a:r>
              <a:rPr sz="1800" dirty="0">
                <a:latin typeface="Times New Roman"/>
                <a:cs typeface="Times New Roman"/>
              </a:rPr>
              <a:t>Optimization</a:t>
            </a:r>
            <a:r>
              <a:rPr sz="1800" spc="275" dirty="0">
                <a:latin typeface="Times New Roman"/>
                <a:cs typeface="Times New Roman"/>
              </a:rPr>
              <a:t> </a:t>
            </a:r>
            <a:r>
              <a:rPr sz="1800" dirty="0">
                <a:latin typeface="Times New Roman"/>
                <a:cs typeface="Times New Roman"/>
              </a:rPr>
              <a:t>uses</a:t>
            </a:r>
            <a:r>
              <a:rPr sz="1800" spc="270" dirty="0">
                <a:latin typeface="Times New Roman"/>
                <a:cs typeface="Times New Roman"/>
              </a:rPr>
              <a:t> </a:t>
            </a:r>
            <a:r>
              <a:rPr sz="1800" spc="-20" dirty="0">
                <a:latin typeface="Times New Roman"/>
                <a:cs typeface="Times New Roman"/>
              </a:rPr>
              <a:t>this </a:t>
            </a:r>
            <a:r>
              <a:rPr sz="1800" dirty="0">
                <a:latin typeface="Times New Roman"/>
                <a:cs typeface="Times New Roman"/>
              </a:rPr>
              <a:t>knowledge</a:t>
            </a:r>
            <a:r>
              <a:rPr sz="1800" spc="345" dirty="0">
                <a:latin typeface="Times New Roman"/>
                <a:cs typeface="Times New Roman"/>
              </a:rPr>
              <a:t> </a:t>
            </a:r>
            <a:r>
              <a:rPr sz="1800" dirty="0">
                <a:latin typeface="Times New Roman"/>
                <a:cs typeface="Times New Roman"/>
              </a:rPr>
              <a:t>to</a:t>
            </a:r>
            <a:r>
              <a:rPr sz="1800" spc="340" dirty="0">
                <a:latin typeface="Times New Roman"/>
                <a:cs typeface="Times New Roman"/>
              </a:rPr>
              <a:t> </a:t>
            </a:r>
            <a:r>
              <a:rPr sz="1800" dirty="0">
                <a:latin typeface="Times New Roman"/>
                <a:cs typeface="Times New Roman"/>
              </a:rPr>
              <a:t>assign</a:t>
            </a:r>
            <a:r>
              <a:rPr sz="1800" spc="370" dirty="0">
                <a:latin typeface="Times New Roman"/>
                <a:cs typeface="Times New Roman"/>
              </a:rPr>
              <a:t> </a:t>
            </a:r>
            <a:r>
              <a:rPr sz="1800" dirty="0">
                <a:latin typeface="Times New Roman"/>
                <a:cs typeface="Times New Roman"/>
              </a:rPr>
              <a:t>tasks</a:t>
            </a:r>
            <a:r>
              <a:rPr sz="1800" spc="345" dirty="0">
                <a:latin typeface="Times New Roman"/>
                <a:cs typeface="Times New Roman"/>
              </a:rPr>
              <a:t> </a:t>
            </a:r>
            <a:r>
              <a:rPr sz="1800" dirty="0">
                <a:latin typeface="Times New Roman"/>
                <a:cs typeface="Times New Roman"/>
              </a:rPr>
              <a:t>in</a:t>
            </a:r>
            <a:r>
              <a:rPr sz="1800" spc="340" dirty="0">
                <a:latin typeface="Times New Roman"/>
                <a:cs typeface="Times New Roman"/>
              </a:rPr>
              <a:t> </a:t>
            </a:r>
            <a:r>
              <a:rPr sz="1800" dirty="0">
                <a:latin typeface="Times New Roman"/>
                <a:cs typeface="Times New Roman"/>
              </a:rPr>
              <a:t>the</a:t>
            </a:r>
            <a:r>
              <a:rPr sz="1800" spc="365" dirty="0">
                <a:latin typeface="Times New Roman"/>
                <a:cs typeface="Times New Roman"/>
              </a:rPr>
              <a:t> </a:t>
            </a:r>
            <a:r>
              <a:rPr sz="1800" dirty="0">
                <a:latin typeface="Times New Roman"/>
                <a:cs typeface="Times New Roman"/>
              </a:rPr>
              <a:t>smartest</a:t>
            </a:r>
            <a:r>
              <a:rPr sz="1800" spc="345" dirty="0">
                <a:latin typeface="Times New Roman"/>
                <a:cs typeface="Times New Roman"/>
              </a:rPr>
              <a:t> </a:t>
            </a:r>
            <a:r>
              <a:rPr sz="1800" dirty="0">
                <a:latin typeface="Times New Roman"/>
                <a:cs typeface="Times New Roman"/>
              </a:rPr>
              <a:t>way</a:t>
            </a:r>
            <a:r>
              <a:rPr sz="1800" spc="365" dirty="0">
                <a:latin typeface="Times New Roman"/>
                <a:cs typeface="Times New Roman"/>
              </a:rPr>
              <a:t> </a:t>
            </a:r>
            <a:r>
              <a:rPr sz="1800" dirty="0">
                <a:latin typeface="Times New Roman"/>
                <a:cs typeface="Times New Roman"/>
              </a:rPr>
              <a:t>possible,</a:t>
            </a:r>
            <a:r>
              <a:rPr sz="1800" spc="350" dirty="0">
                <a:latin typeface="Times New Roman"/>
                <a:cs typeface="Times New Roman"/>
              </a:rPr>
              <a:t> </a:t>
            </a:r>
            <a:r>
              <a:rPr sz="1800" dirty="0">
                <a:latin typeface="Times New Roman"/>
                <a:cs typeface="Times New Roman"/>
              </a:rPr>
              <a:t>ensuring</a:t>
            </a:r>
            <a:r>
              <a:rPr sz="1800" spc="370" dirty="0">
                <a:latin typeface="Times New Roman"/>
                <a:cs typeface="Times New Roman"/>
              </a:rPr>
              <a:t> </a:t>
            </a:r>
            <a:r>
              <a:rPr sz="1800" dirty="0">
                <a:latin typeface="Times New Roman"/>
                <a:cs typeface="Times New Roman"/>
              </a:rPr>
              <a:t>quicker</a:t>
            </a:r>
            <a:r>
              <a:rPr sz="1800" spc="360" dirty="0">
                <a:latin typeface="Times New Roman"/>
                <a:cs typeface="Times New Roman"/>
              </a:rPr>
              <a:t> </a:t>
            </a:r>
            <a:r>
              <a:rPr sz="1800" dirty="0">
                <a:latin typeface="Times New Roman"/>
                <a:cs typeface="Times New Roman"/>
              </a:rPr>
              <a:t>responses,</a:t>
            </a:r>
            <a:r>
              <a:rPr sz="1800" spc="355" dirty="0">
                <a:latin typeface="Times New Roman"/>
                <a:cs typeface="Times New Roman"/>
              </a:rPr>
              <a:t> </a:t>
            </a:r>
            <a:r>
              <a:rPr sz="1800" dirty="0">
                <a:latin typeface="Times New Roman"/>
                <a:cs typeface="Times New Roman"/>
              </a:rPr>
              <a:t>lower</a:t>
            </a:r>
            <a:r>
              <a:rPr sz="1800" spc="360" dirty="0">
                <a:latin typeface="Times New Roman"/>
                <a:cs typeface="Times New Roman"/>
              </a:rPr>
              <a:t> </a:t>
            </a:r>
            <a:r>
              <a:rPr sz="1800" dirty="0">
                <a:latin typeface="Times New Roman"/>
                <a:cs typeface="Times New Roman"/>
              </a:rPr>
              <a:t>energy</a:t>
            </a:r>
            <a:r>
              <a:rPr sz="1800" spc="375" dirty="0">
                <a:latin typeface="Times New Roman"/>
                <a:cs typeface="Times New Roman"/>
              </a:rPr>
              <a:t> </a:t>
            </a:r>
            <a:r>
              <a:rPr sz="1800" dirty="0">
                <a:latin typeface="Times New Roman"/>
                <a:cs typeface="Times New Roman"/>
              </a:rPr>
              <a:t>use,</a:t>
            </a:r>
            <a:r>
              <a:rPr sz="1800" spc="360" dirty="0">
                <a:latin typeface="Times New Roman"/>
                <a:cs typeface="Times New Roman"/>
              </a:rPr>
              <a:t> </a:t>
            </a:r>
            <a:r>
              <a:rPr sz="1800" dirty="0">
                <a:latin typeface="Times New Roman"/>
                <a:cs typeface="Times New Roman"/>
              </a:rPr>
              <a:t>and</a:t>
            </a:r>
            <a:r>
              <a:rPr sz="1800" spc="345" dirty="0">
                <a:latin typeface="Times New Roman"/>
                <a:cs typeface="Times New Roman"/>
              </a:rPr>
              <a:t> </a:t>
            </a:r>
            <a:r>
              <a:rPr sz="1800" spc="-10" dirty="0">
                <a:latin typeface="Times New Roman"/>
                <a:cs typeface="Times New Roman"/>
              </a:rPr>
              <a:t>smoother </a:t>
            </a:r>
            <a:r>
              <a:rPr sz="1800" dirty="0">
                <a:latin typeface="Times New Roman"/>
                <a:cs typeface="Times New Roman"/>
              </a:rPr>
              <a:t>coordination</a:t>
            </a:r>
            <a:r>
              <a:rPr sz="1800" spc="275" dirty="0">
                <a:latin typeface="Times New Roman"/>
                <a:cs typeface="Times New Roman"/>
              </a:rPr>
              <a:t> </a:t>
            </a:r>
            <a:r>
              <a:rPr sz="1800" dirty="0">
                <a:latin typeface="Times New Roman"/>
                <a:cs typeface="Times New Roman"/>
              </a:rPr>
              <a:t>between</a:t>
            </a:r>
            <a:r>
              <a:rPr sz="1800" spc="285" dirty="0">
                <a:latin typeface="Times New Roman"/>
                <a:cs typeface="Times New Roman"/>
              </a:rPr>
              <a:t> </a:t>
            </a:r>
            <a:r>
              <a:rPr sz="1800" dirty="0">
                <a:latin typeface="Times New Roman"/>
                <a:cs typeface="Times New Roman"/>
              </a:rPr>
              <a:t>vehicles</a:t>
            </a:r>
            <a:r>
              <a:rPr sz="1800" spc="265" dirty="0">
                <a:latin typeface="Times New Roman"/>
                <a:cs typeface="Times New Roman"/>
              </a:rPr>
              <a:t> </a:t>
            </a:r>
            <a:r>
              <a:rPr sz="1800" dirty="0">
                <a:latin typeface="Times New Roman"/>
                <a:cs typeface="Times New Roman"/>
              </a:rPr>
              <a:t>and</a:t>
            </a:r>
            <a:r>
              <a:rPr sz="1800" spc="295" dirty="0">
                <a:latin typeface="Times New Roman"/>
                <a:cs typeface="Times New Roman"/>
              </a:rPr>
              <a:t> </a:t>
            </a:r>
            <a:r>
              <a:rPr sz="1800" dirty="0">
                <a:latin typeface="Times New Roman"/>
                <a:cs typeface="Times New Roman"/>
              </a:rPr>
              <a:t>road</a:t>
            </a:r>
            <a:r>
              <a:rPr sz="1800" spc="280" dirty="0">
                <a:latin typeface="Times New Roman"/>
                <a:cs typeface="Times New Roman"/>
              </a:rPr>
              <a:t> </a:t>
            </a:r>
            <a:r>
              <a:rPr sz="1800" dirty="0">
                <a:latin typeface="Times New Roman"/>
                <a:cs typeface="Times New Roman"/>
              </a:rPr>
              <a:t>infrastructure.</a:t>
            </a:r>
            <a:r>
              <a:rPr sz="1800" spc="285" dirty="0">
                <a:latin typeface="Times New Roman"/>
                <a:cs typeface="Times New Roman"/>
              </a:rPr>
              <a:t> </a:t>
            </a:r>
            <a:r>
              <a:rPr sz="1800" dirty="0">
                <a:latin typeface="Times New Roman"/>
                <a:cs typeface="Times New Roman"/>
              </a:rPr>
              <a:t>By</a:t>
            </a:r>
            <a:r>
              <a:rPr sz="1800" spc="285" dirty="0">
                <a:latin typeface="Times New Roman"/>
                <a:cs typeface="Times New Roman"/>
              </a:rPr>
              <a:t> </a:t>
            </a:r>
            <a:r>
              <a:rPr sz="1800" dirty="0">
                <a:latin typeface="Times New Roman"/>
                <a:cs typeface="Times New Roman"/>
              </a:rPr>
              <a:t>combining</a:t>
            </a:r>
            <a:r>
              <a:rPr sz="1800" spc="280" dirty="0">
                <a:latin typeface="Times New Roman"/>
                <a:cs typeface="Times New Roman"/>
              </a:rPr>
              <a:t> </a:t>
            </a:r>
            <a:r>
              <a:rPr sz="1800" dirty="0">
                <a:latin typeface="Times New Roman"/>
                <a:cs typeface="Times New Roman"/>
              </a:rPr>
              <a:t>profiling</a:t>
            </a:r>
            <a:r>
              <a:rPr sz="1800" spc="275" dirty="0">
                <a:latin typeface="Times New Roman"/>
                <a:cs typeface="Times New Roman"/>
              </a:rPr>
              <a:t> </a:t>
            </a:r>
            <a:r>
              <a:rPr sz="1800" dirty="0">
                <a:latin typeface="Times New Roman"/>
                <a:cs typeface="Times New Roman"/>
              </a:rPr>
              <a:t>and</a:t>
            </a:r>
            <a:r>
              <a:rPr sz="1800" spc="285" dirty="0">
                <a:latin typeface="Times New Roman"/>
                <a:cs typeface="Times New Roman"/>
              </a:rPr>
              <a:t> </a:t>
            </a:r>
            <a:r>
              <a:rPr sz="1800" dirty="0">
                <a:latin typeface="Times New Roman"/>
                <a:cs typeface="Times New Roman"/>
              </a:rPr>
              <a:t>optimization,</a:t>
            </a:r>
            <a:r>
              <a:rPr sz="1800" spc="295" dirty="0">
                <a:latin typeface="Times New Roman"/>
                <a:cs typeface="Times New Roman"/>
              </a:rPr>
              <a:t> </a:t>
            </a:r>
            <a:r>
              <a:rPr sz="1800" dirty="0">
                <a:latin typeface="Times New Roman"/>
                <a:cs typeface="Times New Roman"/>
              </a:rPr>
              <a:t>we</a:t>
            </a:r>
            <a:r>
              <a:rPr sz="1800" spc="285" dirty="0">
                <a:latin typeface="Times New Roman"/>
                <a:cs typeface="Times New Roman"/>
              </a:rPr>
              <a:t> </a:t>
            </a:r>
            <a:r>
              <a:rPr sz="1800" dirty="0">
                <a:latin typeface="Times New Roman"/>
                <a:cs typeface="Times New Roman"/>
              </a:rPr>
              <a:t>can</a:t>
            </a:r>
            <a:r>
              <a:rPr sz="1800" spc="290" dirty="0">
                <a:latin typeface="Times New Roman"/>
                <a:cs typeface="Times New Roman"/>
              </a:rPr>
              <a:t> </a:t>
            </a:r>
            <a:r>
              <a:rPr sz="1800" dirty="0">
                <a:latin typeface="Times New Roman"/>
                <a:cs typeface="Times New Roman"/>
              </a:rPr>
              <a:t>make</a:t>
            </a:r>
            <a:r>
              <a:rPr sz="1800" spc="285" dirty="0">
                <a:latin typeface="Times New Roman"/>
                <a:cs typeface="Times New Roman"/>
              </a:rPr>
              <a:t> </a:t>
            </a:r>
            <a:r>
              <a:rPr sz="1800" spc="-10" dirty="0">
                <a:latin typeface="Times New Roman"/>
                <a:cs typeface="Times New Roman"/>
              </a:rPr>
              <a:t>smarter </a:t>
            </a:r>
            <a:r>
              <a:rPr sz="1800" spc="-25" dirty="0">
                <a:latin typeface="Times New Roman"/>
                <a:cs typeface="Times New Roman"/>
              </a:rPr>
              <a:t>decision-</a:t>
            </a:r>
            <a:r>
              <a:rPr sz="1800" dirty="0">
                <a:latin typeface="Times New Roman"/>
                <a:cs typeface="Times New Roman"/>
              </a:rPr>
              <a:t>making</a:t>
            </a:r>
            <a:r>
              <a:rPr sz="1800" spc="110" dirty="0">
                <a:latin typeface="Times New Roman"/>
                <a:cs typeface="Times New Roman"/>
              </a:rPr>
              <a:t> </a:t>
            </a:r>
            <a:r>
              <a:rPr sz="1800" dirty="0">
                <a:latin typeface="Times New Roman"/>
                <a:cs typeface="Times New Roman"/>
              </a:rPr>
              <a:t>and</a:t>
            </a:r>
            <a:r>
              <a:rPr sz="1800" spc="105" dirty="0">
                <a:latin typeface="Times New Roman"/>
                <a:cs typeface="Times New Roman"/>
              </a:rPr>
              <a:t> </a:t>
            </a:r>
            <a:r>
              <a:rPr sz="1800" dirty="0">
                <a:latin typeface="Times New Roman"/>
                <a:cs typeface="Times New Roman"/>
              </a:rPr>
              <a:t>efficient</a:t>
            </a:r>
            <a:r>
              <a:rPr sz="1800" spc="110" dirty="0">
                <a:latin typeface="Times New Roman"/>
                <a:cs typeface="Times New Roman"/>
              </a:rPr>
              <a:t> </a:t>
            </a:r>
            <a:r>
              <a:rPr sz="1800" dirty="0">
                <a:latin typeface="Times New Roman"/>
                <a:cs typeface="Times New Roman"/>
              </a:rPr>
              <a:t>resource.</a:t>
            </a:r>
            <a:r>
              <a:rPr sz="1800" spc="120" dirty="0">
                <a:latin typeface="Times New Roman"/>
                <a:cs typeface="Times New Roman"/>
              </a:rPr>
              <a:t> </a:t>
            </a:r>
            <a:r>
              <a:rPr sz="1800" dirty="0">
                <a:latin typeface="Times New Roman"/>
                <a:cs typeface="Times New Roman"/>
              </a:rPr>
              <a:t>It</a:t>
            </a:r>
            <a:r>
              <a:rPr sz="1800" spc="114" dirty="0">
                <a:latin typeface="Times New Roman"/>
                <a:cs typeface="Times New Roman"/>
              </a:rPr>
              <a:t> </a:t>
            </a:r>
            <a:r>
              <a:rPr sz="1800" dirty="0">
                <a:latin typeface="Times New Roman"/>
                <a:cs typeface="Times New Roman"/>
              </a:rPr>
              <a:t>enhances</a:t>
            </a:r>
            <a:r>
              <a:rPr sz="1800" spc="114" dirty="0">
                <a:latin typeface="Times New Roman"/>
                <a:cs typeface="Times New Roman"/>
              </a:rPr>
              <a:t> </a:t>
            </a:r>
            <a:r>
              <a:rPr sz="1800" dirty="0">
                <a:latin typeface="Times New Roman"/>
                <a:cs typeface="Times New Roman"/>
              </a:rPr>
              <a:t>system</a:t>
            </a:r>
            <a:r>
              <a:rPr sz="1800" spc="110" dirty="0">
                <a:latin typeface="Times New Roman"/>
                <a:cs typeface="Times New Roman"/>
              </a:rPr>
              <a:t> </a:t>
            </a:r>
            <a:r>
              <a:rPr sz="1800" dirty="0">
                <a:latin typeface="Times New Roman"/>
                <a:cs typeface="Times New Roman"/>
              </a:rPr>
              <a:t>performance,</a:t>
            </a:r>
            <a:r>
              <a:rPr sz="1800" spc="120" dirty="0">
                <a:latin typeface="Times New Roman"/>
                <a:cs typeface="Times New Roman"/>
              </a:rPr>
              <a:t> </a:t>
            </a:r>
            <a:r>
              <a:rPr sz="1800" dirty="0">
                <a:latin typeface="Times New Roman"/>
                <a:cs typeface="Times New Roman"/>
              </a:rPr>
              <a:t>reliability,</a:t>
            </a:r>
            <a:r>
              <a:rPr sz="1800" spc="114" dirty="0">
                <a:latin typeface="Times New Roman"/>
                <a:cs typeface="Times New Roman"/>
              </a:rPr>
              <a:t> </a:t>
            </a:r>
            <a:r>
              <a:rPr sz="1800" dirty="0">
                <a:latin typeface="Times New Roman"/>
                <a:cs typeface="Times New Roman"/>
              </a:rPr>
              <a:t>and</a:t>
            </a:r>
            <a:r>
              <a:rPr sz="1800" spc="114" dirty="0">
                <a:latin typeface="Times New Roman"/>
                <a:cs typeface="Times New Roman"/>
              </a:rPr>
              <a:t> </a:t>
            </a:r>
            <a:r>
              <a:rPr sz="1800" dirty="0">
                <a:latin typeface="Times New Roman"/>
                <a:cs typeface="Times New Roman"/>
              </a:rPr>
              <a:t>safety</a:t>
            </a:r>
            <a:r>
              <a:rPr sz="1800" spc="125" dirty="0">
                <a:latin typeface="Times New Roman"/>
                <a:cs typeface="Times New Roman"/>
              </a:rPr>
              <a:t> </a:t>
            </a:r>
            <a:r>
              <a:rPr sz="1800" dirty="0">
                <a:latin typeface="Times New Roman"/>
                <a:cs typeface="Times New Roman"/>
              </a:rPr>
              <a:t>while</a:t>
            </a:r>
            <a:r>
              <a:rPr sz="1800" spc="125" dirty="0">
                <a:latin typeface="Times New Roman"/>
                <a:cs typeface="Times New Roman"/>
              </a:rPr>
              <a:t> </a:t>
            </a:r>
            <a:r>
              <a:rPr sz="1800" dirty="0">
                <a:latin typeface="Times New Roman"/>
                <a:cs typeface="Times New Roman"/>
              </a:rPr>
              <a:t>supporting</a:t>
            </a:r>
            <a:r>
              <a:rPr sz="1800" spc="100" dirty="0">
                <a:latin typeface="Times New Roman"/>
                <a:cs typeface="Times New Roman"/>
              </a:rPr>
              <a:t> </a:t>
            </a:r>
            <a:r>
              <a:rPr sz="1800" dirty="0">
                <a:latin typeface="Times New Roman"/>
                <a:cs typeface="Times New Roman"/>
              </a:rPr>
              <a:t>the</a:t>
            </a:r>
            <a:r>
              <a:rPr sz="1800" spc="114" dirty="0">
                <a:latin typeface="Times New Roman"/>
                <a:cs typeface="Times New Roman"/>
              </a:rPr>
              <a:t> </a:t>
            </a:r>
            <a:r>
              <a:rPr sz="1800" spc="-10" dirty="0">
                <a:latin typeface="Times New Roman"/>
                <a:cs typeface="Times New Roman"/>
              </a:rPr>
              <a:t>vision </a:t>
            </a:r>
            <a:r>
              <a:rPr sz="1800" dirty="0">
                <a:latin typeface="Times New Roman"/>
                <a:cs typeface="Times New Roman"/>
              </a:rPr>
              <a:t>of</a:t>
            </a:r>
            <a:r>
              <a:rPr sz="1800" spc="-50" dirty="0">
                <a:latin typeface="Times New Roman"/>
                <a:cs typeface="Times New Roman"/>
              </a:rPr>
              <a:t> </a:t>
            </a:r>
            <a:r>
              <a:rPr sz="1800" dirty="0">
                <a:latin typeface="Times New Roman"/>
                <a:cs typeface="Times New Roman"/>
              </a:rPr>
              <a:t>intelligent</a:t>
            </a:r>
            <a:r>
              <a:rPr sz="1800" spc="-55" dirty="0">
                <a:latin typeface="Times New Roman"/>
                <a:cs typeface="Times New Roman"/>
              </a:rPr>
              <a:t> </a:t>
            </a:r>
            <a:r>
              <a:rPr sz="1800" spc="-10" dirty="0">
                <a:latin typeface="Times New Roman"/>
                <a:cs typeface="Times New Roman"/>
              </a:rPr>
              <a:t>transportation</a:t>
            </a:r>
            <a:r>
              <a:rPr sz="1800" spc="-60" dirty="0">
                <a:latin typeface="Times New Roman"/>
                <a:cs typeface="Times New Roman"/>
              </a:rPr>
              <a:t> </a:t>
            </a:r>
            <a:r>
              <a:rPr sz="1800" spc="-10" dirty="0">
                <a:latin typeface="Times New Roman"/>
                <a:cs typeface="Times New Roman"/>
              </a:rPr>
              <a:t>systems.</a:t>
            </a:r>
            <a:endParaRPr sz="18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51782" y="288798"/>
            <a:ext cx="2850515" cy="452120"/>
          </a:xfrm>
          <a:prstGeom prst="rect">
            <a:avLst/>
          </a:prstGeom>
        </p:spPr>
        <p:txBody>
          <a:bodyPr vert="horz" wrap="square" lIns="0" tIns="12065" rIns="0" bIns="0" rtlCol="0">
            <a:spAutoFit/>
          </a:bodyPr>
          <a:lstStyle/>
          <a:p>
            <a:pPr marL="12700">
              <a:lnSpc>
                <a:spcPct val="100000"/>
              </a:lnSpc>
              <a:spcBef>
                <a:spcPts val="95"/>
              </a:spcBef>
            </a:pPr>
            <a:r>
              <a:rPr spc="-10" dirty="0"/>
              <a:t>INTRODUCTION</a:t>
            </a:r>
          </a:p>
        </p:txBody>
      </p:sp>
      <p:sp>
        <p:nvSpPr>
          <p:cNvPr id="3" name="object 3"/>
          <p:cNvSpPr txBox="1"/>
          <p:nvPr/>
        </p:nvSpPr>
        <p:spPr>
          <a:xfrm>
            <a:off x="529844" y="1046226"/>
            <a:ext cx="11318240" cy="4140835"/>
          </a:xfrm>
          <a:prstGeom prst="rect">
            <a:avLst/>
          </a:prstGeom>
        </p:spPr>
        <p:txBody>
          <a:bodyPr vert="horz" wrap="square" lIns="0" tIns="12700" rIns="0" bIns="0" rtlCol="0">
            <a:spAutoFit/>
          </a:bodyPr>
          <a:lstStyle/>
          <a:p>
            <a:pPr marL="12700" algn="just">
              <a:lnSpc>
                <a:spcPct val="100000"/>
              </a:lnSpc>
              <a:spcBef>
                <a:spcPts val="100"/>
              </a:spcBef>
            </a:pPr>
            <a:r>
              <a:rPr sz="1800" dirty="0">
                <a:latin typeface="Times New Roman"/>
                <a:cs typeface="Times New Roman"/>
              </a:rPr>
              <a:t>With</a:t>
            </a:r>
            <a:r>
              <a:rPr sz="1800" spc="-85" dirty="0">
                <a:latin typeface="Times New Roman"/>
                <a:cs typeface="Times New Roman"/>
              </a:rPr>
              <a:t> </a:t>
            </a:r>
            <a:r>
              <a:rPr sz="1800" dirty="0">
                <a:latin typeface="Times New Roman"/>
                <a:cs typeface="Times New Roman"/>
              </a:rPr>
              <a:t>growing</a:t>
            </a:r>
            <a:r>
              <a:rPr sz="1800" spc="-55" dirty="0">
                <a:latin typeface="Times New Roman"/>
                <a:cs typeface="Times New Roman"/>
              </a:rPr>
              <a:t> </a:t>
            </a:r>
            <a:r>
              <a:rPr sz="1800" dirty="0">
                <a:latin typeface="Times New Roman"/>
                <a:cs typeface="Times New Roman"/>
              </a:rPr>
              <a:t>concern</a:t>
            </a:r>
            <a:r>
              <a:rPr sz="1800" spc="-70" dirty="0">
                <a:latin typeface="Times New Roman"/>
                <a:cs typeface="Times New Roman"/>
              </a:rPr>
              <a:t> </a:t>
            </a:r>
            <a:r>
              <a:rPr sz="1800" dirty="0">
                <a:latin typeface="Times New Roman"/>
                <a:cs typeface="Times New Roman"/>
              </a:rPr>
              <a:t>over</a:t>
            </a:r>
            <a:r>
              <a:rPr sz="1800" spc="-60" dirty="0">
                <a:latin typeface="Times New Roman"/>
                <a:cs typeface="Times New Roman"/>
              </a:rPr>
              <a:t> </a:t>
            </a:r>
            <a:r>
              <a:rPr sz="1800" dirty="0">
                <a:latin typeface="Times New Roman"/>
                <a:cs typeface="Times New Roman"/>
              </a:rPr>
              <a:t>traffic</a:t>
            </a:r>
            <a:r>
              <a:rPr sz="1800" spc="-65" dirty="0">
                <a:latin typeface="Times New Roman"/>
                <a:cs typeface="Times New Roman"/>
              </a:rPr>
              <a:t> </a:t>
            </a:r>
            <a:r>
              <a:rPr sz="1800" dirty="0">
                <a:latin typeface="Times New Roman"/>
                <a:cs typeface="Times New Roman"/>
              </a:rPr>
              <a:t>congestion</a:t>
            </a:r>
            <a:r>
              <a:rPr sz="1800" spc="-60" dirty="0">
                <a:latin typeface="Times New Roman"/>
                <a:cs typeface="Times New Roman"/>
              </a:rPr>
              <a:t> </a:t>
            </a:r>
            <a:r>
              <a:rPr sz="1800" dirty="0">
                <a:latin typeface="Times New Roman"/>
                <a:cs typeface="Times New Roman"/>
              </a:rPr>
              <a:t>and</a:t>
            </a:r>
            <a:r>
              <a:rPr sz="1800" spc="-60" dirty="0">
                <a:latin typeface="Times New Roman"/>
                <a:cs typeface="Times New Roman"/>
              </a:rPr>
              <a:t> </a:t>
            </a:r>
            <a:r>
              <a:rPr sz="1800" dirty="0">
                <a:latin typeface="Times New Roman"/>
                <a:cs typeface="Times New Roman"/>
              </a:rPr>
              <a:t>road</a:t>
            </a:r>
            <a:r>
              <a:rPr sz="1800" spc="-65" dirty="0">
                <a:latin typeface="Times New Roman"/>
                <a:cs typeface="Times New Roman"/>
              </a:rPr>
              <a:t> </a:t>
            </a:r>
            <a:r>
              <a:rPr sz="1800" dirty="0">
                <a:latin typeface="Times New Roman"/>
                <a:cs typeface="Times New Roman"/>
              </a:rPr>
              <a:t>safety,</a:t>
            </a:r>
            <a:r>
              <a:rPr sz="1800" spc="-85" dirty="0">
                <a:latin typeface="Times New Roman"/>
                <a:cs typeface="Times New Roman"/>
              </a:rPr>
              <a:t> </a:t>
            </a:r>
            <a:r>
              <a:rPr sz="1800" spc="-10" dirty="0">
                <a:latin typeface="Times New Roman"/>
                <a:cs typeface="Times New Roman"/>
              </a:rPr>
              <a:t>intelligent</a:t>
            </a:r>
            <a:r>
              <a:rPr sz="1800" spc="-10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spc="-10" dirty="0">
                <a:latin typeface="Times New Roman"/>
                <a:cs typeface="Times New Roman"/>
              </a:rPr>
              <a:t>connected</a:t>
            </a:r>
            <a:r>
              <a:rPr sz="1800" spc="-95" dirty="0">
                <a:latin typeface="Times New Roman"/>
                <a:cs typeface="Times New Roman"/>
              </a:rPr>
              <a:t> </a:t>
            </a:r>
            <a:r>
              <a:rPr sz="1800" dirty="0">
                <a:latin typeface="Times New Roman"/>
                <a:cs typeface="Times New Roman"/>
              </a:rPr>
              <a:t>vehicle</a:t>
            </a:r>
            <a:r>
              <a:rPr sz="1800" spc="-80" dirty="0">
                <a:latin typeface="Times New Roman"/>
                <a:cs typeface="Times New Roman"/>
              </a:rPr>
              <a:t> </a:t>
            </a:r>
            <a:r>
              <a:rPr sz="1800" spc="-10" dirty="0">
                <a:latin typeface="Times New Roman"/>
                <a:cs typeface="Times New Roman"/>
              </a:rPr>
              <a:t>technologies</a:t>
            </a:r>
            <a:r>
              <a:rPr sz="1800" spc="-95" dirty="0">
                <a:latin typeface="Times New Roman"/>
                <a:cs typeface="Times New Roman"/>
              </a:rPr>
              <a:t> </a:t>
            </a:r>
            <a:r>
              <a:rPr sz="1800" spc="-20" dirty="0">
                <a:latin typeface="Times New Roman"/>
                <a:cs typeface="Times New Roman"/>
              </a:rPr>
              <a:t>have</a:t>
            </a:r>
            <a:endParaRPr sz="1800" dirty="0">
              <a:latin typeface="Times New Roman"/>
              <a:cs typeface="Times New Roman"/>
            </a:endParaRPr>
          </a:p>
          <a:p>
            <a:pPr marL="12700" marR="5080" algn="just">
              <a:lnSpc>
                <a:spcPct val="100000"/>
              </a:lnSpc>
            </a:pPr>
            <a:r>
              <a:rPr sz="1800" dirty="0">
                <a:latin typeface="Times New Roman"/>
                <a:cs typeface="Times New Roman"/>
              </a:rPr>
              <a:t>become</a:t>
            </a:r>
            <a:r>
              <a:rPr sz="1800" spc="-65" dirty="0">
                <a:latin typeface="Times New Roman"/>
                <a:cs typeface="Times New Roman"/>
              </a:rPr>
              <a:t> </a:t>
            </a:r>
            <a:r>
              <a:rPr sz="1800" dirty="0">
                <a:latin typeface="Times New Roman"/>
                <a:cs typeface="Times New Roman"/>
              </a:rPr>
              <a:t>major</a:t>
            </a:r>
            <a:r>
              <a:rPr sz="1800" spc="-30" dirty="0">
                <a:latin typeface="Times New Roman"/>
                <a:cs typeface="Times New Roman"/>
              </a:rPr>
              <a:t> </a:t>
            </a:r>
            <a:r>
              <a:rPr sz="1800" dirty="0">
                <a:latin typeface="Times New Roman"/>
                <a:cs typeface="Times New Roman"/>
              </a:rPr>
              <a:t>trends</a:t>
            </a:r>
            <a:r>
              <a:rPr sz="1800" spc="-50" dirty="0">
                <a:latin typeface="Times New Roman"/>
                <a:cs typeface="Times New Roman"/>
              </a:rPr>
              <a:t> </a:t>
            </a:r>
            <a:r>
              <a:rPr sz="1800" dirty="0">
                <a:latin typeface="Times New Roman"/>
                <a:cs typeface="Times New Roman"/>
              </a:rPr>
              <a:t>in</a:t>
            </a:r>
            <a:r>
              <a:rPr sz="1800" spc="-45" dirty="0">
                <a:latin typeface="Times New Roman"/>
                <a:cs typeface="Times New Roman"/>
              </a:rPr>
              <a:t> </a:t>
            </a:r>
            <a:r>
              <a:rPr sz="1800" spc="-10" dirty="0">
                <a:latin typeface="Times New Roman"/>
                <a:cs typeface="Times New Roman"/>
              </a:rPr>
              <a:t>today’s</a:t>
            </a:r>
            <a:r>
              <a:rPr sz="1800" spc="-100" dirty="0">
                <a:latin typeface="Times New Roman"/>
                <a:cs typeface="Times New Roman"/>
              </a:rPr>
              <a:t> </a:t>
            </a:r>
            <a:r>
              <a:rPr sz="1800" dirty="0">
                <a:latin typeface="Times New Roman"/>
                <a:cs typeface="Times New Roman"/>
              </a:rPr>
              <a:t>automotive</a:t>
            </a:r>
            <a:r>
              <a:rPr sz="1800" spc="-50" dirty="0">
                <a:latin typeface="Times New Roman"/>
                <a:cs typeface="Times New Roman"/>
              </a:rPr>
              <a:t> </a:t>
            </a:r>
            <a:r>
              <a:rPr sz="1800" spc="-25" dirty="0">
                <a:latin typeface="Times New Roman"/>
                <a:cs typeface="Times New Roman"/>
              </a:rPr>
              <a:t>industry.</a:t>
            </a:r>
            <a:r>
              <a:rPr sz="1800" spc="-145" dirty="0">
                <a:latin typeface="Times New Roman"/>
                <a:cs typeface="Times New Roman"/>
              </a:rPr>
              <a:t> </a:t>
            </a:r>
            <a:r>
              <a:rPr sz="1800" dirty="0">
                <a:latin typeface="Times New Roman"/>
                <a:cs typeface="Times New Roman"/>
              </a:rPr>
              <a:t>Among</a:t>
            </a:r>
            <a:r>
              <a:rPr sz="1800" spc="-10" dirty="0">
                <a:latin typeface="Times New Roman"/>
                <a:cs typeface="Times New Roman"/>
              </a:rPr>
              <a:t> </a:t>
            </a:r>
            <a:r>
              <a:rPr sz="1800" dirty="0">
                <a:latin typeface="Times New Roman"/>
                <a:cs typeface="Times New Roman"/>
              </a:rPr>
              <a:t>these</a:t>
            </a:r>
            <a:r>
              <a:rPr sz="1800" spc="-55" dirty="0">
                <a:latin typeface="Times New Roman"/>
                <a:cs typeface="Times New Roman"/>
              </a:rPr>
              <a:t> </a:t>
            </a:r>
            <a:r>
              <a:rPr sz="1800" dirty="0">
                <a:latin typeface="Times New Roman"/>
                <a:cs typeface="Times New Roman"/>
              </a:rPr>
              <a:t>advancements,</a:t>
            </a:r>
            <a:r>
              <a:rPr sz="1800" spc="-35" dirty="0">
                <a:latin typeface="Times New Roman"/>
                <a:cs typeface="Times New Roman"/>
              </a:rPr>
              <a:t> </a:t>
            </a:r>
            <a:r>
              <a:rPr sz="1800" spc="-25" dirty="0">
                <a:latin typeface="Times New Roman"/>
                <a:cs typeface="Times New Roman"/>
              </a:rPr>
              <a:t>real-</a:t>
            </a:r>
            <a:r>
              <a:rPr sz="1800" dirty="0">
                <a:latin typeface="Times New Roman"/>
                <a:cs typeface="Times New Roman"/>
              </a:rPr>
              <a:t>time</a:t>
            </a:r>
            <a:r>
              <a:rPr sz="1800" spc="-50" dirty="0">
                <a:latin typeface="Times New Roman"/>
                <a:cs typeface="Times New Roman"/>
              </a:rPr>
              <a:t> </a:t>
            </a:r>
            <a:r>
              <a:rPr sz="1800" dirty="0">
                <a:latin typeface="Times New Roman"/>
                <a:cs typeface="Times New Roman"/>
              </a:rPr>
              <a:t>driving</a:t>
            </a:r>
            <a:r>
              <a:rPr sz="1800" spc="-50" dirty="0">
                <a:latin typeface="Times New Roman"/>
                <a:cs typeface="Times New Roman"/>
              </a:rPr>
              <a:t> </a:t>
            </a:r>
            <a:r>
              <a:rPr sz="1800" spc="-10" dirty="0">
                <a:latin typeface="Times New Roman"/>
                <a:cs typeface="Times New Roman"/>
              </a:rPr>
              <a:t>behavior</a:t>
            </a:r>
            <a:r>
              <a:rPr sz="1800" spc="-70" dirty="0">
                <a:latin typeface="Times New Roman"/>
                <a:cs typeface="Times New Roman"/>
              </a:rPr>
              <a:t> </a:t>
            </a:r>
            <a:r>
              <a:rPr sz="1800" spc="-10" dirty="0">
                <a:latin typeface="Times New Roman"/>
                <a:cs typeface="Times New Roman"/>
              </a:rPr>
              <a:t>monitoring</a:t>
            </a:r>
            <a:r>
              <a:rPr sz="1800" spc="-25" dirty="0">
                <a:latin typeface="Times New Roman"/>
                <a:cs typeface="Times New Roman"/>
              </a:rPr>
              <a:t> has </a:t>
            </a:r>
            <a:r>
              <a:rPr sz="1800" dirty="0">
                <a:latin typeface="Times New Roman"/>
                <a:cs typeface="Times New Roman"/>
              </a:rPr>
              <a:t>gained</a:t>
            </a:r>
            <a:r>
              <a:rPr sz="1800" spc="-65" dirty="0">
                <a:latin typeface="Times New Roman"/>
                <a:cs typeface="Times New Roman"/>
              </a:rPr>
              <a:t> </a:t>
            </a:r>
            <a:r>
              <a:rPr sz="1800" dirty="0">
                <a:latin typeface="Times New Roman"/>
                <a:cs typeface="Times New Roman"/>
              </a:rPr>
              <a:t>significant</a:t>
            </a:r>
            <a:r>
              <a:rPr sz="1800" spc="-65" dirty="0">
                <a:latin typeface="Times New Roman"/>
                <a:cs typeface="Times New Roman"/>
              </a:rPr>
              <a:t> </a:t>
            </a:r>
            <a:r>
              <a:rPr sz="1800" dirty="0">
                <a:latin typeface="Times New Roman"/>
                <a:cs typeface="Times New Roman"/>
              </a:rPr>
              <a:t>attention,</a:t>
            </a:r>
            <a:r>
              <a:rPr sz="1800" spc="-95" dirty="0">
                <a:latin typeface="Times New Roman"/>
                <a:cs typeface="Times New Roman"/>
              </a:rPr>
              <a:t> </a:t>
            </a:r>
            <a:r>
              <a:rPr sz="1800" dirty="0">
                <a:latin typeface="Times New Roman"/>
                <a:cs typeface="Times New Roman"/>
              </a:rPr>
              <a:t>as</a:t>
            </a:r>
            <a:r>
              <a:rPr sz="1800" spc="-70" dirty="0">
                <a:latin typeface="Times New Roman"/>
                <a:cs typeface="Times New Roman"/>
              </a:rPr>
              <a:t> </a:t>
            </a:r>
            <a:r>
              <a:rPr sz="1800" dirty="0">
                <a:latin typeface="Times New Roman"/>
                <a:cs typeface="Times New Roman"/>
              </a:rPr>
              <a:t>it</a:t>
            </a:r>
            <a:r>
              <a:rPr sz="1800" spc="-60" dirty="0">
                <a:latin typeface="Times New Roman"/>
                <a:cs typeface="Times New Roman"/>
              </a:rPr>
              <a:t> </a:t>
            </a:r>
            <a:r>
              <a:rPr sz="1800" dirty="0">
                <a:latin typeface="Times New Roman"/>
                <a:cs typeface="Times New Roman"/>
              </a:rPr>
              <a:t>provides</a:t>
            </a:r>
            <a:r>
              <a:rPr sz="1800" spc="-65" dirty="0">
                <a:latin typeface="Times New Roman"/>
                <a:cs typeface="Times New Roman"/>
              </a:rPr>
              <a:t> </a:t>
            </a:r>
            <a:r>
              <a:rPr sz="1800" dirty="0">
                <a:latin typeface="Times New Roman"/>
                <a:cs typeface="Times New Roman"/>
              </a:rPr>
              <a:t>critical</a:t>
            </a:r>
            <a:r>
              <a:rPr sz="1800" spc="-75" dirty="0">
                <a:latin typeface="Times New Roman"/>
                <a:cs typeface="Times New Roman"/>
              </a:rPr>
              <a:t> </a:t>
            </a:r>
            <a:r>
              <a:rPr sz="1800" dirty="0">
                <a:latin typeface="Times New Roman"/>
                <a:cs typeface="Times New Roman"/>
              </a:rPr>
              <a:t>input</a:t>
            </a:r>
            <a:r>
              <a:rPr sz="1800" spc="-70" dirty="0">
                <a:latin typeface="Times New Roman"/>
                <a:cs typeface="Times New Roman"/>
              </a:rPr>
              <a:t> </a:t>
            </a:r>
            <a:r>
              <a:rPr sz="1800" dirty="0">
                <a:latin typeface="Times New Roman"/>
                <a:cs typeface="Times New Roman"/>
              </a:rPr>
              <a:t>for</a:t>
            </a:r>
            <a:r>
              <a:rPr sz="1800" spc="-45" dirty="0">
                <a:latin typeface="Times New Roman"/>
                <a:cs typeface="Times New Roman"/>
              </a:rPr>
              <a:t> </a:t>
            </a:r>
            <a:r>
              <a:rPr sz="1800" dirty="0">
                <a:latin typeface="Times New Roman"/>
                <a:cs typeface="Times New Roman"/>
              </a:rPr>
              <a:t>intelligent</a:t>
            </a:r>
            <a:r>
              <a:rPr sz="1800" spc="-90" dirty="0">
                <a:latin typeface="Times New Roman"/>
                <a:cs typeface="Times New Roman"/>
              </a:rPr>
              <a:t> </a:t>
            </a:r>
            <a:r>
              <a:rPr sz="1800" dirty="0">
                <a:latin typeface="Times New Roman"/>
                <a:cs typeface="Times New Roman"/>
              </a:rPr>
              <a:t>vehicle</a:t>
            </a:r>
            <a:r>
              <a:rPr sz="1800" spc="-80" dirty="0">
                <a:latin typeface="Times New Roman"/>
                <a:cs typeface="Times New Roman"/>
              </a:rPr>
              <a:t> </a:t>
            </a:r>
            <a:r>
              <a:rPr sz="1800" dirty="0">
                <a:latin typeface="Times New Roman"/>
                <a:cs typeface="Times New Roman"/>
              </a:rPr>
              <a:t>control,</a:t>
            </a:r>
            <a:r>
              <a:rPr sz="1800" spc="-65" dirty="0">
                <a:latin typeface="Times New Roman"/>
                <a:cs typeface="Times New Roman"/>
              </a:rPr>
              <a:t> </a:t>
            </a:r>
            <a:r>
              <a:rPr sz="1800" dirty="0">
                <a:latin typeface="Times New Roman"/>
                <a:cs typeface="Times New Roman"/>
              </a:rPr>
              <a:t>as</a:t>
            </a:r>
            <a:r>
              <a:rPr sz="1800" spc="-70" dirty="0">
                <a:latin typeface="Times New Roman"/>
                <a:cs typeface="Times New Roman"/>
              </a:rPr>
              <a:t> </a:t>
            </a:r>
            <a:r>
              <a:rPr sz="1800" dirty="0">
                <a:latin typeface="Times New Roman"/>
                <a:cs typeface="Times New Roman"/>
              </a:rPr>
              <a:t>well</a:t>
            </a:r>
            <a:r>
              <a:rPr sz="1800" spc="-45" dirty="0">
                <a:latin typeface="Times New Roman"/>
                <a:cs typeface="Times New Roman"/>
              </a:rPr>
              <a:t> </a:t>
            </a:r>
            <a:r>
              <a:rPr sz="1800" dirty="0">
                <a:latin typeface="Times New Roman"/>
                <a:cs typeface="Times New Roman"/>
              </a:rPr>
              <a:t>as</a:t>
            </a:r>
            <a:r>
              <a:rPr sz="1800" spc="-70" dirty="0">
                <a:latin typeface="Times New Roman"/>
                <a:cs typeface="Times New Roman"/>
              </a:rPr>
              <a:t> </a:t>
            </a:r>
            <a:r>
              <a:rPr sz="1800" dirty="0">
                <a:latin typeface="Times New Roman"/>
                <a:cs typeface="Times New Roman"/>
              </a:rPr>
              <a:t>for</a:t>
            </a:r>
            <a:r>
              <a:rPr sz="1800" spc="-45" dirty="0">
                <a:latin typeface="Times New Roman"/>
                <a:cs typeface="Times New Roman"/>
              </a:rPr>
              <a:t> </a:t>
            </a:r>
            <a:r>
              <a:rPr sz="1800" spc="-10" dirty="0">
                <a:latin typeface="Times New Roman"/>
                <a:cs typeface="Times New Roman"/>
              </a:rPr>
              <a:t>accurate</a:t>
            </a:r>
            <a:r>
              <a:rPr sz="1800" spc="-80" dirty="0">
                <a:latin typeface="Times New Roman"/>
                <a:cs typeface="Times New Roman"/>
              </a:rPr>
              <a:t> </a:t>
            </a:r>
            <a:r>
              <a:rPr sz="1800" spc="-10" dirty="0">
                <a:latin typeface="Times New Roman"/>
                <a:cs typeface="Times New Roman"/>
              </a:rPr>
              <a:t>traffic </a:t>
            </a:r>
            <a:r>
              <a:rPr sz="1800" dirty="0">
                <a:latin typeface="Times New Roman"/>
                <a:cs typeface="Times New Roman"/>
              </a:rPr>
              <a:t>estimation</a:t>
            </a:r>
            <a:r>
              <a:rPr sz="1800" spc="-75"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management.</a:t>
            </a:r>
            <a:r>
              <a:rPr sz="1800" spc="-45" dirty="0">
                <a:latin typeface="Times New Roman"/>
                <a:cs typeface="Times New Roman"/>
              </a:rPr>
              <a:t> </a:t>
            </a:r>
            <a:r>
              <a:rPr sz="1800" dirty="0">
                <a:latin typeface="Times New Roman"/>
                <a:cs typeface="Times New Roman"/>
              </a:rPr>
              <a:t>Driving</a:t>
            </a:r>
            <a:r>
              <a:rPr sz="1800" spc="-30" dirty="0">
                <a:latin typeface="Times New Roman"/>
                <a:cs typeface="Times New Roman"/>
              </a:rPr>
              <a:t> </a:t>
            </a:r>
            <a:r>
              <a:rPr sz="1800" dirty="0">
                <a:latin typeface="Times New Roman"/>
                <a:cs typeface="Times New Roman"/>
              </a:rPr>
              <a:t>behavior</a:t>
            </a:r>
            <a:r>
              <a:rPr sz="1800" spc="-65" dirty="0">
                <a:latin typeface="Times New Roman"/>
                <a:cs typeface="Times New Roman"/>
              </a:rPr>
              <a:t> </a:t>
            </a:r>
            <a:r>
              <a:rPr sz="1800" dirty="0">
                <a:latin typeface="Times New Roman"/>
                <a:cs typeface="Times New Roman"/>
              </a:rPr>
              <a:t>can</a:t>
            </a:r>
            <a:r>
              <a:rPr sz="1800" spc="-45" dirty="0">
                <a:latin typeface="Times New Roman"/>
                <a:cs typeface="Times New Roman"/>
              </a:rPr>
              <a:t> </a:t>
            </a:r>
            <a:r>
              <a:rPr sz="1800" dirty="0">
                <a:latin typeface="Times New Roman"/>
                <a:cs typeface="Times New Roman"/>
              </a:rPr>
              <a:t>be</a:t>
            </a:r>
            <a:r>
              <a:rPr sz="1800" spc="-50" dirty="0">
                <a:latin typeface="Times New Roman"/>
                <a:cs typeface="Times New Roman"/>
              </a:rPr>
              <a:t> </a:t>
            </a:r>
            <a:r>
              <a:rPr sz="1800" dirty="0">
                <a:latin typeface="Times New Roman"/>
                <a:cs typeface="Times New Roman"/>
              </a:rPr>
              <a:t>broadly</a:t>
            </a:r>
            <a:r>
              <a:rPr sz="1800" spc="-45" dirty="0">
                <a:latin typeface="Times New Roman"/>
                <a:cs typeface="Times New Roman"/>
              </a:rPr>
              <a:t> </a:t>
            </a:r>
            <a:r>
              <a:rPr sz="1800" dirty="0">
                <a:latin typeface="Times New Roman"/>
                <a:cs typeface="Times New Roman"/>
              </a:rPr>
              <a:t>classified</a:t>
            </a:r>
            <a:r>
              <a:rPr sz="1800" spc="-70" dirty="0">
                <a:latin typeface="Times New Roman"/>
                <a:cs typeface="Times New Roman"/>
              </a:rPr>
              <a:t> </a:t>
            </a:r>
            <a:r>
              <a:rPr sz="1800" dirty="0">
                <a:latin typeface="Times New Roman"/>
                <a:cs typeface="Times New Roman"/>
              </a:rPr>
              <a:t>into</a:t>
            </a:r>
            <a:r>
              <a:rPr sz="1800" spc="-45" dirty="0">
                <a:latin typeface="Times New Roman"/>
                <a:cs typeface="Times New Roman"/>
              </a:rPr>
              <a:t> </a:t>
            </a:r>
            <a:r>
              <a:rPr sz="1800" dirty="0">
                <a:latin typeface="Times New Roman"/>
                <a:cs typeface="Times New Roman"/>
              </a:rPr>
              <a:t>two</a:t>
            </a:r>
            <a:r>
              <a:rPr sz="1800" spc="-50" dirty="0">
                <a:latin typeface="Times New Roman"/>
                <a:cs typeface="Times New Roman"/>
              </a:rPr>
              <a:t> </a:t>
            </a:r>
            <a:r>
              <a:rPr sz="1800" dirty="0">
                <a:latin typeface="Times New Roman"/>
                <a:cs typeface="Times New Roman"/>
              </a:rPr>
              <a:t>categories:</a:t>
            </a:r>
            <a:r>
              <a:rPr sz="1800" spc="-50" dirty="0">
                <a:latin typeface="Times New Roman"/>
                <a:cs typeface="Times New Roman"/>
              </a:rPr>
              <a:t> </a:t>
            </a:r>
            <a:r>
              <a:rPr sz="1800" dirty="0">
                <a:latin typeface="Times New Roman"/>
                <a:cs typeface="Times New Roman"/>
              </a:rPr>
              <a:t>lateral</a:t>
            </a:r>
            <a:r>
              <a:rPr sz="1800" spc="-65" dirty="0">
                <a:latin typeface="Times New Roman"/>
                <a:cs typeface="Times New Roman"/>
              </a:rPr>
              <a:t> </a:t>
            </a:r>
            <a:r>
              <a:rPr sz="1800" dirty="0">
                <a:latin typeface="Times New Roman"/>
                <a:cs typeface="Times New Roman"/>
              </a:rPr>
              <a:t>behaviors</a:t>
            </a:r>
            <a:r>
              <a:rPr sz="1800" spc="-35" dirty="0">
                <a:latin typeface="Times New Roman"/>
                <a:cs typeface="Times New Roman"/>
              </a:rPr>
              <a:t> </a:t>
            </a:r>
            <a:r>
              <a:rPr sz="1800" dirty="0">
                <a:latin typeface="Times New Roman"/>
                <a:cs typeface="Times New Roman"/>
              </a:rPr>
              <a:t>such</a:t>
            </a:r>
            <a:r>
              <a:rPr sz="1800" spc="-45" dirty="0">
                <a:latin typeface="Times New Roman"/>
                <a:cs typeface="Times New Roman"/>
              </a:rPr>
              <a:t> </a:t>
            </a:r>
            <a:r>
              <a:rPr sz="1800" dirty="0">
                <a:latin typeface="Times New Roman"/>
                <a:cs typeface="Times New Roman"/>
              </a:rPr>
              <a:t>as</a:t>
            </a:r>
            <a:r>
              <a:rPr sz="1800" spc="-55" dirty="0">
                <a:latin typeface="Times New Roman"/>
                <a:cs typeface="Times New Roman"/>
              </a:rPr>
              <a:t> </a:t>
            </a:r>
            <a:r>
              <a:rPr sz="1800" spc="-20" dirty="0">
                <a:latin typeface="Times New Roman"/>
                <a:cs typeface="Times New Roman"/>
              </a:rPr>
              <a:t>lane </a:t>
            </a:r>
            <a:r>
              <a:rPr sz="1800" dirty="0">
                <a:latin typeface="Times New Roman"/>
                <a:cs typeface="Times New Roman"/>
              </a:rPr>
              <a:t>changing</a:t>
            </a:r>
            <a:r>
              <a:rPr sz="1800" spc="-65" dirty="0">
                <a:latin typeface="Times New Roman"/>
                <a:cs typeface="Times New Roman"/>
              </a:rPr>
              <a:t> </a:t>
            </a:r>
            <a:r>
              <a:rPr sz="1800" dirty="0">
                <a:latin typeface="Times New Roman"/>
                <a:cs typeface="Times New Roman"/>
              </a:rPr>
              <a:t>and</a:t>
            </a:r>
            <a:r>
              <a:rPr sz="1800" spc="-20" dirty="0">
                <a:latin typeface="Times New Roman"/>
                <a:cs typeface="Times New Roman"/>
              </a:rPr>
              <a:t> </a:t>
            </a:r>
            <a:r>
              <a:rPr sz="1800" dirty="0">
                <a:latin typeface="Times New Roman"/>
                <a:cs typeface="Times New Roman"/>
              </a:rPr>
              <a:t>lane</a:t>
            </a:r>
            <a:r>
              <a:rPr sz="1800" spc="-40" dirty="0">
                <a:latin typeface="Times New Roman"/>
                <a:cs typeface="Times New Roman"/>
              </a:rPr>
              <a:t> </a:t>
            </a:r>
            <a:r>
              <a:rPr sz="1800" dirty="0">
                <a:latin typeface="Times New Roman"/>
                <a:cs typeface="Times New Roman"/>
              </a:rPr>
              <a:t>keeping,</a:t>
            </a:r>
            <a:r>
              <a:rPr sz="1800" spc="-45" dirty="0">
                <a:latin typeface="Times New Roman"/>
                <a:cs typeface="Times New Roman"/>
              </a:rPr>
              <a:t> </a:t>
            </a:r>
            <a:r>
              <a:rPr sz="1800" dirty="0">
                <a:latin typeface="Times New Roman"/>
                <a:cs typeface="Times New Roman"/>
              </a:rPr>
              <a:t>and</a:t>
            </a:r>
            <a:r>
              <a:rPr sz="1800" spc="-20" dirty="0">
                <a:latin typeface="Times New Roman"/>
                <a:cs typeface="Times New Roman"/>
              </a:rPr>
              <a:t> </a:t>
            </a:r>
            <a:r>
              <a:rPr sz="1800" dirty="0">
                <a:latin typeface="Times New Roman"/>
                <a:cs typeface="Times New Roman"/>
              </a:rPr>
              <a:t>longitudinal</a:t>
            </a:r>
            <a:r>
              <a:rPr sz="1800" spc="-35" dirty="0">
                <a:latin typeface="Times New Roman"/>
                <a:cs typeface="Times New Roman"/>
              </a:rPr>
              <a:t> </a:t>
            </a:r>
            <a:r>
              <a:rPr sz="1800" dirty="0">
                <a:latin typeface="Times New Roman"/>
                <a:cs typeface="Times New Roman"/>
              </a:rPr>
              <a:t>behaviors</a:t>
            </a:r>
            <a:r>
              <a:rPr sz="1800" spc="-30" dirty="0">
                <a:latin typeface="Times New Roman"/>
                <a:cs typeface="Times New Roman"/>
              </a:rPr>
              <a:t> </a:t>
            </a:r>
            <a:r>
              <a:rPr sz="1800" dirty="0">
                <a:latin typeface="Times New Roman"/>
                <a:cs typeface="Times New Roman"/>
              </a:rPr>
              <a:t>such</a:t>
            </a:r>
            <a:r>
              <a:rPr sz="1800" spc="-15" dirty="0">
                <a:latin typeface="Times New Roman"/>
                <a:cs typeface="Times New Roman"/>
              </a:rPr>
              <a:t> </a:t>
            </a:r>
            <a:r>
              <a:rPr sz="1800" dirty="0">
                <a:latin typeface="Times New Roman"/>
                <a:cs typeface="Times New Roman"/>
              </a:rPr>
              <a:t>as</a:t>
            </a:r>
            <a:r>
              <a:rPr sz="1800" spc="-40" dirty="0">
                <a:latin typeface="Times New Roman"/>
                <a:cs typeface="Times New Roman"/>
              </a:rPr>
              <a:t> </a:t>
            </a:r>
            <a:r>
              <a:rPr sz="1800" dirty="0">
                <a:latin typeface="Times New Roman"/>
                <a:cs typeface="Times New Roman"/>
              </a:rPr>
              <a:t>acceleration,</a:t>
            </a:r>
            <a:r>
              <a:rPr sz="1800" spc="-90" dirty="0">
                <a:latin typeface="Times New Roman"/>
                <a:cs typeface="Times New Roman"/>
              </a:rPr>
              <a:t> </a:t>
            </a:r>
            <a:r>
              <a:rPr sz="1800" dirty="0">
                <a:latin typeface="Times New Roman"/>
                <a:cs typeface="Times New Roman"/>
              </a:rPr>
              <a:t>braking,</a:t>
            </a:r>
            <a:r>
              <a:rPr sz="1800" spc="-25" dirty="0">
                <a:latin typeface="Times New Roman"/>
                <a:cs typeface="Times New Roman"/>
              </a:rPr>
              <a:t> </a:t>
            </a:r>
            <a:r>
              <a:rPr sz="1800" dirty="0">
                <a:latin typeface="Times New Roman"/>
                <a:cs typeface="Times New Roman"/>
              </a:rPr>
              <a:t>and</a:t>
            </a:r>
            <a:r>
              <a:rPr sz="1800" spc="-20" dirty="0">
                <a:latin typeface="Times New Roman"/>
                <a:cs typeface="Times New Roman"/>
              </a:rPr>
              <a:t> </a:t>
            </a:r>
            <a:r>
              <a:rPr sz="1800" dirty="0">
                <a:latin typeface="Times New Roman"/>
                <a:cs typeface="Times New Roman"/>
              </a:rPr>
              <a:t>cruising.</a:t>
            </a:r>
            <a:r>
              <a:rPr sz="1800" spc="-50" dirty="0">
                <a:latin typeface="Times New Roman"/>
                <a:cs typeface="Times New Roman"/>
              </a:rPr>
              <a:t> </a:t>
            </a:r>
            <a:r>
              <a:rPr sz="1800" dirty="0">
                <a:latin typeface="Times New Roman"/>
                <a:cs typeface="Times New Roman"/>
              </a:rPr>
              <a:t>Monitoring</a:t>
            </a:r>
            <a:r>
              <a:rPr sz="1800" spc="-20" dirty="0">
                <a:latin typeface="Times New Roman"/>
                <a:cs typeface="Times New Roman"/>
              </a:rPr>
              <a:t> </a:t>
            </a:r>
            <a:r>
              <a:rPr sz="1800" spc="-10" dirty="0">
                <a:latin typeface="Times New Roman"/>
                <a:cs typeface="Times New Roman"/>
              </a:rPr>
              <a:t>these </a:t>
            </a:r>
            <a:r>
              <a:rPr sz="1800" dirty="0">
                <a:latin typeface="Times New Roman"/>
                <a:cs typeface="Times New Roman"/>
              </a:rPr>
              <a:t>behaviors</a:t>
            </a:r>
            <a:r>
              <a:rPr sz="1800" spc="-75" dirty="0">
                <a:latin typeface="Times New Roman"/>
                <a:cs typeface="Times New Roman"/>
              </a:rPr>
              <a:t> </a:t>
            </a:r>
            <a:r>
              <a:rPr sz="1800" dirty="0">
                <a:latin typeface="Times New Roman"/>
                <a:cs typeface="Times New Roman"/>
              </a:rPr>
              <a:t>in</a:t>
            </a:r>
            <a:r>
              <a:rPr sz="1800" spc="-50" dirty="0">
                <a:latin typeface="Times New Roman"/>
                <a:cs typeface="Times New Roman"/>
              </a:rPr>
              <a:t> </a:t>
            </a:r>
            <a:r>
              <a:rPr sz="1800" dirty="0">
                <a:latin typeface="Times New Roman"/>
                <a:cs typeface="Times New Roman"/>
              </a:rPr>
              <a:t>real</a:t>
            </a:r>
            <a:r>
              <a:rPr sz="1800" spc="-60" dirty="0">
                <a:latin typeface="Times New Roman"/>
                <a:cs typeface="Times New Roman"/>
              </a:rPr>
              <a:t> </a:t>
            </a:r>
            <a:r>
              <a:rPr sz="1800" dirty="0">
                <a:latin typeface="Times New Roman"/>
                <a:cs typeface="Times New Roman"/>
              </a:rPr>
              <a:t>time</a:t>
            </a:r>
            <a:r>
              <a:rPr sz="1800" spc="-50" dirty="0">
                <a:latin typeface="Times New Roman"/>
                <a:cs typeface="Times New Roman"/>
              </a:rPr>
              <a:t> </a:t>
            </a:r>
            <a:r>
              <a:rPr sz="1800" dirty="0">
                <a:latin typeface="Times New Roman"/>
                <a:cs typeface="Times New Roman"/>
              </a:rPr>
              <a:t>helps</a:t>
            </a:r>
            <a:r>
              <a:rPr sz="1800" spc="-70" dirty="0">
                <a:latin typeface="Times New Roman"/>
                <a:cs typeface="Times New Roman"/>
              </a:rPr>
              <a:t> </a:t>
            </a:r>
            <a:r>
              <a:rPr sz="1800" dirty="0">
                <a:latin typeface="Times New Roman"/>
                <a:cs typeface="Times New Roman"/>
              </a:rPr>
              <a:t>track</a:t>
            </a:r>
            <a:r>
              <a:rPr sz="1800" spc="-70" dirty="0">
                <a:latin typeface="Times New Roman"/>
                <a:cs typeface="Times New Roman"/>
              </a:rPr>
              <a:t> </a:t>
            </a:r>
            <a:r>
              <a:rPr sz="1800" dirty="0">
                <a:latin typeface="Times New Roman"/>
                <a:cs typeface="Times New Roman"/>
              </a:rPr>
              <a:t>vehicle</a:t>
            </a:r>
            <a:r>
              <a:rPr sz="1800" spc="-75" dirty="0">
                <a:latin typeface="Times New Roman"/>
                <a:cs typeface="Times New Roman"/>
              </a:rPr>
              <a:t> </a:t>
            </a:r>
            <a:r>
              <a:rPr sz="1800" dirty="0">
                <a:latin typeface="Times New Roman"/>
                <a:cs typeface="Times New Roman"/>
              </a:rPr>
              <a:t>movement,</a:t>
            </a:r>
            <a:r>
              <a:rPr sz="1800" spc="-35" dirty="0">
                <a:latin typeface="Times New Roman"/>
                <a:cs typeface="Times New Roman"/>
              </a:rPr>
              <a:t> </a:t>
            </a:r>
            <a:r>
              <a:rPr sz="1800" dirty="0">
                <a:latin typeface="Times New Roman"/>
                <a:cs typeface="Times New Roman"/>
              </a:rPr>
              <a:t>detect</a:t>
            </a:r>
            <a:r>
              <a:rPr sz="1800" spc="-90" dirty="0">
                <a:latin typeface="Times New Roman"/>
                <a:cs typeface="Times New Roman"/>
              </a:rPr>
              <a:t> </a:t>
            </a:r>
            <a:r>
              <a:rPr sz="1800" dirty="0">
                <a:latin typeface="Times New Roman"/>
                <a:cs typeface="Times New Roman"/>
              </a:rPr>
              <a:t>risky</a:t>
            </a:r>
            <a:r>
              <a:rPr sz="1800" spc="-50" dirty="0">
                <a:latin typeface="Times New Roman"/>
                <a:cs typeface="Times New Roman"/>
              </a:rPr>
              <a:t> </a:t>
            </a:r>
            <a:r>
              <a:rPr sz="1800" dirty="0">
                <a:latin typeface="Times New Roman"/>
                <a:cs typeface="Times New Roman"/>
              </a:rPr>
              <a:t>actions</a:t>
            </a:r>
            <a:r>
              <a:rPr sz="1800" spc="-85" dirty="0">
                <a:latin typeface="Times New Roman"/>
                <a:cs typeface="Times New Roman"/>
              </a:rPr>
              <a:t> </a:t>
            </a:r>
            <a:r>
              <a:rPr sz="1800" dirty="0">
                <a:latin typeface="Times New Roman"/>
                <a:cs typeface="Times New Roman"/>
              </a:rPr>
              <a:t>like</a:t>
            </a:r>
            <a:r>
              <a:rPr sz="1800" spc="-55" dirty="0">
                <a:latin typeface="Times New Roman"/>
                <a:cs typeface="Times New Roman"/>
              </a:rPr>
              <a:t> </a:t>
            </a:r>
            <a:r>
              <a:rPr sz="1800" dirty="0">
                <a:latin typeface="Times New Roman"/>
                <a:cs typeface="Times New Roman"/>
              </a:rPr>
              <a:t>sudden</a:t>
            </a:r>
            <a:r>
              <a:rPr sz="1800" spc="-50" dirty="0">
                <a:latin typeface="Times New Roman"/>
                <a:cs typeface="Times New Roman"/>
              </a:rPr>
              <a:t> </a:t>
            </a:r>
            <a:r>
              <a:rPr sz="1800" spc="-10" dirty="0">
                <a:latin typeface="Times New Roman"/>
                <a:cs typeface="Times New Roman"/>
              </a:rPr>
              <a:t>acceleration</a:t>
            </a:r>
            <a:r>
              <a:rPr sz="1800" spc="-95" dirty="0">
                <a:latin typeface="Times New Roman"/>
                <a:cs typeface="Times New Roman"/>
              </a:rPr>
              <a:t> </a:t>
            </a:r>
            <a:r>
              <a:rPr sz="1800" dirty="0">
                <a:latin typeface="Times New Roman"/>
                <a:cs typeface="Times New Roman"/>
              </a:rPr>
              <a:t>or</a:t>
            </a:r>
            <a:r>
              <a:rPr sz="1800" spc="-65" dirty="0">
                <a:latin typeface="Times New Roman"/>
                <a:cs typeface="Times New Roman"/>
              </a:rPr>
              <a:t> </a:t>
            </a:r>
            <a:r>
              <a:rPr sz="1800" dirty="0">
                <a:latin typeface="Times New Roman"/>
                <a:cs typeface="Times New Roman"/>
              </a:rPr>
              <a:t>harsh</a:t>
            </a:r>
            <a:r>
              <a:rPr sz="1800" spc="-55" dirty="0">
                <a:latin typeface="Times New Roman"/>
                <a:cs typeface="Times New Roman"/>
              </a:rPr>
              <a:t> </a:t>
            </a:r>
            <a:r>
              <a:rPr sz="1800" dirty="0">
                <a:latin typeface="Times New Roman"/>
                <a:cs typeface="Times New Roman"/>
              </a:rPr>
              <a:t>braking,</a:t>
            </a:r>
            <a:r>
              <a:rPr sz="1800" spc="-65" dirty="0">
                <a:latin typeface="Times New Roman"/>
                <a:cs typeface="Times New Roman"/>
              </a:rPr>
              <a:t> </a:t>
            </a:r>
            <a:r>
              <a:rPr sz="1800" spc="-25" dirty="0">
                <a:latin typeface="Times New Roman"/>
                <a:cs typeface="Times New Roman"/>
              </a:rPr>
              <a:t>and </a:t>
            </a:r>
            <a:r>
              <a:rPr sz="1800" dirty="0">
                <a:latin typeface="Times New Roman"/>
                <a:cs typeface="Times New Roman"/>
              </a:rPr>
              <a:t>provide</a:t>
            </a:r>
            <a:r>
              <a:rPr sz="1800" spc="-70" dirty="0">
                <a:latin typeface="Times New Roman"/>
                <a:cs typeface="Times New Roman"/>
              </a:rPr>
              <a:t> </a:t>
            </a:r>
            <a:r>
              <a:rPr sz="1800" dirty="0">
                <a:latin typeface="Times New Roman"/>
                <a:cs typeface="Times New Roman"/>
              </a:rPr>
              <a:t>early</a:t>
            </a:r>
            <a:r>
              <a:rPr sz="1800" spc="-70" dirty="0">
                <a:latin typeface="Times New Roman"/>
                <a:cs typeface="Times New Roman"/>
              </a:rPr>
              <a:t> </a:t>
            </a:r>
            <a:r>
              <a:rPr sz="1800" dirty="0">
                <a:latin typeface="Times New Roman"/>
                <a:cs typeface="Times New Roman"/>
              </a:rPr>
              <a:t>warnings</a:t>
            </a:r>
            <a:r>
              <a:rPr sz="1800" spc="-65" dirty="0">
                <a:latin typeface="Times New Roman"/>
                <a:cs typeface="Times New Roman"/>
              </a:rPr>
              <a:t> </a:t>
            </a:r>
            <a:r>
              <a:rPr sz="1800" dirty="0">
                <a:latin typeface="Times New Roman"/>
                <a:cs typeface="Times New Roman"/>
              </a:rPr>
              <a:t>to</a:t>
            </a:r>
            <a:r>
              <a:rPr sz="1800" spc="-75" dirty="0">
                <a:latin typeface="Times New Roman"/>
                <a:cs typeface="Times New Roman"/>
              </a:rPr>
              <a:t> </a:t>
            </a:r>
            <a:r>
              <a:rPr sz="1800" dirty="0">
                <a:latin typeface="Times New Roman"/>
                <a:cs typeface="Times New Roman"/>
              </a:rPr>
              <a:t>prevent</a:t>
            </a:r>
            <a:r>
              <a:rPr sz="1800" spc="-65" dirty="0">
                <a:latin typeface="Times New Roman"/>
                <a:cs typeface="Times New Roman"/>
              </a:rPr>
              <a:t> </a:t>
            </a:r>
            <a:r>
              <a:rPr sz="1800" spc="-10" dirty="0">
                <a:latin typeface="Times New Roman"/>
                <a:cs typeface="Times New Roman"/>
              </a:rPr>
              <a:t>accidents.</a:t>
            </a:r>
            <a:r>
              <a:rPr sz="1800" spc="-105" dirty="0">
                <a:latin typeface="Times New Roman"/>
                <a:cs typeface="Times New Roman"/>
              </a:rPr>
              <a:t> </a:t>
            </a:r>
            <a:r>
              <a:rPr sz="1800" spc="-10" dirty="0">
                <a:latin typeface="Times New Roman"/>
                <a:cs typeface="Times New Roman"/>
              </a:rPr>
              <a:t>Moreover,</a:t>
            </a:r>
            <a:r>
              <a:rPr sz="1800" spc="-55" dirty="0">
                <a:latin typeface="Times New Roman"/>
                <a:cs typeface="Times New Roman"/>
              </a:rPr>
              <a:t> </a:t>
            </a:r>
            <a:r>
              <a:rPr sz="1800" dirty="0">
                <a:latin typeface="Times New Roman"/>
                <a:cs typeface="Times New Roman"/>
              </a:rPr>
              <a:t>such</a:t>
            </a:r>
            <a:r>
              <a:rPr sz="1800" spc="-75" dirty="0">
                <a:latin typeface="Times New Roman"/>
                <a:cs typeface="Times New Roman"/>
              </a:rPr>
              <a:t> </a:t>
            </a:r>
            <a:r>
              <a:rPr sz="1800" dirty="0">
                <a:latin typeface="Times New Roman"/>
                <a:cs typeface="Times New Roman"/>
              </a:rPr>
              <a:t>monitoring</a:t>
            </a:r>
            <a:r>
              <a:rPr sz="1800" spc="-60" dirty="0">
                <a:latin typeface="Times New Roman"/>
                <a:cs typeface="Times New Roman"/>
              </a:rPr>
              <a:t> </a:t>
            </a:r>
            <a:r>
              <a:rPr sz="1800" dirty="0">
                <a:latin typeface="Times New Roman"/>
                <a:cs typeface="Times New Roman"/>
              </a:rPr>
              <a:t>assists</a:t>
            </a:r>
            <a:r>
              <a:rPr sz="1800" spc="-55" dirty="0">
                <a:latin typeface="Times New Roman"/>
                <a:cs typeface="Times New Roman"/>
              </a:rPr>
              <a:t> </a:t>
            </a:r>
            <a:r>
              <a:rPr sz="1800" dirty="0">
                <a:latin typeface="Times New Roman"/>
                <a:cs typeface="Times New Roman"/>
              </a:rPr>
              <a:t>in</a:t>
            </a:r>
            <a:r>
              <a:rPr sz="1800" spc="-75" dirty="0">
                <a:latin typeface="Times New Roman"/>
                <a:cs typeface="Times New Roman"/>
              </a:rPr>
              <a:t> </a:t>
            </a:r>
            <a:r>
              <a:rPr sz="1800" dirty="0">
                <a:latin typeface="Times New Roman"/>
                <a:cs typeface="Times New Roman"/>
              </a:rPr>
              <a:t>assessing</a:t>
            </a:r>
            <a:r>
              <a:rPr sz="1800" spc="-50" dirty="0">
                <a:latin typeface="Times New Roman"/>
                <a:cs typeface="Times New Roman"/>
              </a:rPr>
              <a:t> </a:t>
            </a:r>
            <a:r>
              <a:rPr sz="1800" dirty="0">
                <a:latin typeface="Times New Roman"/>
                <a:cs typeface="Times New Roman"/>
              </a:rPr>
              <a:t>and</a:t>
            </a:r>
            <a:r>
              <a:rPr sz="1800" spc="-60" dirty="0">
                <a:latin typeface="Times New Roman"/>
                <a:cs typeface="Times New Roman"/>
              </a:rPr>
              <a:t> </a:t>
            </a:r>
            <a:r>
              <a:rPr sz="1800" dirty="0">
                <a:latin typeface="Times New Roman"/>
                <a:cs typeface="Times New Roman"/>
              </a:rPr>
              <a:t>improving</a:t>
            </a:r>
            <a:r>
              <a:rPr sz="1800" spc="-65" dirty="0">
                <a:latin typeface="Times New Roman"/>
                <a:cs typeface="Times New Roman"/>
              </a:rPr>
              <a:t> </a:t>
            </a:r>
            <a:r>
              <a:rPr sz="1800" spc="-10" dirty="0">
                <a:latin typeface="Times New Roman"/>
                <a:cs typeface="Times New Roman"/>
              </a:rPr>
              <a:t>individual </a:t>
            </a:r>
            <a:r>
              <a:rPr sz="1800" dirty="0">
                <a:latin typeface="Times New Roman"/>
                <a:cs typeface="Times New Roman"/>
              </a:rPr>
              <a:t>driving</a:t>
            </a:r>
            <a:r>
              <a:rPr sz="1800" spc="-95" dirty="0">
                <a:latin typeface="Times New Roman"/>
                <a:cs typeface="Times New Roman"/>
              </a:rPr>
              <a:t> </a:t>
            </a:r>
            <a:r>
              <a:rPr sz="1800" dirty="0">
                <a:latin typeface="Times New Roman"/>
                <a:cs typeface="Times New Roman"/>
              </a:rPr>
              <a:t>styles,</a:t>
            </a:r>
            <a:r>
              <a:rPr sz="1800" spc="-95" dirty="0">
                <a:latin typeface="Times New Roman"/>
                <a:cs typeface="Times New Roman"/>
              </a:rPr>
              <a:t> </a:t>
            </a:r>
            <a:r>
              <a:rPr sz="1800" dirty="0">
                <a:latin typeface="Times New Roman"/>
                <a:cs typeface="Times New Roman"/>
              </a:rPr>
              <a:t>thereby</a:t>
            </a:r>
            <a:r>
              <a:rPr sz="1800" spc="-70" dirty="0">
                <a:latin typeface="Times New Roman"/>
                <a:cs typeface="Times New Roman"/>
              </a:rPr>
              <a:t> </a:t>
            </a:r>
            <a:r>
              <a:rPr sz="1800" dirty="0">
                <a:latin typeface="Times New Roman"/>
                <a:cs typeface="Times New Roman"/>
              </a:rPr>
              <a:t>enhancing</a:t>
            </a:r>
            <a:r>
              <a:rPr sz="1800" spc="-90" dirty="0">
                <a:latin typeface="Times New Roman"/>
                <a:cs typeface="Times New Roman"/>
              </a:rPr>
              <a:t> </a:t>
            </a:r>
            <a:r>
              <a:rPr sz="1800" dirty="0">
                <a:latin typeface="Times New Roman"/>
                <a:cs typeface="Times New Roman"/>
              </a:rPr>
              <a:t>overall</a:t>
            </a:r>
            <a:r>
              <a:rPr sz="1800" spc="-65" dirty="0">
                <a:latin typeface="Times New Roman"/>
                <a:cs typeface="Times New Roman"/>
              </a:rPr>
              <a:t> </a:t>
            </a:r>
            <a:r>
              <a:rPr sz="1800" dirty="0">
                <a:latin typeface="Times New Roman"/>
                <a:cs typeface="Times New Roman"/>
              </a:rPr>
              <a:t>driving</a:t>
            </a:r>
            <a:r>
              <a:rPr sz="1800" spc="-55" dirty="0">
                <a:latin typeface="Times New Roman"/>
                <a:cs typeface="Times New Roman"/>
              </a:rPr>
              <a:t> </a:t>
            </a:r>
            <a:r>
              <a:rPr sz="1800" spc="-25" dirty="0">
                <a:latin typeface="Times New Roman"/>
                <a:cs typeface="Times New Roman"/>
              </a:rPr>
              <a:t>safety.</a:t>
            </a:r>
            <a:r>
              <a:rPr sz="1800" spc="-130" dirty="0">
                <a:latin typeface="Times New Roman"/>
                <a:cs typeface="Times New Roman"/>
              </a:rPr>
              <a:t> </a:t>
            </a:r>
            <a:r>
              <a:rPr sz="1800" dirty="0">
                <a:latin typeface="Times New Roman"/>
                <a:cs typeface="Times New Roman"/>
              </a:rPr>
              <a:t>With</a:t>
            </a:r>
            <a:r>
              <a:rPr sz="1800" spc="-45" dirty="0">
                <a:latin typeface="Times New Roman"/>
                <a:cs typeface="Times New Roman"/>
              </a:rPr>
              <a:t> </a:t>
            </a:r>
            <a:r>
              <a:rPr sz="1800" dirty="0">
                <a:latin typeface="Times New Roman"/>
                <a:cs typeface="Times New Roman"/>
              </a:rPr>
              <a:t>the</a:t>
            </a:r>
            <a:r>
              <a:rPr sz="1800" spc="-50" dirty="0">
                <a:latin typeface="Times New Roman"/>
                <a:cs typeface="Times New Roman"/>
              </a:rPr>
              <a:t> </a:t>
            </a:r>
            <a:r>
              <a:rPr sz="1800" spc="-10" dirty="0">
                <a:latin typeface="Times New Roman"/>
                <a:cs typeface="Times New Roman"/>
              </a:rPr>
              <a:t>development</a:t>
            </a:r>
            <a:r>
              <a:rPr sz="1800" spc="-50"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spc="-50" dirty="0">
                <a:latin typeface="Times New Roman"/>
                <a:cs typeface="Times New Roman"/>
              </a:rPr>
              <a:t>Vehicle-</a:t>
            </a:r>
            <a:r>
              <a:rPr sz="1800" spc="-10" dirty="0">
                <a:latin typeface="Times New Roman"/>
                <a:cs typeface="Times New Roman"/>
              </a:rPr>
              <a:t>Infrastructure</a:t>
            </a:r>
            <a:r>
              <a:rPr sz="1800" spc="-5" dirty="0">
                <a:latin typeface="Times New Roman"/>
                <a:cs typeface="Times New Roman"/>
              </a:rPr>
              <a:t> </a:t>
            </a:r>
            <a:r>
              <a:rPr sz="1800" spc="-10" dirty="0">
                <a:latin typeface="Times New Roman"/>
                <a:cs typeface="Times New Roman"/>
              </a:rPr>
              <a:t>Cooperative</a:t>
            </a:r>
            <a:r>
              <a:rPr sz="1800" spc="500" dirty="0">
                <a:latin typeface="Times New Roman"/>
                <a:cs typeface="Times New Roman"/>
              </a:rPr>
              <a:t> </a:t>
            </a:r>
            <a:r>
              <a:rPr sz="1800" dirty="0">
                <a:latin typeface="Times New Roman"/>
                <a:cs typeface="Times New Roman"/>
              </a:rPr>
              <a:t>Systems</a:t>
            </a:r>
            <a:r>
              <a:rPr sz="1800" spc="-75" dirty="0">
                <a:latin typeface="Times New Roman"/>
                <a:cs typeface="Times New Roman"/>
              </a:rPr>
              <a:t> </a:t>
            </a:r>
            <a:r>
              <a:rPr sz="1800" dirty="0">
                <a:latin typeface="Times New Roman"/>
                <a:cs typeface="Times New Roman"/>
              </a:rPr>
              <a:t>(VICS),</a:t>
            </a:r>
            <a:r>
              <a:rPr sz="1800" spc="-20" dirty="0">
                <a:latin typeface="Times New Roman"/>
                <a:cs typeface="Times New Roman"/>
              </a:rPr>
              <a:t> </a:t>
            </a:r>
            <a:r>
              <a:rPr sz="1800" spc="-25" dirty="0">
                <a:latin typeface="Times New Roman"/>
                <a:cs typeface="Times New Roman"/>
              </a:rPr>
              <a:t>On-</a:t>
            </a:r>
            <a:r>
              <a:rPr sz="1800" dirty="0">
                <a:latin typeface="Times New Roman"/>
                <a:cs typeface="Times New Roman"/>
              </a:rPr>
              <a:t>Board</a:t>
            </a:r>
            <a:r>
              <a:rPr sz="1800" spc="-30" dirty="0">
                <a:latin typeface="Times New Roman"/>
                <a:cs typeface="Times New Roman"/>
              </a:rPr>
              <a:t> </a:t>
            </a:r>
            <a:r>
              <a:rPr sz="1800" dirty="0">
                <a:latin typeface="Times New Roman"/>
                <a:cs typeface="Times New Roman"/>
              </a:rPr>
              <a:t>Units</a:t>
            </a:r>
            <a:r>
              <a:rPr sz="1800" spc="-50" dirty="0">
                <a:latin typeface="Times New Roman"/>
                <a:cs typeface="Times New Roman"/>
              </a:rPr>
              <a:t> </a:t>
            </a:r>
            <a:r>
              <a:rPr sz="1800" dirty="0">
                <a:latin typeface="Times New Roman"/>
                <a:cs typeface="Times New Roman"/>
              </a:rPr>
              <a:t>(OBUs)</a:t>
            </a:r>
            <a:r>
              <a:rPr sz="1800" spc="-20" dirty="0">
                <a:latin typeface="Times New Roman"/>
                <a:cs typeface="Times New Roman"/>
              </a:rPr>
              <a:t> </a:t>
            </a:r>
            <a:r>
              <a:rPr sz="1800" dirty="0">
                <a:latin typeface="Times New Roman"/>
                <a:cs typeface="Times New Roman"/>
              </a:rPr>
              <a:t>have</a:t>
            </a:r>
            <a:r>
              <a:rPr sz="1800" spc="-40" dirty="0">
                <a:latin typeface="Times New Roman"/>
                <a:cs typeface="Times New Roman"/>
              </a:rPr>
              <a:t> </a:t>
            </a:r>
            <a:r>
              <a:rPr sz="1800" dirty="0">
                <a:latin typeface="Times New Roman"/>
                <a:cs typeface="Times New Roman"/>
              </a:rPr>
              <a:t>become</a:t>
            </a:r>
            <a:r>
              <a:rPr sz="1800" spc="-25" dirty="0">
                <a:latin typeface="Times New Roman"/>
                <a:cs typeface="Times New Roman"/>
              </a:rPr>
              <a:t> </a:t>
            </a:r>
            <a:r>
              <a:rPr sz="1800" spc="-10" dirty="0">
                <a:latin typeface="Times New Roman"/>
                <a:cs typeface="Times New Roman"/>
              </a:rPr>
              <a:t>essential</a:t>
            </a:r>
            <a:r>
              <a:rPr sz="1800" spc="-65" dirty="0">
                <a:latin typeface="Times New Roman"/>
                <a:cs typeface="Times New Roman"/>
              </a:rPr>
              <a:t> </a:t>
            </a:r>
            <a:r>
              <a:rPr sz="1800" spc="-10" dirty="0">
                <a:latin typeface="Times New Roman"/>
                <a:cs typeface="Times New Roman"/>
              </a:rPr>
              <a:t>components</a:t>
            </a:r>
            <a:r>
              <a:rPr sz="1800" spc="-30" dirty="0">
                <a:latin typeface="Times New Roman"/>
                <a:cs typeface="Times New Roman"/>
              </a:rPr>
              <a:t> </a:t>
            </a:r>
            <a:r>
              <a:rPr sz="1800" dirty="0">
                <a:latin typeface="Times New Roman"/>
                <a:cs typeface="Times New Roman"/>
              </a:rPr>
              <a:t>within</a:t>
            </a:r>
            <a:r>
              <a:rPr sz="1800" spc="-60" dirty="0">
                <a:latin typeface="Times New Roman"/>
                <a:cs typeface="Times New Roman"/>
              </a:rPr>
              <a:t> </a:t>
            </a:r>
            <a:r>
              <a:rPr sz="1800" spc="-10" dirty="0">
                <a:latin typeface="Times New Roman"/>
                <a:cs typeface="Times New Roman"/>
              </a:rPr>
              <a:t>vehicles.</a:t>
            </a:r>
            <a:r>
              <a:rPr sz="1800" spc="-75" dirty="0">
                <a:latin typeface="Times New Roman"/>
                <a:cs typeface="Times New Roman"/>
              </a:rPr>
              <a:t> </a:t>
            </a:r>
            <a:r>
              <a:rPr sz="1800" dirty="0">
                <a:latin typeface="Times New Roman"/>
                <a:cs typeface="Times New Roman"/>
              </a:rPr>
              <a:t>OBUs</a:t>
            </a:r>
            <a:r>
              <a:rPr sz="1800" spc="-20" dirty="0">
                <a:latin typeface="Times New Roman"/>
                <a:cs typeface="Times New Roman"/>
              </a:rPr>
              <a:t> </a:t>
            </a:r>
            <a:r>
              <a:rPr sz="1800" dirty="0">
                <a:latin typeface="Times New Roman"/>
                <a:cs typeface="Times New Roman"/>
              </a:rPr>
              <a:t>are</a:t>
            </a:r>
            <a:r>
              <a:rPr sz="1800" spc="-55" dirty="0">
                <a:latin typeface="Times New Roman"/>
                <a:cs typeface="Times New Roman"/>
              </a:rPr>
              <a:t> </a:t>
            </a:r>
            <a:r>
              <a:rPr sz="1800" spc="-10" dirty="0">
                <a:latin typeface="Times New Roman"/>
                <a:cs typeface="Times New Roman"/>
              </a:rPr>
              <a:t>responsible</a:t>
            </a:r>
            <a:r>
              <a:rPr sz="1800" spc="-40" dirty="0">
                <a:latin typeface="Times New Roman"/>
                <a:cs typeface="Times New Roman"/>
              </a:rPr>
              <a:t> </a:t>
            </a:r>
            <a:r>
              <a:rPr sz="1800" spc="-25" dirty="0">
                <a:latin typeface="Times New Roman"/>
                <a:cs typeface="Times New Roman"/>
              </a:rPr>
              <a:t>for </a:t>
            </a:r>
            <a:r>
              <a:rPr sz="1800" dirty="0">
                <a:latin typeface="Times New Roman"/>
                <a:cs typeface="Times New Roman"/>
              </a:rPr>
              <a:t>collecting,</a:t>
            </a:r>
            <a:r>
              <a:rPr sz="1800" spc="-80" dirty="0">
                <a:latin typeface="Times New Roman"/>
                <a:cs typeface="Times New Roman"/>
              </a:rPr>
              <a:t> </a:t>
            </a:r>
            <a:r>
              <a:rPr sz="1800" dirty="0">
                <a:latin typeface="Times New Roman"/>
                <a:cs typeface="Times New Roman"/>
              </a:rPr>
              <a:t>processing,</a:t>
            </a:r>
            <a:r>
              <a:rPr sz="1800" spc="-3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transmitting</a:t>
            </a:r>
            <a:r>
              <a:rPr sz="1800" spc="-60" dirty="0">
                <a:latin typeface="Times New Roman"/>
                <a:cs typeface="Times New Roman"/>
              </a:rPr>
              <a:t> </a:t>
            </a:r>
            <a:r>
              <a:rPr sz="1800" spc="-10" dirty="0">
                <a:latin typeface="Times New Roman"/>
                <a:cs typeface="Times New Roman"/>
              </a:rPr>
              <a:t>vehicle-</a:t>
            </a:r>
            <a:r>
              <a:rPr sz="1800" dirty="0">
                <a:latin typeface="Times New Roman"/>
                <a:cs typeface="Times New Roman"/>
              </a:rPr>
              <a:t>side</a:t>
            </a:r>
            <a:r>
              <a:rPr sz="1800" spc="-65" dirty="0">
                <a:latin typeface="Times New Roman"/>
                <a:cs typeface="Times New Roman"/>
              </a:rPr>
              <a:t> </a:t>
            </a:r>
            <a:r>
              <a:rPr sz="1800" dirty="0">
                <a:latin typeface="Times New Roman"/>
                <a:cs typeface="Times New Roman"/>
              </a:rPr>
              <a:t>information</a:t>
            </a:r>
            <a:r>
              <a:rPr sz="1800" spc="-40" dirty="0">
                <a:latin typeface="Times New Roman"/>
                <a:cs typeface="Times New Roman"/>
              </a:rPr>
              <a:t> </a:t>
            </a:r>
            <a:r>
              <a:rPr sz="1800" dirty="0">
                <a:latin typeface="Times New Roman"/>
                <a:cs typeface="Times New Roman"/>
              </a:rPr>
              <a:t>to</a:t>
            </a:r>
            <a:r>
              <a:rPr sz="1800" spc="-10" dirty="0">
                <a:latin typeface="Times New Roman"/>
                <a:cs typeface="Times New Roman"/>
              </a:rPr>
              <a:t> </a:t>
            </a:r>
            <a:r>
              <a:rPr sz="1800" dirty="0">
                <a:latin typeface="Times New Roman"/>
                <a:cs typeface="Times New Roman"/>
              </a:rPr>
              <a:t>external</a:t>
            </a:r>
            <a:r>
              <a:rPr sz="1800" spc="-50" dirty="0">
                <a:latin typeface="Times New Roman"/>
                <a:cs typeface="Times New Roman"/>
              </a:rPr>
              <a:t> </a:t>
            </a:r>
            <a:r>
              <a:rPr sz="1800" dirty="0">
                <a:latin typeface="Times New Roman"/>
                <a:cs typeface="Times New Roman"/>
              </a:rPr>
              <a:t>systems</a:t>
            </a:r>
            <a:r>
              <a:rPr sz="1800" spc="-60" dirty="0">
                <a:latin typeface="Times New Roman"/>
                <a:cs typeface="Times New Roman"/>
              </a:rPr>
              <a:t> </a:t>
            </a:r>
            <a:r>
              <a:rPr sz="1800" dirty="0">
                <a:latin typeface="Times New Roman"/>
                <a:cs typeface="Times New Roman"/>
              </a:rPr>
              <a:t>for</a:t>
            </a:r>
            <a:r>
              <a:rPr sz="1800" spc="-25" dirty="0">
                <a:latin typeface="Times New Roman"/>
                <a:cs typeface="Times New Roman"/>
              </a:rPr>
              <a:t> </a:t>
            </a:r>
            <a:r>
              <a:rPr sz="1800" spc="-10" dirty="0">
                <a:latin typeface="Times New Roman"/>
                <a:cs typeface="Times New Roman"/>
              </a:rPr>
              <a:t>real-</a:t>
            </a:r>
            <a:r>
              <a:rPr sz="1800" dirty="0">
                <a:latin typeface="Times New Roman"/>
                <a:cs typeface="Times New Roman"/>
              </a:rPr>
              <a:t>time</a:t>
            </a:r>
            <a:r>
              <a:rPr sz="1800" spc="-35" dirty="0">
                <a:latin typeface="Times New Roman"/>
                <a:cs typeface="Times New Roman"/>
              </a:rPr>
              <a:t> </a:t>
            </a:r>
            <a:r>
              <a:rPr sz="1800" spc="-10" dirty="0">
                <a:latin typeface="Times New Roman"/>
                <a:cs typeface="Times New Roman"/>
              </a:rPr>
              <a:t>coordination.</a:t>
            </a:r>
            <a:r>
              <a:rPr sz="1800" spc="-100" dirty="0">
                <a:latin typeface="Times New Roman"/>
                <a:cs typeface="Times New Roman"/>
              </a:rPr>
              <a:t> </a:t>
            </a:r>
            <a:r>
              <a:rPr sz="1800" dirty="0">
                <a:latin typeface="Times New Roman"/>
                <a:cs typeface="Times New Roman"/>
              </a:rPr>
              <a:t>To</a:t>
            </a:r>
            <a:r>
              <a:rPr sz="1800" spc="-40" dirty="0">
                <a:latin typeface="Times New Roman"/>
                <a:cs typeface="Times New Roman"/>
              </a:rPr>
              <a:t> </a:t>
            </a:r>
            <a:r>
              <a:rPr sz="1800" spc="-10" dirty="0">
                <a:latin typeface="Times New Roman"/>
                <a:cs typeface="Times New Roman"/>
              </a:rPr>
              <a:t>ensure </a:t>
            </a:r>
            <a:r>
              <a:rPr sz="1800" dirty="0">
                <a:latin typeface="Times New Roman"/>
                <a:cs typeface="Times New Roman"/>
              </a:rPr>
              <a:t>high</a:t>
            </a:r>
            <a:r>
              <a:rPr sz="1800" spc="-50" dirty="0">
                <a:latin typeface="Times New Roman"/>
                <a:cs typeface="Times New Roman"/>
              </a:rPr>
              <a:t> </a:t>
            </a:r>
            <a:r>
              <a:rPr sz="1800" spc="-10" dirty="0">
                <a:latin typeface="Times New Roman"/>
                <a:cs typeface="Times New Roman"/>
              </a:rPr>
              <a:t>performance</a:t>
            </a:r>
            <a:r>
              <a:rPr sz="1800" spc="-40"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reliable</a:t>
            </a:r>
            <a:r>
              <a:rPr sz="1800" spc="-65" dirty="0">
                <a:latin typeface="Times New Roman"/>
                <a:cs typeface="Times New Roman"/>
              </a:rPr>
              <a:t> </a:t>
            </a:r>
            <a:r>
              <a:rPr sz="1800" spc="-10" dirty="0">
                <a:latin typeface="Times New Roman"/>
                <a:cs typeface="Times New Roman"/>
              </a:rPr>
              <a:t>communication,</a:t>
            </a:r>
            <a:r>
              <a:rPr sz="1800" spc="-60" dirty="0">
                <a:latin typeface="Times New Roman"/>
                <a:cs typeface="Times New Roman"/>
              </a:rPr>
              <a:t> </a:t>
            </a:r>
            <a:r>
              <a:rPr sz="1800" dirty="0">
                <a:latin typeface="Times New Roman"/>
                <a:cs typeface="Times New Roman"/>
              </a:rPr>
              <a:t>it</a:t>
            </a:r>
            <a:r>
              <a:rPr sz="1800" spc="-50" dirty="0">
                <a:latin typeface="Times New Roman"/>
                <a:cs typeface="Times New Roman"/>
              </a:rPr>
              <a:t> </a:t>
            </a:r>
            <a:r>
              <a:rPr sz="1800" dirty="0">
                <a:latin typeface="Times New Roman"/>
                <a:cs typeface="Times New Roman"/>
              </a:rPr>
              <a:t>is</a:t>
            </a:r>
            <a:r>
              <a:rPr sz="1800" spc="-50" dirty="0">
                <a:latin typeface="Times New Roman"/>
                <a:cs typeface="Times New Roman"/>
              </a:rPr>
              <a:t> </a:t>
            </a:r>
            <a:r>
              <a:rPr sz="1800" dirty="0">
                <a:latin typeface="Times New Roman"/>
                <a:cs typeface="Times New Roman"/>
              </a:rPr>
              <a:t>crucial</a:t>
            </a:r>
            <a:r>
              <a:rPr sz="1800" spc="-60" dirty="0">
                <a:latin typeface="Times New Roman"/>
                <a:cs typeface="Times New Roman"/>
              </a:rPr>
              <a:t> </a:t>
            </a:r>
            <a:r>
              <a:rPr sz="1800" dirty="0">
                <a:latin typeface="Times New Roman"/>
                <a:cs typeface="Times New Roman"/>
              </a:rPr>
              <a:t>to</a:t>
            </a:r>
            <a:r>
              <a:rPr sz="1800" spc="-50" dirty="0">
                <a:latin typeface="Times New Roman"/>
                <a:cs typeface="Times New Roman"/>
              </a:rPr>
              <a:t> </a:t>
            </a:r>
            <a:r>
              <a:rPr sz="1800" dirty="0">
                <a:latin typeface="Times New Roman"/>
                <a:cs typeface="Times New Roman"/>
              </a:rPr>
              <a:t>analyze</a:t>
            </a:r>
            <a:r>
              <a:rPr sz="1800" spc="-95"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dirty="0">
                <a:latin typeface="Times New Roman"/>
                <a:cs typeface="Times New Roman"/>
              </a:rPr>
              <a:t>optimize</a:t>
            </a:r>
            <a:r>
              <a:rPr sz="1800" spc="-40"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spc="-10" dirty="0">
                <a:latin typeface="Times New Roman"/>
                <a:cs typeface="Times New Roman"/>
              </a:rPr>
              <a:t>computational</a:t>
            </a:r>
            <a:r>
              <a:rPr sz="1800" spc="-60" dirty="0">
                <a:latin typeface="Times New Roman"/>
                <a:cs typeface="Times New Roman"/>
              </a:rPr>
              <a:t> </a:t>
            </a:r>
            <a:r>
              <a:rPr sz="1800" dirty="0">
                <a:latin typeface="Times New Roman"/>
                <a:cs typeface="Times New Roman"/>
              </a:rPr>
              <a:t>and</a:t>
            </a:r>
            <a:r>
              <a:rPr sz="1800" spc="-45" dirty="0">
                <a:latin typeface="Times New Roman"/>
                <a:cs typeface="Times New Roman"/>
              </a:rPr>
              <a:t> </a:t>
            </a:r>
            <a:r>
              <a:rPr sz="1800" spc="-10" dirty="0">
                <a:latin typeface="Times New Roman"/>
                <a:cs typeface="Times New Roman"/>
              </a:rPr>
              <a:t>communication capabilities</a:t>
            </a:r>
            <a:r>
              <a:rPr sz="1800" spc="-100" dirty="0">
                <a:latin typeface="Times New Roman"/>
                <a:cs typeface="Times New Roman"/>
              </a:rPr>
              <a:t> </a:t>
            </a:r>
            <a:r>
              <a:rPr sz="1800" dirty="0">
                <a:latin typeface="Times New Roman"/>
                <a:cs typeface="Times New Roman"/>
              </a:rPr>
              <a:t>of</a:t>
            </a:r>
            <a:r>
              <a:rPr sz="1800" spc="-55" dirty="0">
                <a:latin typeface="Times New Roman"/>
                <a:cs typeface="Times New Roman"/>
              </a:rPr>
              <a:t> </a:t>
            </a:r>
            <a:r>
              <a:rPr sz="1800" dirty="0">
                <a:latin typeface="Times New Roman"/>
                <a:cs typeface="Times New Roman"/>
              </a:rPr>
              <a:t>these</a:t>
            </a:r>
            <a:r>
              <a:rPr sz="1800" spc="-60" dirty="0">
                <a:latin typeface="Times New Roman"/>
                <a:cs typeface="Times New Roman"/>
              </a:rPr>
              <a:t> </a:t>
            </a:r>
            <a:r>
              <a:rPr sz="1800" dirty="0">
                <a:latin typeface="Times New Roman"/>
                <a:cs typeface="Times New Roman"/>
              </a:rPr>
              <a:t>units.</a:t>
            </a:r>
            <a:r>
              <a:rPr sz="1800" spc="-95" dirty="0">
                <a:latin typeface="Times New Roman"/>
                <a:cs typeface="Times New Roman"/>
              </a:rPr>
              <a:t> </a:t>
            </a:r>
            <a:r>
              <a:rPr sz="1800" dirty="0">
                <a:latin typeface="Times New Roman"/>
                <a:cs typeface="Times New Roman"/>
              </a:rPr>
              <a:t>This</a:t>
            </a:r>
            <a:r>
              <a:rPr sz="1800" spc="-80" dirty="0">
                <a:latin typeface="Times New Roman"/>
                <a:cs typeface="Times New Roman"/>
              </a:rPr>
              <a:t> </a:t>
            </a:r>
            <a:r>
              <a:rPr sz="1800" dirty="0">
                <a:latin typeface="Times New Roman"/>
                <a:cs typeface="Times New Roman"/>
              </a:rPr>
              <a:t>project,</a:t>
            </a:r>
            <a:r>
              <a:rPr sz="1800" spc="-80" dirty="0">
                <a:latin typeface="Times New Roman"/>
                <a:cs typeface="Times New Roman"/>
              </a:rPr>
              <a:t> </a:t>
            </a:r>
            <a:r>
              <a:rPr sz="1800" dirty="0">
                <a:latin typeface="Times New Roman"/>
                <a:cs typeface="Times New Roman"/>
              </a:rPr>
              <a:t>titled</a:t>
            </a:r>
            <a:r>
              <a:rPr sz="1800" spc="-55" dirty="0">
                <a:latin typeface="Times New Roman"/>
                <a:cs typeface="Times New Roman"/>
              </a:rPr>
              <a:t> </a:t>
            </a:r>
            <a:r>
              <a:rPr sz="1800" dirty="0">
                <a:latin typeface="Times New Roman"/>
                <a:cs typeface="Times New Roman"/>
              </a:rPr>
              <a:t>“Capability</a:t>
            </a:r>
            <a:r>
              <a:rPr sz="1800" spc="-70" dirty="0">
                <a:latin typeface="Times New Roman"/>
                <a:cs typeface="Times New Roman"/>
              </a:rPr>
              <a:t> </a:t>
            </a:r>
            <a:r>
              <a:rPr sz="1800" dirty="0">
                <a:latin typeface="Times New Roman"/>
                <a:cs typeface="Times New Roman"/>
              </a:rPr>
              <a:t>Profiling</a:t>
            </a:r>
            <a:r>
              <a:rPr sz="1800" spc="-75" dirty="0">
                <a:latin typeface="Times New Roman"/>
                <a:cs typeface="Times New Roman"/>
              </a:rPr>
              <a:t> </a:t>
            </a:r>
            <a:r>
              <a:rPr sz="1800" dirty="0">
                <a:latin typeface="Times New Roman"/>
                <a:cs typeface="Times New Roman"/>
              </a:rPr>
              <a:t>and</a:t>
            </a:r>
            <a:r>
              <a:rPr sz="1800" spc="-60" dirty="0">
                <a:latin typeface="Times New Roman"/>
                <a:cs typeface="Times New Roman"/>
              </a:rPr>
              <a:t> </a:t>
            </a:r>
            <a:r>
              <a:rPr sz="1800" dirty="0">
                <a:latin typeface="Times New Roman"/>
                <a:cs typeface="Times New Roman"/>
              </a:rPr>
              <a:t>Optimization</a:t>
            </a:r>
            <a:r>
              <a:rPr sz="1800" spc="-55" dirty="0">
                <a:latin typeface="Times New Roman"/>
                <a:cs typeface="Times New Roman"/>
              </a:rPr>
              <a:t> </a:t>
            </a:r>
            <a:r>
              <a:rPr sz="1800" dirty="0">
                <a:latin typeface="Times New Roman"/>
                <a:cs typeface="Times New Roman"/>
              </a:rPr>
              <a:t>for</a:t>
            </a:r>
            <a:r>
              <a:rPr sz="1800" spc="-110" dirty="0">
                <a:latin typeface="Times New Roman"/>
                <a:cs typeface="Times New Roman"/>
              </a:rPr>
              <a:t> </a:t>
            </a:r>
            <a:r>
              <a:rPr sz="1800" spc="-20" dirty="0">
                <a:latin typeface="Times New Roman"/>
                <a:cs typeface="Times New Roman"/>
              </a:rPr>
              <a:t>Vehicle</a:t>
            </a:r>
            <a:r>
              <a:rPr sz="1800" spc="-60" dirty="0">
                <a:latin typeface="Times New Roman"/>
                <a:cs typeface="Times New Roman"/>
              </a:rPr>
              <a:t> </a:t>
            </a:r>
            <a:r>
              <a:rPr sz="1800" spc="-10" dirty="0">
                <a:latin typeface="Times New Roman"/>
                <a:cs typeface="Times New Roman"/>
              </a:rPr>
              <a:t>On-</a:t>
            </a:r>
            <a:r>
              <a:rPr sz="1800" dirty="0">
                <a:latin typeface="Times New Roman"/>
                <a:cs typeface="Times New Roman"/>
              </a:rPr>
              <a:t>Board</a:t>
            </a:r>
            <a:r>
              <a:rPr sz="1800" spc="-65" dirty="0">
                <a:latin typeface="Times New Roman"/>
                <a:cs typeface="Times New Roman"/>
              </a:rPr>
              <a:t> </a:t>
            </a:r>
            <a:r>
              <a:rPr sz="1800" dirty="0">
                <a:latin typeface="Times New Roman"/>
                <a:cs typeface="Times New Roman"/>
              </a:rPr>
              <a:t>Units,”</a:t>
            </a:r>
            <a:r>
              <a:rPr sz="1800" spc="-40" dirty="0">
                <a:latin typeface="Times New Roman"/>
                <a:cs typeface="Times New Roman"/>
              </a:rPr>
              <a:t> </a:t>
            </a:r>
            <a:r>
              <a:rPr sz="1800" spc="-10" dirty="0">
                <a:latin typeface="Times New Roman"/>
                <a:cs typeface="Times New Roman"/>
              </a:rPr>
              <a:t>focuses </a:t>
            </a:r>
            <a:r>
              <a:rPr sz="1800" dirty="0">
                <a:latin typeface="Times New Roman"/>
                <a:cs typeface="Times New Roman"/>
              </a:rPr>
              <a:t>on</a:t>
            </a:r>
            <a:r>
              <a:rPr sz="1800" spc="-60" dirty="0">
                <a:latin typeface="Times New Roman"/>
                <a:cs typeface="Times New Roman"/>
              </a:rPr>
              <a:t> </a:t>
            </a:r>
            <a:r>
              <a:rPr sz="1800" dirty="0">
                <a:latin typeface="Times New Roman"/>
                <a:cs typeface="Times New Roman"/>
              </a:rPr>
              <a:t>evaluating</a:t>
            </a:r>
            <a:r>
              <a:rPr sz="1800" spc="-85" dirty="0">
                <a:latin typeface="Times New Roman"/>
                <a:cs typeface="Times New Roman"/>
              </a:rPr>
              <a:t> </a:t>
            </a:r>
            <a:r>
              <a:rPr sz="1800" dirty="0">
                <a:latin typeface="Times New Roman"/>
                <a:cs typeface="Times New Roman"/>
              </a:rPr>
              <a:t>the</a:t>
            </a:r>
            <a:r>
              <a:rPr sz="1800" spc="-55" dirty="0">
                <a:latin typeface="Times New Roman"/>
                <a:cs typeface="Times New Roman"/>
              </a:rPr>
              <a:t> </a:t>
            </a:r>
            <a:r>
              <a:rPr sz="1800" spc="-10" dirty="0">
                <a:latin typeface="Times New Roman"/>
                <a:cs typeface="Times New Roman"/>
              </a:rPr>
              <a:t>performance</a:t>
            </a:r>
            <a:r>
              <a:rPr sz="1800" spc="-55" dirty="0">
                <a:latin typeface="Times New Roman"/>
                <a:cs typeface="Times New Roman"/>
              </a:rPr>
              <a:t> </a:t>
            </a:r>
            <a:r>
              <a:rPr sz="1800" spc="-10" dirty="0">
                <a:latin typeface="Times New Roman"/>
                <a:cs typeface="Times New Roman"/>
              </a:rPr>
              <a:t>characteristics</a:t>
            </a:r>
            <a:r>
              <a:rPr sz="1800" spc="-90" dirty="0">
                <a:latin typeface="Times New Roman"/>
                <a:cs typeface="Times New Roman"/>
              </a:rPr>
              <a:t> </a:t>
            </a:r>
            <a:r>
              <a:rPr sz="1800" dirty="0">
                <a:latin typeface="Times New Roman"/>
                <a:cs typeface="Times New Roman"/>
              </a:rPr>
              <a:t>of</a:t>
            </a:r>
            <a:r>
              <a:rPr sz="1800" spc="-40" dirty="0">
                <a:latin typeface="Times New Roman"/>
                <a:cs typeface="Times New Roman"/>
              </a:rPr>
              <a:t> </a:t>
            </a:r>
            <a:r>
              <a:rPr sz="1800" dirty="0">
                <a:latin typeface="Times New Roman"/>
                <a:cs typeface="Times New Roman"/>
              </a:rPr>
              <a:t>OBUs,</a:t>
            </a:r>
            <a:r>
              <a:rPr sz="1800" spc="-45" dirty="0">
                <a:latin typeface="Times New Roman"/>
                <a:cs typeface="Times New Roman"/>
              </a:rPr>
              <a:t> </a:t>
            </a:r>
            <a:r>
              <a:rPr sz="1800" dirty="0">
                <a:latin typeface="Times New Roman"/>
                <a:cs typeface="Times New Roman"/>
              </a:rPr>
              <a:t>identifying</a:t>
            </a:r>
            <a:r>
              <a:rPr sz="1800" spc="-114" dirty="0">
                <a:latin typeface="Times New Roman"/>
                <a:cs typeface="Times New Roman"/>
              </a:rPr>
              <a:t> </a:t>
            </a:r>
            <a:r>
              <a:rPr sz="1800" dirty="0">
                <a:latin typeface="Times New Roman"/>
                <a:cs typeface="Times New Roman"/>
              </a:rPr>
              <a:t>potential</a:t>
            </a:r>
            <a:r>
              <a:rPr sz="1800" spc="-75" dirty="0">
                <a:latin typeface="Times New Roman"/>
                <a:cs typeface="Times New Roman"/>
              </a:rPr>
              <a:t> </a:t>
            </a:r>
            <a:r>
              <a:rPr sz="1800" dirty="0">
                <a:latin typeface="Times New Roman"/>
                <a:cs typeface="Times New Roman"/>
              </a:rPr>
              <a:t>bottlenecks,</a:t>
            </a:r>
            <a:r>
              <a:rPr sz="1800" spc="-90" dirty="0">
                <a:latin typeface="Times New Roman"/>
                <a:cs typeface="Times New Roman"/>
              </a:rPr>
              <a:t> </a:t>
            </a:r>
            <a:r>
              <a:rPr sz="1800" dirty="0">
                <a:latin typeface="Times New Roman"/>
                <a:cs typeface="Times New Roman"/>
              </a:rPr>
              <a:t>and</a:t>
            </a:r>
            <a:r>
              <a:rPr sz="1800" spc="-50" dirty="0">
                <a:latin typeface="Times New Roman"/>
                <a:cs typeface="Times New Roman"/>
              </a:rPr>
              <a:t> </a:t>
            </a:r>
            <a:r>
              <a:rPr sz="1800" spc="-10" dirty="0">
                <a:latin typeface="Times New Roman"/>
                <a:cs typeface="Times New Roman"/>
              </a:rPr>
              <a:t>implementing optimization </a:t>
            </a:r>
            <a:r>
              <a:rPr sz="1800" dirty="0">
                <a:latin typeface="Times New Roman"/>
                <a:cs typeface="Times New Roman"/>
              </a:rPr>
              <a:t>strategies</a:t>
            </a:r>
            <a:r>
              <a:rPr sz="1800" spc="-110" dirty="0">
                <a:latin typeface="Times New Roman"/>
                <a:cs typeface="Times New Roman"/>
              </a:rPr>
              <a:t> </a:t>
            </a:r>
            <a:r>
              <a:rPr sz="1800" dirty="0">
                <a:latin typeface="Times New Roman"/>
                <a:cs typeface="Times New Roman"/>
              </a:rPr>
              <a:t>to</a:t>
            </a:r>
            <a:r>
              <a:rPr sz="1800" spc="-50" dirty="0">
                <a:latin typeface="Times New Roman"/>
                <a:cs typeface="Times New Roman"/>
              </a:rPr>
              <a:t> </a:t>
            </a:r>
            <a:r>
              <a:rPr sz="1800" dirty="0">
                <a:latin typeface="Times New Roman"/>
                <a:cs typeface="Times New Roman"/>
              </a:rPr>
              <a:t>improve</a:t>
            </a:r>
            <a:r>
              <a:rPr sz="1800" spc="-25" dirty="0">
                <a:latin typeface="Times New Roman"/>
                <a:cs typeface="Times New Roman"/>
              </a:rPr>
              <a:t> </a:t>
            </a:r>
            <a:r>
              <a:rPr sz="1800" dirty="0">
                <a:latin typeface="Times New Roman"/>
                <a:cs typeface="Times New Roman"/>
              </a:rPr>
              <a:t>their</a:t>
            </a:r>
            <a:r>
              <a:rPr sz="1800" spc="-70" dirty="0">
                <a:latin typeface="Times New Roman"/>
                <a:cs typeface="Times New Roman"/>
              </a:rPr>
              <a:t> </a:t>
            </a:r>
            <a:r>
              <a:rPr sz="1800" spc="-30" dirty="0">
                <a:latin typeface="Times New Roman"/>
                <a:cs typeface="Times New Roman"/>
              </a:rPr>
              <a:t>efficiency.</a:t>
            </a:r>
            <a:r>
              <a:rPr sz="1800" spc="-120" dirty="0">
                <a:latin typeface="Times New Roman"/>
                <a:cs typeface="Times New Roman"/>
              </a:rPr>
              <a:t> </a:t>
            </a:r>
            <a:r>
              <a:rPr sz="1800" dirty="0">
                <a:latin typeface="Times New Roman"/>
                <a:cs typeface="Times New Roman"/>
              </a:rPr>
              <a:t>The</a:t>
            </a:r>
            <a:r>
              <a:rPr sz="1800" spc="-45" dirty="0">
                <a:latin typeface="Times New Roman"/>
                <a:cs typeface="Times New Roman"/>
              </a:rPr>
              <a:t> </a:t>
            </a:r>
            <a:r>
              <a:rPr sz="1800" dirty="0">
                <a:latin typeface="Times New Roman"/>
                <a:cs typeface="Times New Roman"/>
              </a:rPr>
              <a:t>ultimate</a:t>
            </a:r>
            <a:r>
              <a:rPr sz="1800" spc="-60" dirty="0">
                <a:latin typeface="Times New Roman"/>
                <a:cs typeface="Times New Roman"/>
              </a:rPr>
              <a:t> </a:t>
            </a:r>
            <a:r>
              <a:rPr sz="1800" dirty="0">
                <a:latin typeface="Times New Roman"/>
                <a:cs typeface="Times New Roman"/>
              </a:rPr>
              <a:t>goal</a:t>
            </a:r>
            <a:r>
              <a:rPr sz="1800" spc="-30" dirty="0">
                <a:latin typeface="Times New Roman"/>
                <a:cs typeface="Times New Roman"/>
              </a:rPr>
              <a:t> </a:t>
            </a:r>
            <a:r>
              <a:rPr sz="1800" dirty="0">
                <a:latin typeface="Times New Roman"/>
                <a:cs typeface="Times New Roman"/>
              </a:rPr>
              <a:t>is</a:t>
            </a:r>
            <a:r>
              <a:rPr sz="1800" spc="-55" dirty="0">
                <a:latin typeface="Times New Roman"/>
                <a:cs typeface="Times New Roman"/>
              </a:rPr>
              <a:t> </a:t>
            </a:r>
            <a:r>
              <a:rPr sz="1800" dirty="0">
                <a:latin typeface="Times New Roman"/>
                <a:cs typeface="Times New Roman"/>
              </a:rPr>
              <a:t>to</a:t>
            </a:r>
            <a:r>
              <a:rPr sz="1800" spc="-50" dirty="0">
                <a:latin typeface="Times New Roman"/>
                <a:cs typeface="Times New Roman"/>
              </a:rPr>
              <a:t> </a:t>
            </a:r>
            <a:r>
              <a:rPr sz="1800" dirty="0">
                <a:latin typeface="Times New Roman"/>
                <a:cs typeface="Times New Roman"/>
              </a:rPr>
              <a:t>enhance</a:t>
            </a:r>
            <a:r>
              <a:rPr sz="1800" spc="-65"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spc="-10" dirty="0">
                <a:latin typeface="Times New Roman"/>
                <a:cs typeface="Times New Roman"/>
              </a:rPr>
              <a:t>responsiveness,</a:t>
            </a:r>
            <a:r>
              <a:rPr sz="1800" spc="-20" dirty="0">
                <a:latin typeface="Times New Roman"/>
                <a:cs typeface="Times New Roman"/>
              </a:rPr>
              <a:t> reliability,</a:t>
            </a:r>
            <a:r>
              <a:rPr sz="1800" spc="-105"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safety</a:t>
            </a:r>
            <a:r>
              <a:rPr sz="1800" spc="-40" dirty="0">
                <a:latin typeface="Times New Roman"/>
                <a:cs typeface="Times New Roman"/>
              </a:rPr>
              <a:t> </a:t>
            </a:r>
            <a:r>
              <a:rPr sz="1800" dirty="0">
                <a:latin typeface="Times New Roman"/>
                <a:cs typeface="Times New Roman"/>
              </a:rPr>
              <a:t>of</a:t>
            </a:r>
            <a:r>
              <a:rPr sz="1800" spc="-60" dirty="0">
                <a:latin typeface="Times New Roman"/>
                <a:cs typeface="Times New Roman"/>
              </a:rPr>
              <a:t> </a:t>
            </a:r>
            <a:r>
              <a:rPr sz="1800" spc="-10" dirty="0">
                <a:latin typeface="Times New Roman"/>
                <a:cs typeface="Times New Roman"/>
              </a:rPr>
              <a:t>intelligent transportation</a:t>
            </a:r>
            <a:r>
              <a:rPr sz="1800" dirty="0">
                <a:latin typeface="Times New Roman"/>
                <a:cs typeface="Times New Roman"/>
              </a:rPr>
              <a:t> </a:t>
            </a:r>
            <a:r>
              <a:rPr sz="1800" spc="-10" dirty="0">
                <a:latin typeface="Times New Roman"/>
                <a:cs typeface="Times New Roman"/>
              </a:rPr>
              <a:t>systems.</a:t>
            </a:r>
            <a:endParaRPr sz="18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9867" rIns="0" bIns="0" rtlCol="0">
            <a:spAutoFit/>
          </a:bodyPr>
          <a:lstStyle/>
          <a:p>
            <a:pPr marL="2176780">
              <a:lnSpc>
                <a:spcPct val="100000"/>
              </a:lnSpc>
              <a:spcBef>
                <a:spcPts val="95"/>
              </a:spcBef>
            </a:pPr>
            <a:r>
              <a:rPr spc="-60" dirty="0"/>
              <a:t>MOTIVATION</a:t>
            </a:r>
          </a:p>
        </p:txBody>
      </p:sp>
      <p:sp>
        <p:nvSpPr>
          <p:cNvPr id="3" name="object 3"/>
          <p:cNvSpPr txBox="1"/>
          <p:nvPr/>
        </p:nvSpPr>
        <p:spPr>
          <a:xfrm>
            <a:off x="2361945" y="1589913"/>
            <a:ext cx="6402705" cy="2952115"/>
          </a:xfrm>
          <a:prstGeom prst="rect">
            <a:avLst/>
          </a:prstGeom>
        </p:spPr>
        <p:txBody>
          <a:bodyPr vert="horz" wrap="square" lIns="0" tIns="12700" rIns="0" bIns="0" rtlCol="0">
            <a:spAutoFit/>
          </a:bodyPr>
          <a:lstStyle/>
          <a:p>
            <a:pPr marL="299085" indent="-286385">
              <a:lnSpc>
                <a:spcPct val="100000"/>
              </a:lnSpc>
              <a:spcBef>
                <a:spcPts val="100"/>
              </a:spcBef>
              <a:buFont typeface="Wingdings"/>
              <a:buChar char=""/>
              <a:tabLst>
                <a:tab pos="299085" algn="l"/>
              </a:tabLst>
            </a:pPr>
            <a:r>
              <a:rPr sz="2400" spc="-25" dirty="0">
                <a:latin typeface="Times New Roman"/>
                <a:cs typeface="Times New Roman"/>
              </a:rPr>
              <a:t>Data-</a:t>
            </a:r>
            <a:r>
              <a:rPr sz="2400" dirty="0">
                <a:latin typeface="Times New Roman"/>
                <a:cs typeface="Times New Roman"/>
              </a:rPr>
              <a:t>Driven</a:t>
            </a:r>
            <a:r>
              <a:rPr sz="2400" spc="-155" dirty="0">
                <a:latin typeface="Times New Roman"/>
                <a:cs typeface="Times New Roman"/>
              </a:rPr>
              <a:t> </a:t>
            </a:r>
            <a:r>
              <a:rPr sz="2400" dirty="0">
                <a:latin typeface="Times New Roman"/>
                <a:cs typeface="Times New Roman"/>
              </a:rPr>
              <a:t>Automotive</a:t>
            </a:r>
            <a:r>
              <a:rPr sz="2400" spc="15" dirty="0">
                <a:latin typeface="Times New Roman"/>
                <a:cs typeface="Times New Roman"/>
              </a:rPr>
              <a:t> </a:t>
            </a:r>
            <a:r>
              <a:rPr sz="2400" spc="-10" dirty="0">
                <a:latin typeface="Times New Roman"/>
                <a:cs typeface="Times New Roman"/>
              </a:rPr>
              <a:t>Innovation</a:t>
            </a:r>
            <a:endParaRPr sz="2400">
              <a:latin typeface="Times New Roman"/>
              <a:cs typeface="Times New Roman"/>
            </a:endParaRPr>
          </a:p>
          <a:p>
            <a:pPr marL="299085" indent="-286385">
              <a:lnSpc>
                <a:spcPct val="100000"/>
              </a:lnSpc>
              <a:buFont typeface="Wingdings"/>
              <a:buChar char=""/>
              <a:tabLst>
                <a:tab pos="299085" algn="l"/>
              </a:tabLst>
            </a:pPr>
            <a:r>
              <a:rPr sz="2400" dirty="0">
                <a:latin typeface="Times New Roman"/>
                <a:cs typeface="Times New Roman"/>
              </a:rPr>
              <a:t>Need</a:t>
            </a:r>
            <a:r>
              <a:rPr sz="2400" spc="-3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Intelligent</a:t>
            </a:r>
            <a:r>
              <a:rPr sz="2400" spc="-100" dirty="0">
                <a:latin typeface="Times New Roman"/>
                <a:cs typeface="Times New Roman"/>
              </a:rPr>
              <a:t> </a:t>
            </a:r>
            <a:r>
              <a:rPr sz="2400" dirty="0">
                <a:latin typeface="Times New Roman"/>
                <a:cs typeface="Times New Roman"/>
              </a:rPr>
              <a:t>Data</a:t>
            </a:r>
            <a:r>
              <a:rPr sz="2400" spc="-155" dirty="0">
                <a:latin typeface="Times New Roman"/>
                <a:cs typeface="Times New Roman"/>
              </a:rPr>
              <a:t> </a:t>
            </a:r>
            <a:r>
              <a:rPr sz="2400" spc="-10" dirty="0">
                <a:latin typeface="Times New Roman"/>
                <a:cs typeface="Times New Roman"/>
              </a:rPr>
              <a:t>Analysis</a:t>
            </a:r>
            <a:endParaRPr sz="2400">
              <a:latin typeface="Times New Roman"/>
              <a:cs typeface="Times New Roman"/>
            </a:endParaRPr>
          </a:p>
          <a:p>
            <a:pPr marL="299085" indent="-286385">
              <a:lnSpc>
                <a:spcPct val="100000"/>
              </a:lnSpc>
              <a:buFont typeface="Wingdings"/>
              <a:buChar char=""/>
              <a:tabLst>
                <a:tab pos="299085" algn="l"/>
              </a:tabLst>
            </a:pPr>
            <a:r>
              <a:rPr sz="2400" dirty="0">
                <a:latin typeface="Times New Roman"/>
                <a:cs typeface="Times New Roman"/>
              </a:rPr>
              <a:t>Predictive</a:t>
            </a:r>
            <a:r>
              <a:rPr sz="2400" spc="-70" dirty="0">
                <a:latin typeface="Times New Roman"/>
                <a:cs typeface="Times New Roman"/>
              </a:rPr>
              <a:t> </a:t>
            </a:r>
            <a:r>
              <a:rPr sz="2400" dirty="0">
                <a:latin typeface="Times New Roman"/>
                <a:cs typeface="Times New Roman"/>
              </a:rPr>
              <a:t>Maintenance</a:t>
            </a:r>
            <a:r>
              <a:rPr sz="2400" spc="-80" dirty="0">
                <a:latin typeface="Times New Roman"/>
                <a:cs typeface="Times New Roman"/>
              </a:rPr>
              <a:t> </a:t>
            </a:r>
            <a:r>
              <a:rPr sz="2400" dirty="0">
                <a:latin typeface="Times New Roman"/>
                <a:cs typeface="Times New Roman"/>
              </a:rPr>
              <a:t>and</a:t>
            </a:r>
            <a:r>
              <a:rPr sz="2400" spc="-20" dirty="0">
                <a:latin typeface="Times New Roman"/>
                <a:cs typeface="Times New Roman"/>
              </a:rPr>
              <a:t> </a:t>
            </a:r>
            <a:r>
              <a:rPr sz="2400" spc="-10" dirty="0">
                <a:latin typeface="Times New Roman"/>
                <a:cs typeface="Times New Roman"/>
              </a:rPr>
              <a:t>Efficiency</a:t>
            </a:r>
            <a:endParaRPr sz="2400">
              <a:latin typeface="Times New Roman"/>
              <a:cs typeface="Times New Roman"/>
            </a:endParaRPr>
          </a:p>
          <a:p>
            <a:pPr marL="299085" indent="-286385">
              <a:lnSpc>
                <a:spcPct val="100000"/>
              </a:lnSpc>
              <a:buFont typeface="Wingdings"/>
              <a:buChar char=""/>
              <a:tabLst>
                <a:tab pos="299085" algn="l"/>
              </a:tabLst>
            </a:pPr>
            <a:r>
              <a:rPr sz="2400" dirty="0">
                <a:latin typeface="Times New Roman"/>
                <a:cs typeface="Times New Roman"/>
              </a:rPr>
              <a:t>Operational</a:t>
            </a:r>
            <a:r>
              <a:rPr sz="2400" spc="-75" dirty="0">
                <a:latin typeface="Times New Roman"/>
                <a:cs typeface="Times New Roman"/>
              </a:rPr>
              <a:t> </a:t>
            </a:r>
            <a:r>
              <a:rPr sz="2400" dirty="0">
                <a:latin typeface="Times New Roman"/>
                <a:cs typeface="Times New Roman"/>
              </a:rPr>
              <a:t>Optimization</a:t>
            </a:r>
            <a:r>
              <a:rPr sz="2400" spc="-70" dirty="0">
                <a:latin typeface="Times New Roman"/>
                <a:cs typeface="Times New Roman"/>
              </a:rPr>
              <a:t> </a:t>
            </a:r>
            <a:r>
              <a:rPr sz="2400" dirty="0">
                <a:latin typeface="Times New Roman"/>
                <a:cs typeface="Times New Roman"/>
              </a:rPr>
              <a:t>for</a:t>
            </a:r>
            <a:r>
              <a:rPr sz="2400" spc="-25" dirty="0">
                <a:latin typeface="Times New Roman"/>
                <a:cs typeface="Times New Roman"/>
              </a:rPr>
              <a:t> </a:t>
            </a:r>
            <a:r>
              <a:rPr sz="2400" dirty="0">
                <a:latin typeface="Times New Roman"/>
                <a:cs typeface="Times New Roman"/>
              </a:rPr>
              <a:t>Fleet</a:t>
            </a:r>
            <a:r>
              <a:rPr sz="2400" spc="-40" dirty="0">
                <a:latin typeface="Times New Roman"/>
                <a:cs typeface="Times New Roman"/>
              </a:rPr>
              <a:t> </a:t>
            </a:r>
            <a:r>
              <a:rPr sz="2400" spc="-10" dirty="0">
                <a:latin typeface="Times New Roman"/>
                <a:cs typeface="Times New Roman"/>
              </a:rPr>
              <a:t>Management</a:t>
            </a:r>
            <a:endParaRPr sz="2400">
              <a:latin typeface="Times New Roman"/>
              <a:cs typeface="Times New Roman"/>
            </a:endParaRPr>
          </a:p>
          <a:p>
            <a:pPr marL="299085" marR="5080" indent="-287020">
              <a:lnSpc>
                <a:spcPct val="100000"/>
              </a:lnSpc>
              <a:buFont typeface="Wingdings"/>
              <a:buChar char=""/>
              <a:tabLst>
                <a:tab pos="299085" algn="l"/>
              </a:tabLst>
            </a:pPr>
            <a:r>
              <a:rPr sz="2400" dirty="0">
                <a:latin typeface="Times New Roman"/>
                <a:cs typeface="Times New Roman"/>
              </a:rPr>
              <a:t>Rising</a:t>
            </a:r>
            <a:r>
              <a:rPr sz="2400" spc="-55" dirty="0">
                <a:latin typeface="Times New Roman"/>
                <a:cs typeface="Times New Roman"/>
              </a:rPr>
              <a:t> </a:t>
            </a:r>
            <a:r>
              <a:rPr sz="2400" dirty="0">
                <a:latin typeface="Times New Roman"/>
                <a:cs typeface="Times New Roman"/>
              </a:rPr>
              <a:t>Importance</a:t>
            </a:r>
            <a:r>
              <a:rPr sz="2400" spc="-3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Connected</a:t>
            </a:r>
            <a:r>
              <a:rPr sz="2400" spc="-55" dirty="0">
                <a:latin typeface="Times New Roman"/>
                <a:cs typeface="Times New Roman"/>
              </a:rPr>
              <a:t> </a:t>
            </a:r>
            <a:r>
              <a:rPr sz="2400" dirty="0">
                <a:latin typeface="Times New Roman"/>
                <a:cs typeface="Times New Roman"/>
              </a:rPr>
              <a:t>and</a:t>
            </a:r>
            <a:r>
              <a:rPr sz="2400" spc="-135" dirty="0">
                <a:latin typeface="Times New Roman"/>
                <a:cs typeface="Times New Roman"/>
              </a:rPr>
              <a:t> </a:t>
            </a:r>
            <a:r>
              <a:rPr sz="2400" spc="-10" dirty="0">
                <a:latin typeface="Times New Roman"/>
                <a:cs typeface="Times New Roman"/>
              </a:rPr>
              <a:t>Autonomous Vehicles</a:t>
            </a:r>
            <a:endParaRPr sz="2400">
              <a:latin typeface="Times New Roman"/>
              <a:cs typeface="Times New Roman"/>
            </a:endParaRPr>
          </a:p>
          <a:p>
            <a:pPr marL="299085" indent="-286385">
              <a:lnSpc>
                <a:spcPct val="100000"/>
              </a:lnSpc>
              <a:buFont typeface="Wingdings"/>
              <a:buChar char=""/>
              <a:tabLst>
                <a:tab pos="299085" algn="l"/>
              </a:tabLst>
            </a:pPr>
            <a:r>
              <a:rPr sz="2400" dirty="0">
                <a:latin typeface="Times New Roman"/>
                <a:cs typeface="Times New Roman"/>
              </a:rPr>
              <a:t>Industrial</a:t>
            </a:r>
            <a:r>
              <a:rPr sz="2400" spc="-100" dirty="0">
                <a:latin typeface="Times New Roman"/>
                <a:cs typeface="Times New Roman"/>
              </a:rPr>
              <a:t> </a:t>
            </a:r>
            <a:r>
              <a:rPr sz="2400" dirty="0">
                <a:latin typeface="Times New Roman"/>
                <a:cs typeface="Times New Roman"/>
              </a:rPr>
              <a:t>Demand</a:t>
            </a:r>
            <a:r>
              <a:rPr sz="2400" spc="-10" dirty="0">
                <a:latin typeface="Times New Roman"/>
                <a:cs typeface="Times New Roman"/>
              </a:rPr>
              <a:t> </a:t>
            </a:r>
            <a:r>
              <a:rPr sz="2400" dirty="0">
                <a:latin typeface="Times New Roman"/>
                <a:cs typeface="Times New Roman"/>
              </a:rPr>
              <a:t>for</a:t>
            </a:r>
            <a:r>
              <a:rPr sz="2400" spc="-35" dirty="0">
                <a:latin typeface="Times New Roman"/>
                <a:cs typeface="Times New Roman"/>
              </a:rPr>
              <a:t> </a:t>
            </a:r>
            <a:r>
              <a:rPr sz="2400" dirty="0">
                <a:latin typeface="Times New Roman"/>
                <a:cs typeface="Times New Roman"/>
              </a:rPr>
              <a:t>Scalable</a:t>
            </a:r>
            <a:r>
              <a:rPr sz="2400" spc="-85" dirty="0">
                <a:latin typeface="Times New Roman"/>
                <a:cs typeface="Times New Roman"/>
              </a:rPr>
              <a:t> </a:t>
            </a:r>
            <a:r>
              <a:rPr sz="2400" dirty="0">
                <a:latin typeface="Times New Roman"/>
                <a:cs typeface="Times New Roman"/>
              </a:rPr>
              <a:t>Data</a:t>
            </a:r>
            <a:r>
              <a:rPr sz="2400" spc="-55" dirty="0">
                <a:latin typeface="Times New Roman"/>
                <a:cs typeface="Times New Roman"/>
              </a:rPr>
              <a:t> </a:t>
            </a:r>
            <a:r>
              <a:rPr sz="2400" spc="-10" dirty="0">
                <a:latin typeface="Times New Roman"/>
                <a:cs typeface="Times New Roman"/>
              </a:rPr>
              <a:t>Systems</a:t>
            </a:r>
            <a:endParaRPr sz="2400">
              <a:latin typeface="Times New Roman"/>
              <a:cs typeface="Times New Roman"/>
            </a:endParaRPr>
          </a:p>
          <a:p>
            <a:pPr marL="299085" indent="-286385">
              <a:lnSpc>
                <a:spcPct val="100000"/>
              </a:lnSpc>
              <a:spcBef>
                <a:spcPts val="5"/>
              </a:spcBef>
              <a:buFont typeface="Wingdings"/>
              <a:buChar char=""/>
              <a:tabLst>
                <a:tab pos="299085" algn="l"/>
              </a:tabLst>
            </a:pPr>
            <a:r>
              <a:rPr sz="2400" dirty="0">
                <a:latin typeface="Times New Roman"/>
                <a:cs typeface="Times New Roman"/>
              </a:rPr>
              <a:t>Enhancing</a:t>
            </a:r>
            <a:r>
              <a:rPr sz="2400" spc="-65" dirty="0">
                <a:latin typeface="Times New Roman"/>
                <a:cs typeface="Times New Roman"/>
              </a:rPr>
              <a:t> </a:t>
            </a:r>
            <a:r>
              <a:rPr sz="2400" dirty="0">
                <a:latin typeface="Times New Roman"/>
                <a:cs typeface="Times New Roman"/>
              </a:rPr>
              <a:t>Safety and</a:t>
            </a:r>
            <a:r>
              <a:rPr sz="2400" spc="-145" dirty="0">
                <a:latin typeface="Times New Roman"/>
                <a:cs typeface="Times New Roman"/>
              </a:rPr>
              <a:t> </a:t>
            </a:r>
            <a:r>
              <a:rPr sz="2400" spc="-10" dirty="0">
                <a:latin typeface="Times New Roman"/>
                <a:cs typeface="Times New Roman"/>
              </a:rPr>
              <a:t>Automation</a:t>
            </a:r>
            <a:endParaRPr sz="24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1884" rIns="0" bIns="0" rtlCol="0">
            <a:spAutoFit/>
          </a:bodyPr>
          <a:lstStyle/>
          <a:p>
            <a:pPr marL="1378585">
              <a:lnSpc>
                <a:spcPct val="100000"/>
              </a:lnSpc>
              <a:spcBef>
                <a:spcPts val="95"/>
              </a:spcBef>
            </a:pPr>
            <a:r>
              <a:rPr dirty="0"/>
              <a:t>PROBLEM</a:t>
            </a:r>
            <a:r>
              <a:rPr spc="-145" dirty="0"/>
              <a:t> </a:t>
            </a:r>
            <a:r>
              <a:rPr spc="-10" dirty="0"/>
              <a:t>DEFINITION</a:t>
            </a:r>
          </a:p>
        </p:txBody>
      </p:sp>
      <p:sp>
        <p:nvSpPr>
          <p:cNvPr id="3" name="object 3"/>
          <p:cNvSpPr txBox="1"/>
          <p:nvPr/>
        </p:nvSpPr>
        <p:spPr>
          <a:xfrm>
            <a:off x="2658617" y="1968754"/>
            <a:ext cx="5106035" cy="2159000"/>
          </a:xfrm>
          <a:prstGeom prst="rect">
            <a:avLst/>
          </a:prstGeom>
        </p:spPr>
        <p:txBody>
          <a:bodyPr vert="horz" wrap="square" lIns="0" tIns="12065" rIns="0" bIns="0" rtlCol="0">
            <a:spAutoFit/>
          </a:bodyPr>
          <a:lstStyle/>
          <a:p>
            <a:pPr marL="354965" indent="-342265">
              <a:lnSpc>
                <a:spcPct val="100000"/>
              </a:lnSpc>
              <a:spcBef>
                <a:spcPts val="95"/>
              </a:spcBef>
              <a:buFont typeface="Wingdings"/>
              <a:buChar char=""/>
              <a:tabLst>
                <a:tab pos="354965" algn="l"/>
              </a:tabLst>
            </a:pPr>
            <a:r>
              <a:rPr sz="2800" dirty="0">
                <a:latin typeface="Times New Roman"/>
                <a:cs typeface="Times New Roman"/>
              </a:rPr>
              <a:t>Limited</a:t>
            </a:r>
            <a:r>
              <a:rPr sz="2800" spc="-160" dirty="0">
                <a:latin typeface="Times New Roman"/>
                <a:cs typeface="Times New Roman"/>
              </a:rPr>
              <a:t> </a:t>
            </a:r>
            <a:r>
              <a:rPr sz="2800" dirty="0">
                <a:latin typeface="Times New Roman"/>
                <a:cs typeface="Times New Roman"/>
              </a:rPr>
              <a:t>Hardware</a:t>
            </a:r>
            <a:r>
              <a:rPr sz="2800" spc="-150" dirty="0">
                <a:latin typeface="Times New Roman"/>
                <a:cs typeface="Times New Roman"/>
              </a:rPr>
              <a:t> </a:t>
            </a:r>
            <a:r>
              <a:rPr sz="2800" spc="-10" dirty="0">
                <a:latin typeface="Times New Roman"/>
                <a:cs typeface="Times New Roman"/>
              </a:rPr>
              <a:t>Resources</a:t>
            </a:r>
            <a:endParaRPr sz="2800">
              <a:latin typeface="Times New Roman"/>
              <a:cs typeface="Times New Roman"/>
            </a:endParaRPr>
          </a:p>
          <a:p>
            <a:pPr marL="354965" indent="-342265">
              <a:lnSpc>
                <a:spcPct val="100000"/>
              </a:lnSpc>
              <a:buFont typeface="Wingdings"/>
              <a:buChar char=""/>
              <a:tabLst>
                <a:tab pos="354965" algn="l"/>
              </a:tabLst>
            </a:pPr>
            <a:r>
              <a:rPr sz="2800" spc="-10" dirty="0">
                <a:latin typeface="Times New Roman"/>
                <a:cs typeface="Times New Roman"/>
              </a:rPr>
              <a:t>Performance</a:t>
            </a:r>
            <a:r>
              <a:rPr sz="2800" spc="-80" dirty="0">
                <a:latin typeface="Times New Roman"/>
                <a:cs typeface="Times New Roman"/>
              </a:rPr>
              <a:t> </a:t>
            </a:r>
            <a:r>
              <a:rPr sz="2800" spc="-10" dirty="0">
                <a:latin typeface="Times New Roman"/>
                <a:cs typeface="Times New Roman"/>
              </a:rPr>
              <a:t>Degradation</a:t>
            </a:r>
            <a:endParaRPr sz="2800">
              <a:latin typeface="Times New Roman"/>
              <a:cs typeface="Times New Roman"/>
            </a:endParaRPr>
          </a:p>
          <a:p>
            <a:pPr marL="354965" indent="-342265">
              <a:lnSpc>
                <a:spcPct val="100000"/>
              </a:lnSpc>
              <a:buFont typeface="Wingdings"/>
              <a:buChar char=""/>
              <a:tabLst>
                <a:tab pos="354965" algn="l"/>
              </a:tabLst>
            </a:pPr>
            <a:r>
              <a:rPr sz="2800" dirty="0">
                <a:latin typeface="Times New Roman"/>
                <a:cs typeface="Times New Roman"/>
              </a:rPr>
              <a:t>Absence</a:t>
            </a:r>
            <a:r>
              <a:rPr sz="2800" spc="-90" dirty="0">
                <a:latin typeface="Times New Roman"/>
                <a:cs typeface="Times New Roman"/>
              </a:rPr>
              <a:t> </a:t>
            </a:r>
            <a:r>
              <a:rPr sz="2800" dirty="0">
                <a:latin typeface="Times New Roman"/>
                <a:cs typeface="Times New Roman"/>
              </a:rPr>
              <a:t>of</a:t>
            </a:r>
            <a:r>
              <a:rPr sz="2800" spc="-50" dirty="0">
                <a:latin typeface="Times New Roman"/>
                <a:cs typeface="Times New Roman"/>
              </a:rPr>
              <a:t> </a:t>
            </a:r>
            <a:r>
              <a:rPr sz="2800" spc="-25" dirty="0">
                <a:latin typeface="Times New Roman"/>
                <a:cs typeface="Times New Roman"/>
              </a:rPr>
              <a:t>Real-</a:t>
            </a:r>
            <a:r>
              <a:rPr sz="2800" dirty="0">
                <a:latin typeface="Times New Roman"/>
                <a:cs typeface="Times New Roman"/>
              </a:rPr>
              <a:t>Time</a:t>
            </a:r>
            <a:r>
              <a:rPr sz="2800" spc="-35" dirty="0">
                <a:latin typeface="Times New Roman"/>
                <a:cs typeface="Times New Roman"/>
              </a:rPr>
              <a:t> </a:t>
            </a:r>
            <a:r>
              <a:rPr sz="2800" spc="-10" dirty="0">
                <a:latin typeface="Times New Roman"/>
                <a:cs typeface="Times New Roman"/>
              </a:rPr>
              <a:t>Profiling</a:t>
            </a:r>
            <a:endParaRPr sz="2800">
              <a:latin typeface="Times New Roman"/>
              <a:cs typeface="Times New Roman"/>
            </a:endParaRPr>
          </a:p>
          <a:p>
            <a:pPr marL="354965" indent="-342265">
              <a:lnSpc>
                <a:spcPct val="100000"/>
              </a:lnSpc>
              <a:buFont typeface="Wingdings"/>
              <a:buChar char=""/>
              <a:tabLst>
                <a:tab pos="354965" algn="l"/>
              </a:tabLst>
            </a:pPr>
            <a:r>
              <a:rPr sz="2800" dirty="0">
                <a:latin typeface="Times New Roman"/>
                <a:cs typeface="Times New Roman"/>
              </a:rPr>
              <a:t>Need</a:t>
            </a:r>
            <a:r>
              <a:rPr sz="2800" spc="-25" dirty="0">
                <a:latin typeface="Times New Roman"/>
                <a:cs typeface="Times New Roman"/>
              </a:rPr>
              <a:t> </a:t>
            </a:r>
            <a:r>
              <a:rPr sz="2800" dirty="0">
                <a:latin typeface="Times New Roman"/>
                <a:cs typeface="Times New Roman"/>
              </a:rPr>
              <a:t>for</a:t>
            </a:r>
            <a:r>
              <a:rPr sz="2800" spc="-50" dirty="0">
                <a:latin typeface="Times New Roman"/>
                <a:cs typeface="Times New Roman"/>
              </a:rPr>
              <a:t> </a:t>
            </a:r>
            <a:r>
              <a:rPr sz="2800" dirty="0">
                <a:latin typeface="Times New Roman"/>
                <a:cs typeface="Times New Roman"/>
              </a:rPr>
              <a:t>Intelligent</a:t>
            </a:r>
            <a:r>
              <a:rPr sz="2800" spc="-100" dirty="0">
                <a:latin typeface="Times New Roman"/>
                <a:cs typeface="Times New Roman"/>
              </a:rPr>
              <a:t> </a:t>
            </a:r>
            <a:r>
              <a:rPr sz="2800" spc="-10" dirty="0">
                <a:latin typeface="Times New Roman"/>
                <a:cs typeface="Times New Roman"/>
              </a:rPr>
              <a:t>Optimization</a:t>
            </a:r>
            <a:endParaRPr sz="2800">
              <a:latin typeface="Times New Roman"/>
              <a:cs typeface="Times New Roman"/>
            </a:endParaRPr>
          </a:p>
          <a:p>
            <a:pPr marL="354965" indent="-342265">
              <a:lnSpc>
                <a:spcPct val="100000"/>
              </a:lnSpc>
              <a:buFont typeface="Wingdings"/>
              <a:buChar char=""/>
              <a:tabLst>
                <a:tab pos="354965" algn="l"/>
              </a:tabLst>
            </a:pPr>
            <a:r>
              <a:rPr sz="2800" dirty="0">
                <a:latin typeface="Times New Roman"/>
                <a:cs typeface="Times New Roman"/>
              </a:rPr>
              <a:t>Safety</a:t>
            </a:r>
            <a:r>
              <a:rPr sz="2800" spc="-75" dirty="0">
                <a:latin typeface="Times New Roman"/>
                <a:cs typeface="Times New Roman"/>
              </a:rPr>
              <a:t> </a:t>
            </a:r>
            <a:r>
              <a:rPr sz="2800" dirty="0">
                <a:latin typeface="Times New Roman"/>
                <a:cs typeface="Times New Roman"/>
              </a:rPr>
              <a:t>and</a:t>
            </a:r>
            <a:r>
              <a:rPr sz="2800" spc="-75" dirty="0">
                <a:latin typeface="Times New Roman"/>
                <a:cs typeface="Times New Roman"/>
              </a:rPr>
              <a:t> </a:t>
            </a:r>
            <a:r>
              <a:rPr sz="2800" dirty="0">
                <a:latin typeface="Times New Roman"/>
                <a:cs typeface="Times New Roman"/>
              </a:rPr>
              <a:t>Reliability</a:t>
            </a:r>
            <a:r>
              <a:rPr sz="2800" spc="-130" dirty="0">
                <a:latin typeface="Times New Roman"/>
                <a:cs typeface="Times New Roman"/>
              </a:rPr>
              <a:t> </a:t>
            </a:r>
            <a:r>
              <a:rPr sz="2800" spc="-10" dirty="0">
                <a:latin typeface="Times New Roman"/>
                <a:cs typeface="Times New Roman"/>
              </a:rPr>
              <a:t>Concerns</a:t>
            </a:r>
            <a:endParaRPr sz="28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074332" y="304800"/>
            <a:ext cx="4043335" cy="452120"/>
          </a:xfrm>
          <a:prstGeom prst="rect">
            <a:avLst/>
          </a:prstGeom>
        </p:spPr>
        <p:txBody>
          <a:bodyPr vert="horz" wrap="square" lIns="0" tIns="12065" rIns="0" bIns="0" rtlCol="0">
            <a:spAutoFit/>
          </a:bodyPr>
          <a:lstStyle/>
          <a:p>
            <a:pPr marL="12700">
              <a:lnSpc>
                <a:spcPct val="100000"/>
              </a:lnSpc>
              <a:spcBef>
                <a:spcPts val="95"/>
              </a:spcBef>
            </a:pPr>
            <a:r>
              <a:rPr spc="-25" dirty="0"/>
              <a:t>LITERATURE</a:t>
            </a:r>
            <a:r>
              <a:rPr spc="-80" dirty="0"/>
              <a:t> </a:t>
            </a:r>
            <a:r>
              <a:rPr spc="-10" dirty="0"/>
              <a:t>SURVEY</a:t>
            </a:r>
          </a:p>
        </p:txBody>
      </p:sp>
      <p:graphicFrame>
        <p:nvGraphicFramePr>
          <p:cNvPr id="4" name="Table 3">
            <a:extLst>
              <a:ext uri="{FF2B5EF4-FFF2-40B4-BE49-F238E27FC236}">
                <a16:creationId xmlns:a16="http://schemas.microsoft.com/office/drawing/2014/main" id="{82773017-6246-CABB-08D7-B6BC0942F7BB}"/>
              </a:ext>
            </a:extLst>
          </p:cNvPr>
          <p:cNvGraphicFramePr>
            <a:graphicFrameLocks noGrp="1"/>
          </p:cNvGraphicFramePr>
          <p:nvPr>
            <p:extLst>
              <p:ext uri="{D42A27DB-BD31-4B8C-83A1-F6EECF244321}">
                <p14:modId xmlns:p14="http://schemas.microsoft.com/office/powerpoint/2010/main" val="2128585736"/>
              </p:ext>
            </p:extLst>
          </p:nvPr>
        </p:nvGraphicFramePr>
        <p:xfrm>
          <a:off x="1371600" y="928209"/>
          <a:ext cx="9372600" cy="5624991"/>
        </p:xfrm>
        <a:graphic>
          <a:graphicData uri="http://schemas.openxmlformats.org/drawingml/2006/table">
            <a:tbl>
              <a:tblPr>
                <a:tableStyleId>{BDBED569-4797-4DF1-A0F4-6AAB3CD982D8}</a:tableStyleId>
              </a:tblPr>
              <a:tblGrid>
                <a:gridCol w="1171575">
                  <a:extLst>
                    <a:ext uri="{9D8B030D-6E8A-4147-A177-3AD203B41FA5}">
                      <a16:colId xmlns:a16="http://schemas.microsoft.com/office/drawing/2014/main" val="1033518869"/>
                    </a:ext>
                  </a:extLst>
                </a:gridCol>
                <a:gridCol w="1171575">
                  <a:extLst>
                    <a:ext uri="{9D8B030D-6E8A-4147-A177-3AD203B41FA5}">
                      <a16:colId xmlns:a16="http://schemas.microsoft.com/office/drawing/2014/main" val="2656783745"/>
                    </a:ext>
                  </a:extLst>
                </a:gridCol>
                <a:gridCol w="1171575">
                  <a:extLst>
                    <a:ext uri="{9D8B030D-6E8A-4147-A177-3AD203B41FA5}">
                      <a16:colId xmlns:a16="http://schemas.microsoft.com/office/drawing/2014/main" val="1346869675"/>
                    </a:ext>
                  </a:extLst>
                </a:gridCol>
                <a:gridCol w="1171575">
                  <a:extLst>
                    <a:ext uri="{9D8B030D-6E8A-4147-A177-3AD203B41FA5}">
                      <a16:colId xmlns:a16="http://schemas.microsoft.com/office/drawing/2014/main" val="3170676297"/>
                    </a:ext>
                  </a:extLst>
                </a:gridCol>
                <a:gridCol w="1171575">
                  <a:extLst>
                    <a:ext uri="{9D8B030D-6E8A-4147-A177-3AD203B41FA5}">
                      <a16:colId xmlns:a16="http://schemas.microsoft.com/office/drawing/2014/main" val="3966074965"/>
                    </a:ext>
                  </a:extLst>
                </a:gridCol>
                <a:gridCol w="1171575">
                  <a:extLst>
                    <a:ext uri="{9D8B030D-6E8A-4147-A177-3AD203B41FA5}">
                      <a16:colId xmlns:a16="http://schemas.microsoft.com/office/drawing/2014/main" val="561722232"/>
                    </a:ext>
                  </a:extLst>
                </a:gridCol>
                <a:gridCol w="1171575">
                  <a:extLst>
                    <a:ext uri="{9D8B030D-6E8A-4147-A177-3AD203B41FA5}">
                      <a16:colId xmlns:a16="http://schemas.microsoft.com/office/drawing/2014/main" val="1216222878"/>
                    </a:ext>
                  </a:extLst>
                </a:gridCol>
                <a:gridCol w="1171575">
                  <a:extLst>
                    <a:ext uri="{9D8B030D-6E8A-4147-A177-3AD203B41FA5}">
                      <a16:colId xmlns:a16="http://schemas.microsoft.com/office/drawing/2014/main" val="2115288600"/>
                    </a:ext>
                  </a:extLst>
                </a:gridCol>
              </a:tblGrid>
              <a:tr h="272997">
                <a:tc>
                  <a:txBody>
                    <a:bodyPr/>
                    <a:lstStyle/>
                    <a:p>
                      <a:pPr algn="ctr">
                        <a:buNone/>
                      </a:pPr>
                      <a:r>
                        <a:rPr lang="en-US" sz="1200" dirty="0"/>
                        <a:t>Sl. No</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Year</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Author(s)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Title / Study Focus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Proposed System</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Existing System</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Result</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Key Finding</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696228087"/>
                  </a:ext>
                </a:extLst>
              </a:tr>
              <a:tr h="1091988">
                <a:tc>
                  <a:txBody>
                    <a:bodyPr/>
                    <a:lstStyle/>
                    <a:p>
                      <a:pPr algn="ctr">
                        <a:buNone/>
                      </a:pPr>
                      <a:r>
                        <a:rPr lang="en-US" sz="1200"/>
                        <a:t>1</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2012</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Shankar R</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Optimization-based charge-blended energy management for PHEVs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Optimization-based charge-blended EMS with improved equivalent consumption model</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Conventional rule-based EMS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Enhanced energy efficiency and enabled component downsizing</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Showed probabilistic EMS design improves real-driving efficiency and supports downsizing</a:t>
                      </a:r>
                      <a:endParaRPr lang="en-US" sz="120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476232520"/>
                  </a:ext>
                </a:extLst>
              </a:tr>
              <a:tr h="857991">
                <a:tc>
                  <a:txBody>
                    <a:bodyPr/>
                    <a:lstStyle/>
                    <a:p>
                      <a:pPr algn="ctr">
                        <a:buNone/>
                      </a:pPr>
                      <a:r>
                        <a:rPr lang="en-US" sz="1200"/>
                        <a:t>2</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2014</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Jiménez F</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Real-time energy optimization using live road &amp; traffic data</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Live-data driven optimization framework adjusting strategies in real time</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Static control strategies without live traffic</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Significant fuel-use reductions in simulations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Demonstrated benefits of incorporating live traffic for energy savings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3776005539"/>
                  </a:ext>
                </a:extLst>
              </a:tr>
              <a:tr h="857991">
                <a:tc>
                  <a:txBody>
                    <a:bodyPr/>
                    <a:lstStyle/>
                    <a:p>
                      <a:pPr algn="ctr">
                        <a:buNone/>
                      </a:pPr>
                      <a:r>
                        <a:rPr lang="en-US" sz="1200"/>
                        <a:t>3</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2017</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Wang Y</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Carbon-tax-driven cold-chain logistics routing</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Carbon-tax-aware routing optimization balancing emissions &amp; cost</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Standard cost-only routing models</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Reduced emissions and overall operational cost</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Supported sustainable routing under carbon pricing policies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1636760502"/>
                  </a:ext>
                </a:extLst>
              </a:tr>
              <a:tr h="857991">
                <a:tc>
                  <a:txBody>
                    <a:bodyPr/>
                    <a:lstStyle/>
                    <a:p>
                      <a:pPr algn="ctr">
                        <a:buNone/>
                      </a:pPr>
                      <a:r>
                        <a:rPr lang="en-US" sz="1200"/>
                        <a:t>4</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2017</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err="1"/>
                        <a:t>Levermore</a:t>
                      </a:r>
                      <a:r>
                        <a:rPr lang="en-US" sz="1200" dirty="0"/>
                        <a:t> T.</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Real-time velocity optimization for energy reduction</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Traffic-predicted velocity optimization module</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Fixed-speed/driver-behavior baselines</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Measurable fuel and energy savings in simulation</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Predicted traffic-aware speed control reduces consumption</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3404678468"/>
                  </a:ext>
                </a:extLst>
              </a:tr>
              <a:tr h="740992">
                <a:tc>
                  <a:txBody>
                    <a:bodyPr/>
                    <a:lstStyle/>
                    <a:p>
                      <a:pPr algn="ctr">
                        <a:buNone/>
                      </a:pPr>
                      <a:r>
                        <a:rPr lang="en-US" sz="1200"/>
                        <a:t>5</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2019</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da-DK" sz="1200" dirty="0"/>
                        <a:t>Hur D.-J. </a:t>
                      </a:r>
                      <a:endParaRPr lang="da-DK"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Multi-channel inverter cooling optimization for EVs</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a:t>Desirability-based flow distribution optimizer for cooling channels</a:t>
                      </a:r>
                      <a:endParaRPr lang="en-US" sz="120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Uniform or heuristic cooling distribution</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Improved thermal performance and component lifespan</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tc>
                  <a:txBody>
                    <a:bodyPr/>
                    <a:lstStyle/>
                    <a:p>
                      <a:pPr algn="ctr">
                        <a:buNone/>
                      </a:pPr>
                      <a:r>
                        <a:rPr lang="en-US" sz="1200" dirty="0"/>
                        <a:t>Improved reliability via optimized thermal management</a:t>
                      </a:r>
                      <a:endParaRPr lang="en-US" sz="1200" dirty="0">
                        <a:latin typeface="Times New Roman" panose="02020603050405020304" pitchFamily="18" charset="0"/>
                        <a:cs typeface="Times New Roman" panose="02020603050405020304" pitchFamily="18" charset="0"/>
                      </a:endParaRPr>
                    </a:p>
                  </a:txBody>
                  <a:tcPr marL="39000" marR="39000" marT="19500" marB="19500" anchor="ctr"/>
                </a:tc>
                <a:extLst>
                  <a:ext uri="{0D108BD9-81ED-4DB2-BD59-A6C34878D82A}">
                    <a16:rowId xmlns:a16="http://schemas.microsoft.com/office/drawing/2014/main" val="193214279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7327" y="120142"/>
            <a:ext cx="3877945" cy="452120"/>
          </a:xfrm>
          <a:prstGeom prst="rect">
            <a:avLst/>
          </a:prstGeom>
        </p:spPr>
        <p:txBody>
          <a:bodyPr vert="horz" wrap="square" lIns="0" tIns="12065" rIns="0" bIns="0" rtlCol="0">
            <a:spAutoFit/>
          </a:bodyPr>
          <a:lstStyle/>
          <a:p>
            <a:pPr marL="12700">
              <a:lnSpc>
                <a:spcPct val="100000"/>
              </a:lnSpc>
              <a:spcBef>
                <a:spcPts val="95"/>
              </a:spcBef>
            </a:pPr>
            <a:r>
              <a:rPr spc="-30" dirty="0"/>
              <a:t>LITERATURE</a:t>
            </a:r>
            <a:r>
              <a:rPr spc="-90" dirty="0"/>
              <a:t> </a:t>
            </a:r>
            <a:r>
              <a:rPr spc="-10" dirty="0"/>
              <a:t>SURVEY</a:t>
            </a:r>
          </a:p>
        </p:txBody>
      </p:sp>
      <p:graphicFrame>
        <p:nvGraphicFramePr>
          <p:cNvPr id="19" name="Table 18">
            <a:extLst>
              <a:ext uri="{FF2B5EF4-FFF2-40B4-BE49-F238E27FC236}">
                <a16:creationId xmlns:a16="http://schemas.microsoft.com/office/drawing/2014/main" id="{1844B592-7E15-3D07-A5CE-18C577356205}"/>
              </a:ext>
            </a:extLst>
          </p:cNvPr>
          <p:cNvGraphicFramePr>
            <a:graphicFrameLocks noGrp="1"/>
          </p:cNvGraphicFramePr>
          <p:nvPr>
            <p:extLst>
              <p:ext uri="{D42A27DB-BD31-4B8C-83A1-F6EECF244321}">
                <p14:modId xmlns:p14="http://schemas.microsoft.com/office/powerpoint/2010/main" val="347713471"/>
              </p:ext>
            </p:extLst>
          </p:nvPr>
        </p:nvGraphicFramePr>
        <p:xfrm>
          <a:off x="1524000" y="1066800"/>
          <a:ext cx="9144000" cy="5188935"/>
        </p:xfrm>
        <a:graphic>
          <a:graphicData uri="http://schemas.openxmlformats.org/drawingml/2006/table">
            <a:tbl>
              <a:tblPr>
                <a:tableStyleId>{BDBED569-4797-4DF1-A0F4-6AAB3CD982D8}</a:tableStyleId>
              </a:tblPr>
              <a:tblGrid>
                <a:gridCol w="1143000">
                  <a:extLst>
                    <a:ext uri="{9D8B030D-6E8A-4147-A177-3AD203B41FA5}">
                      <a16:colId xmlns:a16="http://schemas.microsoft.com/office/drawing/2014/main" val="1283923093"/>
                    </a:ext>
                  </a:extLst>
                </a:gridCol>
                <a:gridCol w="1143000">
                  <a:extLst>
                    <a:ext uri="{9D8B030D-6E8A-4147-A177-3AD203B41FA5}">
                      <a16:colId xmlns:a16="http://schemas.microsoft.com/office/drawing/2014/main" val="1949934105"/>
                    </a:ext>
                  </a:extLst>
                </a:gridCol>
                <a:gridCol w="1143000">
                  <a:extLst>
                    <a:ext uri="{9D8B030D-6E8A-4147-A177-3AD203B41FA5}">
                      <a16:colId xmlns:a16="http://schemas.microsoft.com/office/drawing/2014/main" val="3152717340"/>
                    </a:ext>
                  </a:extLst>
                </a:gridCol>
                <a:gridCol w="1143000">
                  <a:extLst>
                    <a:ext uri="{9D8B030D-6E8A-4147-A177-3AD203B41FA5}">
                      <a16:colId xmlns:a16="http://schemas.microsoft.com/office/drawing/2014/main" val="1504223093"/>
                    </a:ext>
                  </a:extLst>
                </a:gridCol>
                <a:gridCol w="1143000">
                  <a:extLst>
                    <a:ext uri="{9D8B030D-6E8A-4147-A177-3AD203B41FA5}">
                      <a16:colId xmlns:a16="http://schemas.microsoft.com/office/drawing/2014/main" val="2643611129"/>
                    </a:ext>
                  </a:extLst>
                </a:gridCol>
                <a:gridCol w="1143000">
                  <a:extLst>
                    <a:ext uri="{9D8B030D-6E8A-4147-A177-3AD203B41FA5}">
                      <a16:colId xmlns:a16="http://schemas.microsoft.com/office/drawing/2014/main" val="1969868373"/>
                    </a:ext>
                  </a:extLst>
                </a:gridCol>
                <a:gridCol w="1143000">
                  <a:extLst>
                    <a:ext uri="{9D8B030D-6E8A-4147-A177-3AD203B41FA5}">
                      <a16:colId xmlns:a16="http://schemas.microsoft.com/office/drawing/2014/main" val="1201131263"/>
                    </a:ext>
                  </a:extLst>
                </a:gridCol>
                <a:gridCol w="1143000">
                  <a:extLst>
                    <a:ext uri="{9D8B030D-6E8A-4147-A177-3AD203B41FA5}">
                      <a16:colId xmlns:a16="http://schemas.microsoft.com/office/drawing/2014/main" val="440987427"/>
                    </a:ext>
                  </a:extLst>
                </a:gridCol>
              </a:tblGrid>
              <a:tr h="303330">
                <a:tc>
                  <a:txBody>
                    <a:bodyPr/>
                    <a:lstStyle/>
                    <a:p>
                      <a:pPr algn="ctr">
                        <a:buNone/>
                      </a:pPr>
                      <a:r>
                        <a:rPr lang="en-US" sz="1200" b="1" dirty="0"/>
                        <a:t>Sl. No</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Year</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Author(s)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Title / Study Focus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Proposed System</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Existing System</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Result</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b="1"/>
                        <a:t>Key Finding</a:t>
                      </a:r>
                      <a:endParaRPr lang="en-US" sz="120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4288374752"/>
                  </a:ext>
                </a:extLst>
              </a:tr>
              <a:tr h="823325">
                <a:tc>
                  <a:txBody>
                    <a:bodyPr/>
                    <a:lstStyle/>
                    <a:p>
                      <a:pPr algn="ctr">
                        <a:buNone/>
                      </a:pPr>
                      <a:r>
                        <a:rPr lang="en-US" sz="1200" b="1"/>
                        <a:t>6</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2022</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err="1"/>
                        <a:t>Rabieinejad</a:t>
                      </a:r>
                      <a:r>
                        <a:rPr lang="en-US" sz="1200" dirty="0"/>
                        <a:t> F. </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Connected vehicles &amp; adaptive optimization for traffic safety</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Adaptive optimization + connected vehicle framework</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Traditional non-connected traffic systems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Reduced crash risk, improved decision response</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Demonstrated safety benefits of connected vehicle ecosystems</a:t>
                      </a:r>
                      <a:endParaRPr lang="en-US" sz="120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3126678318"/>
                  </a:ext>
                </a:extLst>
              </a:tr>
              <a:tr h="823325">
                <a:tc>
                  <a:txBody>
                    <a:bodyPr/>
                    <a:lstStyle/>
                    <a:p>
                      <a:pPr algn="ctr">
                        <a:buNone/>
                      </a:pPr>
                      <a:r>
                        <a:rPr lang="en-US" sz="1200" b="1" dirty="0"/>
                        <a:t>7</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2022</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a:t>Ayob A.</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Energy management for electric buses using real-time data</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Real-time energy management strategy</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Static bus EMS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Improved travel range &amp; battery utilization</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a:t>Supports sustainable electric public transport</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1329229513"/>
                  </a:ext>
                </a:extLst>
              </a:tr>
              <a:tr h="823325">
                <a:tc>
                  <a:txBody>
                    <a:bodyPr/>
                    <a:lstStyle/>
                    <a:p>
                      <a:pPr algn="ctr">
                        <a:buNone/>
                      </a:pPr>
                      <a:r>
                        <a:rPr lang="en-US" sz="1200" b="1" dirty="0"/>
                        <a:t>8</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2022</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a:t>Salunkhe A.</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Real-time traffic sign classification using lightweight CNN</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Lightweight CNN model</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Traditional heavier CNNs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Higher accuracy &amp; efficient computation</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Enhances onboard perception in autonomous vehicles</a:t>
                      </a:r>
                      <a:endParaRPr lang="en-US" sz="120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1336207973"/>
                  </a:ext>
                </a:extLst>
              </a:tr>
              <a:tr h="1083322">
                <a:tc>
                  <a:txBody>
                    <a:bodyPr/>
                    <a:lstStyle/>
                    <a:p>
                      <a:pPr algn="ctr">
                        <a:buNone/>
                      </a:pPr>
                      <a:r>
                        <a:rPr lang="en-US" sz="1200" b="1"/>
                        <a:t>9</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2023</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a:t>Kadhem H. H. </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Optimization-based routing &amp; lane selection using intelligent vehicle data</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Intelligent routing + lane-selection model</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Conventional routing systems</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Reduced delays, improved mobility</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Supports intelligent transportation management</a:t>
                      </a:r>
                      <a:endParaRPr lang="en-US" sz="120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2478063751"/>
                  </a:ext>
                </a:extLst>
              </a:tr>
              <a:tr h="823325">
                <a:tc>
                  <a:txBody>
                    <a:bodyPr/>
                    <a:lstStyle/>
                    <a:p>
                      <a:pPr algn="ctr">
                        <a:buNone/>
                      </a:pPr>
                      <a:r>
                        <a:rPr lang="en-US" sz="1200" b="1"/>
                        <a:t>10</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2023</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da-DK" sz="1200" dirty="0"/>
                        <a:t>Hsu C.-C. </a:t>
                      </a:r>
                      <a:endParaRPr lang="da-DK" sz="1200" dirty="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Vehicle dynamics monitoring using IoT sensor fusion</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IoT sensor fusion model</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Basic onboard sensing</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a:t>Enhanced tracking accuracy &amp; stability</a:t>
                      </a:r>
                      <a:endParaRPr lang="en-US" sz="1200">
                        <a:latin typeface="Times New Roman" panose="02020603050405020304" pitchFamily="18" charset="0"/>
                        <a:cs typeface="Times New Roman" panose="02020603050405020304" pitchFamily="18" charset="0"/>
                      </a:endParaRPr>
                    </a:p>
                  </a:txBody>
                  <a:tcPr marL="43333" marR="43333" marT="21666" marB="21666" anchor="ctr"/>
                </a:tc>
                <a:tc>
                  <a:txBody>
                    <a:bodyPr/>
                    <a:lstStyle/>
                    <a:p>
                      <a:pPr algn="ctr">
                        <a:buNone/>
                      </a:pPr>
                      <a:r>
                        <a:rPr lang="en-US" sz="1200" dirty="0"/>
                        <a:t>Improves real-time vehicle diagnostics &amp; monitoring</a:t>
                      </a:r>
                      <a:endParaRPr lang="en-US" sz="1200" dirty="0">
                        <a:latin typeface="Times New Roman" panose="02020603050405020304" pitchFamily="18" charset="0"/>
                        <a:cs typeface="Times New Roman" panose="02020603050405020304" pitchFamily="18" charset="0"/>
                      </a:endParaRPr>
                    </a:p>
                  </a:txBody>
                  <a:tcPr marL="43333" marR="43333" marT="21666" marB="21666" anchor="ctr"/>
                </a:tc>
                <a:extLst>
                  <a:ext uri="{0D108BD9-81ED-4DB2-BD59-A6C34878D82A}">
                    <a16:rowId xmlns:a16="http://schemas.microsoft.com/office/drawing/2014/main" val="229763892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F000ED4-8870-22FE-5DDE-0F68FF6FF2D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DB21784-945D-3C07-CBF1-BE386EAD968A}"/>
              </a:ext>
            </a:extLst>
          </p:cNvPr>
          <p:cNvSpPr txBox="1">
            <a:spLocks noGrp="1"/>
          </p:cNvSpPr>
          <p:nvPr>
            <p:ph type="title"/>
          </p:nvPr>
        </p:nvSpPr>
        <p:spPr>
          <a:xfrm>
            <a:off x="4074332" y="304800"/>
            <a:ext cx="4043335" cy="452120"/>
          </a:xfrm>
          <a:prstGeom prst="rect">
            <a:avLst/>
          </a:prstGeom>
        </p:spPr>
        <p:txBody>
          <a:bodyPr vert="horz" wrap="square" lIns="0" tIns="12065" rIns="0" bIns="0" rtlCol="0">
            <a:spAutoFit/>
          </a:bodyPr>
          <a:lstStyle/>
          <a:p>
            <a:pPr marL="12700">
              <a:lnSpc>
                <a:spcPct val="100000"/>
              </a:lnSpc>
              <a:spcBef>
                <a:spcPts val="95"/>
              </a:spcBef>
            </a:pPr>
            <a:r>
              <a:rPr spc="-25" dirty="0"/>
              <a:t>LITERATURE</a:t>
            </a:r>
            <a:r>
              <a:rPr spc="-80" dirty="0"/>
              <a:t> </a:t>
            </a:r>
            <a:r>
              <a:rPr spc="-10" dirty="0"/>
              <a:t>SURVEY</a:t>
            </a:r>
          </a:p>
        </p:txBody>
      </p:sp>
      <p:graphicFrame>
        <p:nvGraphicFramePr>
          <p:cNvPr id="18" name="Table 17">
            <a:extLst>
              <a:ext uri="{FF2B5EF4-FFF2-40B4-BE49-F238E27FC236}">
                <a16:creationId xmlns:a16="http://schemas.microsoft.com/office/drawing/2014/main" id="{89D06523-6E58-47B9-BCCF-85916720A6D5}"/>
              </a:ext>
            </a:extLst>
          </p:cNvPr>
          <p:cNvGraphicFramePr>
            <a:graphicFrameLocks noGrp="1"/>
          </p:cNvGraphicFramePr>
          <p:nvPr>
            <p:extLst>
              <p:ext uri="{D42A27DB-BD31-4B8C-83A1-F6EECF244321}">
                <p14:modId xmlns:p14="http://schemas.microsoft.com/office/powerpoint/2010/main" val="1354114190"/>
              </p:ext>
            </p:extLst>
          </p:nvPr>
        </p:nvGraphicFramePr>
        <p:xfrm>
          <a:off x="1485899" y="1066800"/>
          <a:ext cx="9220200" cy="5302279"/>
        </p:xfrm>
        <a:graphic>
          <a:graphicData uri="http://schemas.openxmlformats.org/drawingml/2006/table">
            <a:tbl>
              <a:tblPr>
                <a:tableStyleId>{BDBED569-4797-4DF1-A0F4-6AAB3CD982D8}</a:tableStyleId>
              </a:tblPr>
              <a:tblGrid>
                <a:gridCol w="1152525">
                  <a:extLst>
                    <a:ext uri="{9D8B030D-6E8A-4147-A177-3AD203B41FA5}">
                      <a16:colId xmlns:a16="http://schemas.microsoft.com/office/drawing/2014/main" val="2908872515"/>
                    </a:ext>
                  </a:extLst>
                </a:gridCol>
                <a:gridCol w="1152525">
                  <a:extLst>
                    <a:ext uri="{9D8B030D-6E8A-4147-A177-3AD203B41FA5}">
                      <a16:colId xmlns:a16="http://schemas.microsoft.com/office/drawing/2014/main" val="1747135666"/>
                    </a:ext>
                  </a:extLst>
                </a:gridCol>
                <a:gridCol w="1152525">
                  <a:extLst>
                    <a:ext uri="{9D8B030D-6E8A-4147-A177-3AD203B41FA5}">
                      <a16:colId xmlns:a16="http://schemas.microsoft.com/office/drawing/2014/main" val="3135475274"/>
                    </a:ext>
                  </a:extLst>
                </a:gridCol>
                <a:gridCol w="1152525">
                  <a:extLst>
                    <a:ext uri="{9D8B030D-6E8A-4147-A177-3AD203B41FA5}">
                      <a16:colId xmlns:a16="http://schemas.microsoft.com/office/drawing/2014/main" val="3347769899"/>
                    </a:ext>
                  </a:extLst>
                </a:gridCol>
                <a:gridCol w="1152525">
                  <a:extLst>
                    <a:ext uri="{9D8B030D-6E8A-4147-A177-3AD203B41FA5}">
                      <a16:colId xmlns:a16="http://schemas.microsoft.com/office/drawing/2014/main" val="3687959656"/>
                    </a:ext>
                  </a:extLst>
                </a:gridCol>
                <a:gridCol w="1152525">
                  <a:extLst>
                    <a:ext uri="{9D8B030D-6E8A-4147-A177-3AD203B41FA5}">
                      <a16:colId xmlns:a16="http://schemas.microsoft.com/office/drawing/2014/main" val="2454567097"/>
                    </a:ext>
                  </a:extLst>
                </a:gridCol>
                <a:gridCol w="1152525">
                  <a:extLst>
                    <a:ext uri="{9D8B030D-6E8A-4147-A177-3AD203B41FA5}">
                      <a16:colId xmlns:a16="http://schemas.microsoft.com/office/drawing/2014/main" val="2250155697"/>
                    </a:ext>
                  </a:extLst>
                </a:gridCol>
                <a:gridCol w="1152525">
                  <a:extLst>
                    <a:ext uri="{9D8B030D-6E8A-4147-A177-3AD203B41FA5}">
                      <a16:colId xmlns:a16="http://schemas.microsoft.com/office/drawing/2014/main" val="376138640"/>
                    </a:ext>
                  </a:extLst>
                </a:gridCol>
              </a:tblGrid>
              <a:tr h="266339">
                <a:tc>
                  <a:txBody>
                    <a:bodyPr/>
                    <a:lstStyle/>
                    <a:p>
                      <a:pPr>
                        <a:buNone/>
                      </a:pPr>
                      <a:r>
                        <a:rPr lang="en-US" sz="1200" b="1"/>
                        <a:t>Sl. No</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Year</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Author(s)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Title / Study Focus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Proposed System</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Existing System</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Result</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b="1"/>
                        <a:t>Key Finding</a:t>
                      </a:r>
                      <a:endParaRPr lang="en-US" sz="120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2735791402"/>
                  </a:ext>
                </a:extLst>
              </a:tr>
              <a:tr h="951209">
                <a:tc>
                  <a:txBody>
                    <a:bodyPr/>
                    <a:lstStyle/>
                    <a:p>
                      <a:pPr>
                        <a:buNone/>
                      </a:pPr>
                      <a:r>
                        <a:rPr lang="en-US" sz="1200" b="1"/>
                        <a:t>11</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2024</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Li H. </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Adaptive real-time control algorithm for autonomous vehicle path planning</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Adaptive real-time path-planning controller</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Conventional static planning</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Smoother trajectories, reduced computational delay</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Supports safe operation in dynamic driving environments</a:t>
                      </a:r>
                      <a:endParaRPr lang="en-US" sz="120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3890931014"/>
                  </a:ext>
                </a:extLst>
              </a:tr>
              <a:tr h="722919">
                <a:tc>
                  <a:txBody>
                    <a:bodyPr/>
                    <a:lstStyle/>
                    <a:p>
                      <a:pPr>
                        <a:buNone/>
                      </a:pPr>
                      <a:r>
                        <a:rPr lang="en-US" sz="1200" b="1"/>
                        <a:t>12</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2024</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Singh S. </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Intelligent traffic-aware EV route optimization</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Traffic-aware EV routing model</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Traditional route planning</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Reduced energy usage, improved ETA accuracy</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Enables smart-grid-cooperative EV navigation</a:t>
                      </a:r>
                      <a:endParaRPr lang="en-US" sz="120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1442496478"/>
                  </a:ext>
                </a:extLst>
              </a:tr>
              <a:tr h="837064">
                <a:tc>
                  <a:txBody>
                    <a:bodyPr/>
                    <a:lstStyle/>
                    <a:p>
                      <a:pPr>
                        <a:buNone/>
                      </a:pPr>
                      <a:r>
                        <a:rPr lang="en-US" sz="1200" b="1"/>
                        <a:t>13</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2024</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Kim H. </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Wireless communication–based driver assistance for shared control</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Wireless shared-control driver assistance framework</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Manual or basic ADAS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Improved lane maintenance, fewer reaction-time errors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Enhances human–automation interaction</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1556041285"/>
                  </a:ext>
                </a:extLst>
              </a:tr>
              <a:tr h="1065354">
                <a:tc>
                  <a:txBody>
                    <a:bodyPr/>
                    <a:lstStyle/>
                    <a:p>
                      <a:pPr>
                        <a:buNone/>
                      </a:pPr>
                      <a:r>
                        <a:rPr lang="en-US" sz="1200" b="1"/>
                        <a:t>14</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2024</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Rahman </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Sensor-fusion-based vehicle behavior prediction using deep neural layers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Deep-learning predictive behavior model</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Conventional sensor-only detection</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Higher hazard-prediction accuracy</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Strengthens predictive safety in autonomous vehicles</a:t>
                      </a:r>
                      <a:endParaRPr lang="en-US" sz="120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810484077"/>
                  </a:ext>
                </a:extLst>
              </a:tr>
              <a:tr h="837064">
                <a:tc>
                  <a:txBody>
                    <a:bodyPr/>
                    <a:lstStyle/>
                    <a:p>
                      <a:pPr>
                        <a:buNone/>
                      </a:pPr>
                      <a:r>
                        <a:rPr lang="en-US" sz="1200" b="1" dirty="0"/>
                        <a:t>15</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2024</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Khan M. </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EV charging–discharging optimization under renewable constraints</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Hybrid renewable-aware scheduling model</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Standard grid charging</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a:t>Lower charging cost, stable power flow</a:t>
                      </a:r>
                      <a:endParaRPr lang="en-US" sz="1200">
                        <a:latin typeface="Times New Roman" panose="02020603050405020304" pitchFamily="18" charset="0"/>
                        <a:cs typeface="Times New Roman" panose="02020603050405020304" pitchFamily="18" charset="0"/>
                      </a:endParaRPr>
                    </a:p>
                  </a:txBody>
                  <a:tcPr marL="38048" marR="38048" marT="19024" marB="19024" anchor="ctr"/>
                </a:tc>
                <a:tc>
                  <a:txBody>
                    <a:bodyPr/>
                    <a:lstStyle/>
                    <a:p>
                      <a:pPr>
                        <a:buNone/>
                      </a:pPr>
                      <a:r>
                        <a:rPr lang="en-US" sz="1200" dirty="0"/>
                        <a:t>Improves energy-aware EV infrastructure</a:t>
                      </a:r>
                      <a:endParaRPr lang="en-US" sz="1200" dirty="0">
                        <a:latin typeface="Times New Roman" panose="02020603050405020304" pitchFamily="18" charset="0"/>
                        <a:cs typeface="Times New Roman" panose="02020603050405020304" pitchFamily="18" charset="0"/>
                      </a:endParaRPr>
                    </a:p>
                  </a:txBody>
                  <a:tcPr marL="38048" marR="38048" marT="19024" marB="19024" anchor="ctr"/>
                </a:tc>
                <a:extLst>
                  <a:ext uri="{0D108BD9-81ED-4DB2-BD59-A6C34878D82A}">
                    <a16:rowId xmlns:a16="http://schemas.microsoft.com/office/drawing/2014/main" val="1592489215"/>
                  </a:ext>
                </a:extLst>
              </a:tr>
            </a:tbl>
          </a:graphicData>
        </a:graphic>
      </p:graphicFrame>
    </p:spTree>
    <p:extLst>
      <p:ext uri="{BB962C8B-B14F-4D97-AF65-F5344CB8AC3E}">
        <p14:creationId xmlns:p14="http://schemas.microsoft.com/office/powerpoint/2010/main" val="1208721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DD3B618-E88A-CC4F-94F4-F3D58F2C0C4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0879AB7-44DB-D486-09A0-3864953D55FB}"/>
              </a:ext>
            </a:extLst>
          </p:cNvPr>
          <p:cNvSpPr txBox="1">
            <a:spLocks noGrp="1"/>
          </p:cNvSpPr>
          <p:nvPr>
            <p:ph type="title"/>
          </p:nvPr>
        </p:nvSpPr>
        <p:spPr>
          <a:xfrm>
            <a:off x="4074331" y="228600"/>
            <a:ext cx="4043335" cy="452120"/>
          </a:xfrm>
          <a:prstGeom prst="rect">
            <a:avLst/>
          </a:prstGeom>
        </p:spPr>
        <p:txBody>
          <a:bodyPr vert="horz" wrap="square" lIns="0" tIns="12065" rIns="0" bIns="0" rtlCol="0">
            <a:spAutoFit/>
          </a:bodyPr>
          <a:lstStyle/>
          <a:p>
            <a:pPr marL="12700">
              <a:lnSpc>
                <a:spcPct val="100000"/>
              </a:lnSpc>
              <a:spcBef>
                <a:spcPts val="95"/>
              </a:spcBef>
            </a:pPr>
            <a:r>
              <a:rPr spc="-25" dirty="0"/>
              <a:t>LITERATURE</a:t>
            </a:r>
            <a:r>
              <a:rPr spc="-80" dirty="0"/>
              <a:t> </a:t>
            </a:r>
            <a:r>
              <a:rPr spc="-10" dirty="0"/>
              <a:t>SURVEY</a:t>
            </a:r>
          </a:p>
        </p:txBody>
      </p:sp>
      <p:graphicFrame>
        <p:nvGraphicFramePr>
          <p:cNvPr id="2" name="Table 1">
            <a:extLst>
              <a:ext uri="{FF2B5EF4-FFF2-40B4-BE49-F238E27FC236}">
                <a16:creationId xmlns:a16="http://schemas.microsoft.com/office/drawing/2014/main" id="{1A9AD7C3-2977-90BA-98C7-D011B1351B62}"/>
              </a:ext>
            </a:extLst>
          </p:cNvPr>
          <p:cNvGraphicFramePr>
            <a:graphicFrameLocks noGrp="1"/>
          </p:cNvGraphicFramePr>
          <p:nvPr>
            <p:extLst>
              <p:ext uri="{D42A27DB-BD31-4B8C-83A1-F6EECF244321}">
                <p14:modId xmlns:p14="http://schemas.microsoft.com/office/powerpoint/2010/main" val="2712038551"/>
              </p:ext>
            </p:extLst>
          </p:nvPr>
        </p:nvGraphicFramePr>
        <p:xfrm>
          <a:off x="1790699" y="914400"/>
          <a:ext cx="8610600" cy="5570940"/>
        </p:xfrm>
        <a:graphic>
          <a:graphicData uri="http://schemas.openxmlformats.org/drawingml/2006/table">
            <a:tbl>
              <a:tblPr>
                <a:tableStyleId>{BDBED569-4797-4DF1-A0F4-6AAB3CD982D8}</a:tableStyleId>
              </a:tblPr>
              <a:tblGrid>
                <a:gridCol w="1076325">
                  <a:extLst>
                    <a:ext uri="{9D8B030D-6E8A-4147-A177-3AD203B41FA5}">
                      <a16:colId xmlns:a16="http://schemas.microsoft.com/office/drawing/2014/main" val="1810327561"/>
                    </a:ext>
                  </a:extLst>
                </a:gridCol>
                <a:gridCol w="1076325">
                  <a:extLst>
                    <a:ext uri="{9D8B030D-6E8A-4147-A177-3AD203B41FA5}">
                      <a16:colId xmlns:a16="http://schemas.microsoft.com/office/drawing/2014/main" val="3481402775"/>
                    </a:ext>
                  </a:extLst>
                </a:gridCol>
                <a:gridCol w="1076325">
                  <a:extLst>
                    <a:ext uri="{9D8B030D-6E8A-4147-A177-3AD203B41FA5}">
                      <a16:colId xmlns:a16="http://schemas.microsoft.com/office/drawing/2014/main" val="3531992360"/>
                    </a:ext>
                  </a:extLst>
                </a:gridCol>
                <a:gridCol w="1076325">
                  <a:extLst>
                    <a:ext uri="{9D8B030D-6E8A-4147-A177-3AD203B41FA5}">
                      <a16:colId xmlns:a16="http://schemas.microsoft.com/office/drawing/2014/main" val="1833517305"/>
                    </a:ext>
                  </a:extLst>
                </a:gridCol>
                <a:gridCol w="1076325">
                  <a:extLst>
                    <a:ext uri="{9D8B030D-6E8A-4147-A177-3AD203B41FA5}">
                      <a16:colId xmlns:a16="http://schemas.microsoft.com/office/drawing/2014/main" val="2667104647"/>
                    </a:ext>
                  </a:extLst>
                </a:gridCol>
                <a:gridCol w="1076325">
                  <a:extLst>
                    <a:ext uri="{9D8B030D-6E8A-4147-A177-3AD203B41FA5}">
                      <a16:colId xmlns:a16="http://schemas.microsoft.com/office/drawing/2014/main" val="450671728"/>
                    </a:ext>
                  </a:extLst>
                </a:gridCol>
                <a:gridCol w="1076325">
                  <a:extLst>
                    <a:ext uri="{9D8B030D-6E8A-4147-A177-3AD203B41FA5}">
                      <a16:colId xmlns:a16="http://schemas.microsoft.com/office/drawing/2014/main" val="477715791"/>
                    </a:ext>
                  </a:extLst>
                </a:gridCol>
                <a:gridCol w="1076325">
                  <a:extLst>
                    <a:ext uri="{9D8B030D-6E8A-4147-A177-3AD203B41FA5}">
                      <a16:colId xmlns:a16="http://schemas.microsoft.com/office/drawing/2014/main" val="984149155"/>
                    </a:ext>
                  </a:extLst>
                </a:gridCol>
              </a:tblGrid>
              <a:tr h="311997">
                <a:tc>
                  <a:txBody>
                    <a:bodyPr/>
                    <a:lstStyle/>
                    <a:p>
                      <a:pPr>
                        <a:buNone/>
                      </a:pPr>
                      <a:r>
                        <a:rPr lang="en-US" sz="1200" b="1"/>
                        <a:t>Sl. No</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Year</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Author(s)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Title / Study Focus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Proposed System</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Existing System</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Result</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b="1"/>
                        <a:t>Key Finding</a:t>
                      </a:r>
                      <a:endParaRPr lang="en-US" sz="120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1029981183"/>
                  </a:ext>
                </a:extLst>
              </a:tr>
              <a:tr h="980561">
                <a:tc>
                  <a:txBody>
                    <a:bodyPr/>
                    <a:lstStyle/>
                    <a:p>
                      <a:pPr>
                        <a:buNone/>
                      </a:pPr>
                      <a:r>
                        <a:rPr lang="en-US" sz="1200" b="1"/>
                        <a:t>16</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2025</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Visconti P.</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Driver monitoring &amp; on-board systems for smart-road networks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Advanced on-board monitoring + IoV-integrated safety systems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Traditional in-vehicle monitoring systems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Faster integration, enhanced safety connectivity</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IoV systems accelerate adoption of smart-road safety technologies</a:t>
                      </a:r>
                      <a:endParaRPr lang="en-US" sz="120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2410051075"/>
                  </a:ext>
                </a:extLst>
              </a:tr>
              <a:tr h="846848">
                <a:tc>
                  <a:txBody>
                    <a:bodyPr/>
                    <a:lstStyle/>
                    <a:p>
                      <a:pPr>
                        <a:buNone/>
                      </a:pPr>
                      <a:r>
                        <a:rPr lang="en-US" sz="1200" b="1" dirty="0"/>
                        <a:t>17</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2025</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Mansouri N. </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Hydrogen HEV control using GPS-based speed prediction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GPS-assisted hybrid energy management</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Conventional hydrogen HEV control</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Lower energy consumption, extended driving range</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Demonstrates feasibility of predictive hybrid adaptive control</a:t>
                      </a:r>
                      <a:endParaRPr lang="en-US" sz="120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1328520100"/>
                  </a:ext>
                </a:extLst>
              </a:tr>
              <a:tr h="846848">
                <a:tc>
                  <a:txBody>
                    <a:bodyPr/>
                    <a:lstStyle/>
                    <a:p>
                      <a:pPr>
                        <a:buNone/>
                      </a:pPr>
                      <a:r>
                        <a:rPr lang="en-US" sz="1200" b="1"/>
                        <a:t>18</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2025</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Wang T. </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Dynamic stability for multi-vehicle connected systems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Cooperative driving stability optimization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Standard vehicle control</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Higher stability under heterogeneous traffic</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Improves real-time multi-vehicle coordination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582779905"/>
                  </a:ext>
                </a:extLst>
              </a:tr>
              <a:tr h="846848">
                <a:tc>
                  <a:txBody>
                    <a:bodyPr/>
                    <a:lstStyle/>
                    <a:p>
                      <a:pPr>
                        <a:buNone/>
                      </a:pPr>
                      <a:r>
                        <a:rPr lang="en-US" sz="1200" b="1"/>
                        <a:t>19</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2025</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err="1"/>
                        <a:t>Bilban</a:t>
                      </a:r>
                      <a:r>
                        <a:rPr lang="en-US" sz="1200" dirty="0"/>
                        <a:t> M.</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Decision-making improvement via enhanced PPO</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Enhanced proximal policy optimization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Traditional RL decision systems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Better control precision &amp; adaptation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Strengthens AV decision-making in uncertain environments</a:t>
                      </a:r>
                      <a:endParaRPr lang="en-US" sz="120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254638483"/>
                  </a:ext>
                </a:extLst>
              </a:tr>
              <a:tr h="846848">
                <a:tc>
                  <a:txBody>
                    <a:bodyPr/>
                    <a:lstStyle/>
                    <a:p>
                      <a:pPr>
                        <a:buNone/>
                      </a:pPr>
                      <a:r>
                        <a:rPr lang="en-US" sz="1200" b="1"/>
                        <a:t>20</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2025</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Zhang B. </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Genetic optimization for railway maintenance vehicle speed</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Multi-objective genetic optimization</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Manual planning or fixed-rule systems</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a:t>Reduced operating time, better safety</a:t>
                      </a:r>
                      <a:endParaRPr lang="en-US" sz="1200">
                        <a:latin typeface="Times New Roman" panose="02020603050405020304" pitchFamily="18" charset="0"/>
                        <a:cs typeface="Times New Roman" panose="02020603050405020304" pitchFamily="18" charset="0"/>
                      </a:endParaRPr>
                    </a:p>
                  </a:txBody>
                  <a:tcPr marL="44571" marR="44571" marT="22285" marB="22285" anchor="ctr"/>
                </a:tc>
                <a:tc>
                  <a:txBody>
                    <a:bodyPr/>
                    <a:lstStyle/>
                    <a:p>
                      <a:pPr>
                        <a:buNone/>
                      </a:pPr>
                      <a:r>
                        <a:rPr lang="en-US" sz="1200" dirty="0"/>
                        <a:t>Supports optimized scheduling for railway maintenance vehicles</a:t>
                      </a:r>
                      <a:endParaRPr lang="en-US" sz="1200" dirty="0">
                        <a:latin typeface="Times New Roman" panose="02020603050405020304" pitchFamily="18" charset="0"/>
                        <a:cs typeface="Times New Roman" panose="02020603050405020304" pitchFamily="18" charset="0"/>
                      </a:endParaRPr>
                    </a:p>
                  </a:txBody>
                  <a:tcPr marL="44571" marR="44571" marT="22285" marB="22285" anchor="ctr"/>
                </a:tc>
                <a:extLst>
                  <a:ext uri="{0D108BD9-81ED-4DB2-BD59-A6C34878D82A}">
                    <a16:rowId xmlns:a16="http://schemas.microsoft.com/office/drawing/2014/main" val="1853212741"/>
                  </a:ext>
                </a:extLst>
              </a:tr>
            </a:tbl>
          </a:graphicData>
        </a:graphic>
      </p:graphicFrame>
    </p:spTree>
    <p:extLst>
      <p:ext uri="{BB962C8B-B14F-4D97-AF65-F5344CB8AC3E}">
        <p14:creationId xmlns:p14="http://schemas.microsoft.com/office/powerpoint/2010/main" val="30667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81000"/>
            <a:ext cx="7867015" cy="799922"/>
          </a:xfrm>
          <a:prstGeom prst="rect">
            <a:avLst/>
          </a:prstGeom>
        </p:spPr>
        <p:txBody>
          <a:bodyPr vert="horz" wrap="square" lIns="0" tIns="12700" rIns="0" bIns="0" rtlCol="0">
            <a:spAutoFit/>
          </a:bodyPr>
          <a:lstStyle/>
          <a:p>
            <a:pPr marL="1863089">
              <a:lnSpc>
                <a:spcPct val="100000"/>
              </a:lnSpc>
              <a:spcBef>
                <a:spcPts val="100"/>
              </a:spcBef>
            </a:pPr>
            <a:r>
              <a:rPr sz="3200" dirty="0"/>
              <a:t>RESEARCH</a:t>
            </a:r>
            <a:r>
              <a:rPr sz="3200" spc="-40" dirty="0"/>
              <a:t> </a:t>
            </a:r>
            <a:r>
              <a:rPr sz="3200" spc="-20" dirty="0"/>
              <a:t>GAPS</a:t>
            </a:r>
            <a:endParaRPr sz="3200" dirty="0"/>
          </a:p>
        </p:txBody>
      </p:sp>
      <p:sp>
        <p:nvSpPr>
          <p:cNvPr id="3" name="object 3"/>
          <p:cNvSpPr txBox="1"/>
          <p:nvPr/>
        </p:nvSpPr>
        <p:spPr>
          <a:xfrm>
            <a:off x="1066800" y="1828800"/>
            <a:ext cx="9417305" cy="2936701"/>
          </a:xfrm>
          <a:prstGeom prst="rect">
            <a:avLst/>
          </a:prstGeom>
        </p:spPr>
        <p:txBody>
          <a:bodyPr vert="horz" wrap="square" lIns="0" tIns="149860" rIns="0" bIns="0" rtlCol="0">
            <a:spAutoFit/>
          </a:bodyPr>
          <a:lstStyle/>
          <a:p>
            <a:pPr marL="12700" algn="just">
              <a:lnSpc>
                <a:spcPct val="100000"/>
              </a:lnSpc>
              <a:spcBef>
                <a:spcPts val="1180"/>
              </a:spcBef>
              <a:tabLst>
                <a:tab pos="299085" algn="l"/>
              </a:tabLst>
            </a:pPr>
            <a:r>
              <a:rPr lang="en-US" sz="1800" dirty="0">
                <a:latin typeface="Times New Roman"/>
                <a:cs typeface="Times New Roman"/>
              </a:rPr>
              <a:t>1. </a:t>
            </a:r>
            <a:r>
              <a:rPr sz="1800" dirty="0">
                <a:latin typeface="Times New Roman"/>
                <a:cs typeface="Times New Roman"/>
              </a:rPr>
              <a:t>Existing</a:t>
            </a:r>
            <a:r>
              <a:rPr sz="1800" spc="-85" dirty="0">
                <a:latin typeface="Times New Roman"/>
                <a:cs typeface="Times New Roman"/>
              </a:rPr>
              <a:t> </a:t>
            </a:r>
            <a:r>
              <a:rPr sz="1800" dirty="0">
                <a:latin typeface="Times New Roman"/>
                <a:cs typeface="Times New Roman"/>
              </a:rPr>
              <a:t>systems</a:t>
            </a:r>
            <a:r>
              <a:rPr sz="1800" spc="-85" dirty="0">
                <a:latin typeface="Times New Roman"/>
                <a:cs typeface="Times New Roman"/>
              </a:rPr>
              <a:t> </a:t>
            </a:r>
            <a:r>
              <a:rPr sz="1800" dirty="0">
                <a:latin typeface="Times New Roman"/>
                <a:cs typeface="Times New Roman"/>
              </a:rPr>
              <a:t>underutilize</a:t>
            </a:r>
            <a:r>
              <a:rPr sz="1800" spc="-45" dirty="0">
                <a:latin typeface="Times New Roman"/>
                <a:cs typeface="Times New Roman"/>
              </a:rPr>
              <a:t> </a:t>
            </a:r>
            <a:r>
              <a:rPr sz="1800" dirty="0">
                <a:latin typeface="Times New Roman"/>
                <a:cs typeface="Times New Roman"/>
              </a:rPr>
              <a:t>OBU</a:t>
            </a:r>
            <a:r>
              <a:rPr sz="1800" spc="-65" dirty="0">
                <a:latin typeface="Times New Roman"/>
                <a:cs typeface="Times New Roman"/>
              </a:rPr>
              <a:t> </a:t>
            </a:r>
            <a:r>
              <a:rPr sz="1800" dirty="0">
                <a:latin typeface="Times New Roman"/>
                <a:cs typeface="Times New Roman"/>
              </a:rPr>
              <a:t>data</a:t>
            </a:r>
            <a:r>
              <a:rPr sz="1800" spc="-60" dirty="0">
                <a:latin typeface="Times New Roman"/>
                <a:cs typeface="Times New Roman"/>
              </a:rPr>
              <a:t> </a:t>
            </a:r>
            <a:r>
              <a:rPr sz="1800" dirty="0">
                <a:latin typeface="Times New Roman"/>
                <a:cs typeface="Times New Roman"/>
              </a:rPr>
              <a:t>for</a:t>
            </a:r>
            <a:r>
              <a:rPr sz="1800" spc="-50" dirty="0">
                <a:latin typeface="Times New Roman"/>
                <a:cs typeface="Times New Roman"/>
              </a:rPr>
              <a:t> </a:t>
            </a:r>
            <a:r>
              <a:rPr sz="1800" dirty="0">
                <a:latin typeface="Times New Roman"/>
                <a:cs typeface="Times New Roman"/>
              </a:rPr>
              <a:t>predictive</a:t>
            </a:r>
            <a:r>
              <a:rPr sz="1800" spc="-75" dirty="0">
                <a:latin typeface="Times New Roman"/>
                <a:cs typeface="Times New Roman"/>
              </a:rPr>
              <a:t> </a:t>
            </a:r>
            <a:r>
              <a:rPr sz="1800" spc="-10" dirty="0">
                <a:latin typeface="Times New Roman"/>
                <a:cs typeface="Times New Roman"/>
              </a:rPr>
              <a:t>analytics.</a:t>
            </a:r>
            <a:endParaRPr sz="1800" dirty="0">
              <a:latin typeface="Times New Roman"/>
              <a:cs typeface="Times New Roman"/>
            </a:endParaRPr>
          </a:p>
          <a:p>
            <a:pPr marL="12700" algn="just">
              <a:lnSpc>
                <a:spcPct val="100000"/>
              </a:lnSpc>
              <a:spcBef>
                <a:spcPts val="1085"/>
              </a:spcBef>
              <a:tabLst>
                <a:tab pos="299085" algn="l"/>
              </a:tabLst>
            </a:pPr>
            <a:r>
              <a:rPr lang="en-US" sz="1800" dirty="0">
                <a:latin typeface="Times New Roman"/>
                <a:cs typeface="Times New Roman"/>
              </a:rPr>
              <a:t>2. </a:t>
            </a:r>
            <a:r>
              <a:rPr sz="1800" dirty="0">
                <a:latin typeface="Times New Roman"/>
                <a:cs typeface="Times New Roman"/>
              </a:rPr>
              <a:t>Lack</a:t>
            </a:r>
            <a:r>
              <a:rPr sz="1800" spc="-80" dirty="0">
                <a:latin typeface="Times New Roman"/>
                <a:cs typeface="Times New Roman"/>
              </a:rPr>
              <a:t> </a:t>
            </a:r>
            <a:r>
              <a:rPr sz="1800" dirty="0">
                <a:latin typeface="Times New Roman"/>
                <a:cs typeface="Times New Roman"/>
              </a:rPr>
              <a:t>of</a:t>
            </a:r>
            <a:r>
              <a:rPr sz="1800" spc="-40" dirty="0">
                <a:latin typeface="Times New Roman"/>
                <a:cs typeface="Times New Roman"/>
              </a:rPr>
              <a:t> </a:t>
            </a:r>
            <a:r>
              <a:rPr sz="1800" dirty="0">
                <a:latin typeface="Times New Roman"/>
                <a:cs typeface="Times New Roman"/>
              </a:rPr>
              <a:t>a</a:t>
            </a:r>
            <a:r>
              <a:rPr sz="1800" spc="-55" dirty="0">
                <a:latin typeface="Times New Roman"/>
                <a:cs typeface="Times New Roman"/>
              </a:rPr>
              <a:t> </a:t>
            </a:r>
            <a:r>
              <a:rPr sz="1800" spc="-10" dirty="0">
                <a:latin typeface="Times New Roman"/>
                <a:cs typeface="Times New Roman"/>
              </a:rPr>
              <a:t>comprehensive</a:t>
            </a:r>
            <a:r>
              <a:rPr sz="1800" spc="-50" dirty="0">
                <a:latin typeface="Times New Roman"/>
                <a:cs typeface="Times New Roman"/>
              </a:rPr>
              <a:t> </a:t>
            </a:r>
            <a:r>
              <a:rPr sz="1800" dirty="0">
                <a:latin typeface="Times New Roman"/>
                <a:cs typeface="Times New Roman"/>
              </a:rPr>
              <a:t>machine</a:t>
            </a:r>
            <a:r>
              <a:rPr sz="1800" spc="-35" dirty="0">
                <a:latin typeface="Times New Roman"/>
                <a:cs typeface="Times New Roman"/>
              </a:rPr>
              <a:t> </a:t>
            </a:r>
            <a:r>
              <a:rPr sz="1800" dirty="0">
                <a:latin typeface="Times New Roman"/>
                <a:cs typeface="Times New Roman"/>
              </a:rPr>
              <a:t>learning</a:t>
            </a:r>
            <a:r>
              <a:rPr sz="1800" spc="-75" dirty="0">
                <a:latin typeface="Times New Roman"/>
                <a:cs typeface="Times New Roman"/>
              </a:rPr>
              <a:t> </a:t>
            </a:r>
            <a:r>
              <a:rPr sz="1800" spc="-10" dirty="0">
                <a:latin typeface="Times New Roman"/>
                <a:cs typeface="Times New Roman"/>
              </a:rPr>
              <a:t>framework</a:t>
            </a:r>
            <a:r>
              <a:rPr sz="1800" spc="-65" dirty="0">
                <a:latin typeface="Times New Roman"/>
                <a:cs typeface="Times New Roman"/>
              </a:rPr>
              <a:t> </a:t>
            </a:r>
            <a:r>
              <a:rPr sz="1800" dirty="0">
                <a:latin typeface="Times New Roman"/>
                <a:cs typeface="Times New Roman"/>
              </a:rPr>
              <a:t>for</a:t>
            </a:r>
            <a:r>
              <a:rPr sz="1800" spc="-35" dirty="0">
                <a:latin typeface="Times New Roman"/>
                <a:cs typeface="Times New Roman"/>
              </a:rPr>
              <a:t> </a:t>
            </a:r>
            <a:r>
              <a:rPr sz="1800" dirty="0">
                <a:latin typeface="Times New Roman"/>
                <a:cs typeface="Times New Roman"/>
              </a:rPr>
              <a:t>OBU</a:t>
            </a:r>
            <a:r>
              <a:rPr sz="1800" spc="-55" dirty="0">
                <a:latin typeface="Times New Roman"/>
                <a:cs typeface="Times New Roman"/>
              </a:rPr>
              <a:t> </a:t>
            </a:r>
            <a:r>
              <a:rPr sz="1800" dirty="0">
                <a:latin typeface="Times New Roman"/>
                <a:cs typeface="Times New Roman"/>
              </a:rPr>
              <a:t>capability</a:t>
            </a:r>
            <a:r>
              <a:rPr sz="1800" spc="-95" dirty="0">
                <a:latin typeface="Times New Roman"/>
                <a:cs typeface="Times New Roman"/>
              </a:rPr>
              <a:t> </a:t>
            </a:r>
            <a:r>
              <a:rPr sz="1800" spc="-10" dirty="0">
                <a:latin typeface="Times New Roman"/>
                <a:cs typeface="Times New Roman"/>
              </a:rPr>
              <a:t>profiling.</a:t>
            </a:r>
            <a:endParaRPr sz="1800" dirty="0">
              <a:latin typeface="Times New Roman"/>
              <a:cs typeface="Times New Roman"/>
            </a:endParaRPr>
          </a:p>
          <a:p>
            <a:pPr marL="12700" algn="just">
              <a:lnSpc>
                <a:spcPct val="100000"/>
              </a:lnSpc>
              <a:spcBef>
                <a:spcPts val="1080"/>
              </a:spcBef>
              <a:tabLst>
                <a:tab pos="299085" algn="l"/>
              </a:tabLst>
            </a:pPr>
            <a:r>
              <a:rPr lang="en-US" sz="1800" dirty="0">
                <a:latin typeface="Times New Roman"/>
                <a:cs typeface="Times New Roman"/>
              </a:rPr>
              <a:t>3. </a:t>
            </a:r>
            <a:r>
              <a:rPr sz="1800" dirty="0">
                <a:latin typeface="Times New Roman"/>
                <a:cs typeface="Times New Roman"/>
              </a:rPr>
              <a:t>Few</a:t>
            </a:r>
            <a:r>
              <a:rPr sz="1800" spc="-60" dirty="0">
                <a:latin typeface="Times New Roman"/>
                <a:cs typeface="Times New Roman"/>
              </a:rPr>
              <a:t> </a:t>
            </a:r>
            <a:r>
              <a:rPr sz="1800" spc="-35" dirty="0">
                <a:latin typeface="Times New Roman"/>
                <a:cs typeface="Times New Roman"/>
              </a:rPr>
              <a:t>regression-</a:t>
            </a:r>
            <a:r>
              <a:rPr sz="1800" dirty="0">
                <a:latin typeface="Times New Roman"/>
                <a:cs typeface="Times New Roman"/>
              </a:rPr>
              <a:t>based</a:t>
            </a:r>
            <a:r>
              <a:rPr sz="1800" spc="10" dirty="0">
                <a:latin typeface="Times New Roman"/>
                <a:cs typeface="Times New Roman"/>
              </a:rPr>
              <a:t> </a:t>
            </a:r>
            <a:r>
              <a:rPr sz="1800" dirty="0">
                <a:latin typeface="Times New Roman"/>
                <a:cs typeface="Times New Roman"/>
              </a:rPr>
              <a:t>models</a:t>
            </a:r>
            <a:r>
              <a:rPr sz="1800" spc="-30" dirty="0">
                <a:latin typeface="Times New Roman"/>
                <a:cs typeface="Times New Roman"/>
              </a:rPr>
              <a:t> </a:t>
            </a:r>
            <a:r>
              <a:rPr sz="1800" dirty="0">
                <a:latin typeface="Times New Roman"/>
                <a:cs typeface="Times New Roman"/>
              </a:rPr>
              <a:t>exist</a:t>
            </a:r>
            <a:r>
              <a:rPr sz="1800" spc="-55" dirty="0">
                <a:latin typeface="Times New Roman"/>
                <a:cs typeface="Times New Roman"/>
              </a:rPr>
              <a:t> </a:t>
            </a:r>
            <a:r>
              <a:rPr sz="1800" dirty="0">
                <a:latin typeface="Times New Roman"/>
                <a:cs typeface="Times New Roman"/>
              </a:rPr>
              <a:t>for</a:t>
            </a:r>
            <a:r>
              <a:rPr sz="1800" spc="-35" dirty="0">
                <a:latin typeface="Times New Roman"/>
                <a:cs typeface="Times New Roman"/>
              </a:rPr>
              <a:t> </a:t>
            </a:r>
            <a:r>
              <a:rPr sz="1800" dirty="0">
                <a:latin typeface="Times New Roman"/>
                <a:cs typeface="Times New Roman"/>
              </a:rPr>
              <a:t>accurate</a:t>
            </a:r>
            <a:r>
              <a:rPr sz="1800" spc="-50" dirty="0">
                <a:latin typeface="Times New Roman"/>
                <a:cs typeface="Times New Roman"/>
              </a:rPr>
              <a:t> </a:t>
            </a:r>
            <a:r>
              <a:rPr sz="1800" spc="-10" dirty="0">
                <a:latin typeface="Times New Roman"/>
                <a:cs typeface="Times New Roman"/>
              </a:rPr>
              <a:t>performance</a:t>
            </a:r>
            <a:r>
              <a:rPr sz="1800" spc="-55" dirty="0">
                <a:latin typeface="Times New Roman"/>
                <a:cs typeface="Times New Roman"/>
              </a:rPr>
              <a:t> </a:t>
            </a:r>
            <a:r>
              <a:rPr sz="1800" spc="-10" dirty="0">
                <a:latin typeface="Times New Roman"/>
                <a:cs typeface="Times New Roman"/>
              </a:rPr>
              <a:t>prediction.</a:t>
            </a:r>
            <a:endParaRPr sz="1800" dirty="0">
              <a:latin typeface="Times New Roman"/>
              <a:cs typeface="Times New Roman"/>
            </a:endParaRPr>
          </a:p>
          <a:p>
            <a:pPr marL="12700" algn="just">
              <a:lnSpc>
                <a:spcPct val="100000"/>
              </a:lnSpc>
              <a:spcBef>
                <a:spcPts val="1080"/>
              </a:spcBef>
              <a:tabLst>
                <a:tab pos="299085" algn="l"/>
              </a:tabLst>
            </a:pPr>
            <a:r>
              <a:rPr lang="en-US" sz="1800" dirty="0">
                <a:latin typeface="Times New Roman"/>
                <a:cs typeface="Times New Roman"/>
              </a:rPr>
              <a:t>4. </a:t>
            </a:r>
            <a:r>
              <a:rPr sz="1800" dirty="0">
                <a:latin typeface="Times New Roman"/>
                <a:cs typeface="Times New Roman"/>
              </a:rPr>
              <a:t>Current</a:t>
            </a:r>
            <a:r>
              <a:rPr sz="1800" spc="-75" dirty="0">
                <a:latin typeface="Times New Roman"/>
                <a:cs typeface="Times New Roman"/>
              </a:rPr>
              <a:t> </a:t>
            </a:r>
            <a:r>
              <a:rPr sz="1800" dirty="0">
                <a:latin typeface="Times New Roman"/>
                <a:cs typeface="Times New Roman"/>
              </a:rPr>
              <a:t>methods</a:t>
            </a:r>
            <a:r>
              <a:rPr sz="1800" spc="-50" dirty="0">
                <a:latin typeface="Times New Roman"/>
                <a:cs typeface="Times New Roman"/>
              </a:rPr>
              <a:t> </a:t>
            </a:r>
            <a:r>
              <a:rPr sz="1800" dirty="0">
                <a:latin typeface="Times New Roman"/>
                <a:cs typeface="Times New Roman"/>
              </a:rPr>
              <a:t>struggle</a:t>
            </a:r>
            <a:r>
              <a:rPr sz="1800" spc="-60" dirty="0">
                <a:latin typeface="Times New Roman"/>
                <a:cs typeface="Times New Roman"/>
              </a:rPr>
              <a:t> </a:t>
            </a:r>
            <a:r>
              <a:rPr sz="1800" dirty="0">
                <a:latin typeface="Times New Roman"/>
                <a:cs typeface="Times New Roman"/>
              </a:rPr>
              <a:t>to</a:t>
            </a:r>
            <a:r>
              <a:rPr sz="1800" spc="-65" dirty="0">
                <a:latin typeface="Times New Roman"/>
                <a:cs typeface="Times New Roman"/>
              </a:rPr>
              <a:t> </a:t>
            </a:r>
            <a:r>
              <a:rPr sz="1800" dirty="0">
                <a:latin typeface="Times New Roman"/>
                <a:cs typeface="Times New Roman"/>
              </a:rPr>
              <a:t>adapt</a:t>
            </a:r>
            <a:r>
              <a:rPr sz="1800" spc="-65" dirty="0">
                <a:latin typeface="Times New Roman"/>
                <a:cs typeface="Times New Roman"/>
              </a:rPr>
              <a:t> </a:t>
            </a:r>
            <a:r>
              <a:rPr sz="1800" dirty="0">
                <a:latin typeface="Times New Roman"/>
                <a:cs typeface="Times New Roman"/>
              </a:rPr>
              <a:t>to</a:t>
            </a:r>
            <a:r>
              <a:rPr sz="1800" spc="-60" dirty="0">
                <a:latin typeface="Times New Roman"/>
                <a:cs typeface="Times New Roman"/>
              </a:rPr>
              <a:t> </a:t>
            </a:r>
            <a:r>
              <a:rPr sz="1800" dirty="0">
                <a:latin typeface="Times New Roman"/>
                <a:cs typeface="Times New Roman"/>
              </a:rPr>
              <a:t>dynamic</a:t>
            </a:r>
            <a:r>
              <a:rPr sz="1800" spc="-90" dirty="0">
                <a:latin typeface="Times New Roman"/>
                <a:cs typeface="Times New Roman"/>
              </a:rPr>
              <a:t> </a:t>
            </a:r>
            <a:r>
              <a:rPr sz="1800" dirty="0">
                <a:latin typeface="Times New Roman"/>
                <a:cs typeface="Times New Roman"/>
              </a:rPr>
              <a:t>driving</a:t>
            </a:r>
            <a:r>
              <a:rPr sz="1800" spc="-80" dirty="0">
                <a:latin typeface="Times New Roman"/>
                <a:cs typeface="Times New Roman"/>
              </a:rPr>
              <a:t> </a:t>
            </a:r>
            <a:r>
              <a:rPr sz="1800" dirty="0">
                <a:latin typeface="Times New Roman"/>
                <a:cs typeface="Times New Roman"/>
              </a:rPr>
              <a:t>and</a:t>
            </a:r>
            <a:r>
              <a:rPr sz="1800" spc="-65" dirty="0">
                <a:latin typeface="Times New Roman"/>
                <a:cs typeface="Times New Roman"/>
              </a:rPr>
              <a:t> </a:t>
            </a:r>
            <a:r>
              <a:rPr sz="1800" dirty="0">
                <a:latin typeface="Times New Roman"/>
                <a:cs typeface="Times New Roman"/>
              </a:rPr>
              <a:t>sensor</a:t>
            </a:r>
            <a:r>
              <a:rPr sz="1800" spc="-50" dirty="0">
                <a:latin typeface="Times New Roman"/>
                <a:cs typeface="Times New Roman"/>
              </a:rPr>
              <a:t> </a:t>
            </a:r>
            <a:r>
              <a:rPr sz="1800" spc="-10" dirty="0">
                <a:latin typeface="Times New Roman"/>
                <a:cs typeface="Times New Roman"/>
              </a:rPr>
              <a:t>conditions.</a:t>
            </a:r>
            <a:endParaRPr sz="1800" dirty="0">
              <a:latin typeface="Times New Roman"/>
              <a:cs typeface="Times New Roman"/>
            </a:endParaRPr>
          </a:p>
          <a:p>
            <a:pPr marL="12700" algn="just">
              <a:lnSpc>
                <a:spcPct val="100000"/>
              </a:lnSpc>
              <a:spcBef>
                <a:spcPts val="1080"/>
              </a:spcBef>
              <a:tabLst>
                <a:tab pos="299085" algn="l"/>
              </a:tabLst>
            </a:pPr>
            <a:r>
              <a:rPr lang="en-US" sz="1800" dirty="0">
                <a:latin typeface="Times New Roman"/>
                <a:cs typeface="Times New Roman"/>
              </a:rPr>
              <a:t>5. </a:t>
            </a:r>
            <a:r>
              <a:rPr sz="1800" dirty="0">
                <a:latin typeface="Times New Roman"/>
                <a:cs typeface="Times New Roman"/>
              </a:rPr>
              <a:t>Real-time</a:t>
            </a:r>
            <a:r>
              <a:rPr sz="1800" spc="-60" dirty="0">
                <a:latin typeface="Times New Roman"/>
                <a:cs typeface="Times New Roman"/>
              </a:rPr>
              <a:t> </a:t>
            </a:r>
            <a:r>
              <a:rPr sz="1800" dirty="0">
                <a:latin typeface="Times New Roman"/>
                <a:cs typeface="Times New Roman"/>
              </a:rPr>
              <a:t>optimization</a:t>
            </a:r>
            <a:r>
              <a:rPr sz="1800" spc="-25"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dirty="0">
                <a:latin typeface="Times New Roman"/>
                <a:cs typeface="Times New Roman"/>
              </a:rPr>
              <a:t>OBU</a:t>
            </a:r>
            <a:r>
              <a:rPr sz="1800" spc="-35" dirty="0">
                <a:latin typeface="Times New Roman"/>
                <a:cs typeface="Times New Roman"/>
              </a:rPr>
              <a:t> </a:t>
            </a:r>
            <a:r>
              <a:rPr sz="1800" dirty="0">
                <a:latin typeface="Times New Roman"/>
                <a:cs typeface="Times New Roman"/>
              </a:rPr>
              <a:t>performance</a:t>
            </a:r>
            <a:r>
              <a:rPr sz="1800" spc="-25" dirty="0">
                <a:latin typeface="Times New Roman"/>
                <a:cs typeface="Times New Roman"/>
              </a:rPr>
              <a:t> </a:t>
            </a:r>
            <a:r>
              <a:rPr sz="1800" dirty="0">
                <a:latin typeface="Times New Roman"/>
                <a:cs typeface="Times New Roman"/>
              </a:rPr>
              <a:t>is</a:t>
            </a:r>
            <a:r>
              <a:rPr sz="1800" spc="-40" dirty="0">
                <a:latin typeface="Times New Roman"/>
                <a:cs typeface="Times New Roman"/>
              </a:rPr>
              <a:t> </a:t>
            </a:r>
            <a:r>
              <a:rPr sz="1800" dirty="0">
                <a:latin typeface="Times New Roman"/>
                <a:cs typeface="Times New Roman"/>
              </a:rPr>
              <a:t>rarely</a:t>
            </a:r>
            <a:r>
              <a:rPr sz="1800" spc="-35" dirty="0">
                <a:latin typeface="Times New Roman"/>
                <a:cs typeface="Times New Roman"/>
              </a:rPr>
              <a:t> </a:t>
            </a:r>
            <a:r>
              <a:rPr sz="1800" spc="-10" dirty="0">
                <a:latin typeface="Times New Roman"/>
                <a:cs typeface="Times New Roman"/>
              </a:rPr>
              <a:t>addressed.</a:t>
            </a:r>
            <a:endParaRPr sz="1800" dirty="0">
              <a:latin typeface="Times New Roman"/>
              <a:cs typeface="Times New Roman"/>
            </a:endParaRPr>
          </a:p>
          <a:p>
            <a:pPr marL="12700" algn="just">
              <a:lnSpc>
                <a:spcPct val="100000"/>
              </a:lnSpc>
              <a:spcBef>
                <a:spcPts val="1080"/>
              </a:spcBef>
              <a:tabLst>
                <a:tab pos="299085" algn="l"/>
              </a:tabLst>
            </a:pPr>
            <a:r>
              <a:rPr lang="en-US" sz="1800" dirty="0">
                <a:latin typeface="Times New Roman"/>
                <a:cs typeface="Times New Roman"/>
              </a:rPr>
              <a:t>6. </a:t>
            </a:r>
            <a:r>
              <a:rPr sz="1800" dirty="0">
                <a:latin typeface="Times New Roman"/>
                <a:cs typeface="Times New Roman"/>
              </a:rPr>
              <a:t>Limited</a:t>
            </a:r>
            <a:r>
              <a:rPr sz="1800" spc="-55" dirty="0">
                <a:latin typeface="Times New Roman"/>
                <a:cs typeface="Times New Roman"/>
              </a:rPr>
              <a:t> </a:t>
            </a:r>
            <a:r>
              <a:rPr sz="1800" dirty="0">
                <a:latin typeface="Times New Roman"/>
                <a:cs typeface="Times New Roman"/>
              </a:rPr>
              <a:t>studies</a:t>
            </a:r>
            <a:r>
              <a:rPr sz="1800" spc="-55" dirty="0">
                <a:latin typeface="Times New Roman"/>
                <a:cs typeface="Times New Roman"/>
              </a:rPr>
              <a:t> </a:t>
            </a:r>
            <a:r>
              <a:rPr sz="1800" dirty="0">
                <a:latin typeface="Times New Roman"/>
                <a:cs typeface="Times New Roman"/>
              </a:rPr>
              <a:t>on</a:t>
            </a:r>
            <a:r>
              <a:rPr sz="1800" spc="-40" dirty="0">
                <a:latin typeface="Times New Roman"/>
                <a:cs typeface="Times New Roman"/>
              </a:rPr>
              <a:t> </a:t>
            </a:r>
            <a:r>
              <a:rPr sz="1800" spc="-10" dirty="0">
                <a:latin typeface="Times New Roman"/>
                <a:cs typeface="Times New Roman"/>
              </a:rPr>
              <a:t>resource</a:t>
            </a:r>
            <a:r>
              <a:rPr sz="1800" spc="-35" dirty="0">
                <a:latin typeface="Times New Roman"/>
                <a:cs typeface="Times New Roman"/>
              </a:rPr>
              <a:t> </a:t>
            </a:r>
            <a:r>
              <a:rPr sz="1800" spc="-10" dirty="0">
                <a:latin typeface="Times New Roman"/>
                <a:cs typeface="Times New Roman"/>
              </a:rPr>
              <a:t>efficiency</a:t>
            </a:r>
            <a:r>
              <a:rPr sz="1800" spc="-65" dirty="0">
                <a:latin typeface="Times New Roman"/>
                <a:cs typeface="Times New Roman"/>
              </a:rPr>
              <a:t> </a:t>
            </a:r>
            <a:r>
              <a:rPr sz="1800" dirty="0">
                <a:latin typeface="Times New Roman"/>
                <a:cs typeface="Times New Roman"/>
              </a:rPr>
              <a:t>and</a:t>
            </a:r>
            <a:r>
              <a:rPr sz="1800" spc="-50" dirty="0">
                <a:latin typeface="Times New Roman"/>
                <a:cs typeface="Times New Roman"/>
              </a:rPr>
              <a:t> </a:t>
            </a:r>
            <a:r>
              <a:rPr sz="1800" spc="-10" dirty="0">
                <a:latin typeface="Times New Roman"/>
                <a:cs typeface="Times New Roman"/>
              </a:rPr>
              <a:t>power</a:t>
            </a:r>
            <a:r>
              <a:rPr sz="1800" spc="-85" dirty="0">
                <a:latin typeface="Times New Roman"/>
                <a:cs typeface="Times New Roman"/>
              </a:rPr>
              <a:t> </a:t>
            </a:r>
            <a:r>
              <a:rPr sz="1800" dirty="0">
                <a:latin typeface="Times New Roman"/>
                <a:cs typeface="Times New Roman"/>
              </a:rPr>
              <a:t>optimization</a:t>
            </a:r>
            <a:r>
              <a:rPr sz="1800" spc="-2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spc="-10" dirty="0">
                <a:latin typeface="Times New Roman"/>
                <a:cs typeface="Times New Roman"/>
              </a:rPr>
              <a:t>OBUs.</a:t>
            </a:r>
            <a:endParaRPr sz="1800" dirty="0">
              <a:latin typeface="Times New Roman"/>
              <a:cs typeface="Times New Roman"/>
            </a:endParaRPr>
          </a:p>
          <a:p>
            <a:pPr marL="12700" algn="just">
              <a:lnSpc>
                <a:spcPct val="100000"/>
              </a:lnSpc>
              <a:spcBef>
                <a:spcPts val="1080"/>
              </a:spcBef>
              <a:tabLst>
                <a:tab pos="299085" algn="l"/>
              </a:tabLst>
            </a:pPr>
            <a:r>
              <a:rPr lang="en-US" sz="1800" dirty="0">
                <a:latin typeface="Times New Roman"/>
                <a:cs typeface="Times New Roman"/>
              </a:rPr>
              <a:t>7. </a:t>
            </a:r>
            <a:r>
              <a:rPr sz="1800" dirty="0">
                <a:latin typeface="Times New Roman"/>
                <a:cs typeface="Times New Roman"/>
              </a:rPr>
              <a:t>Usability</a:t>
            </a:r>
            <a:r>
              <a:rPr sz="1800" spc="-65" dirty="0">
                <a:latin typeface="Times New Roman"/>
                <a:cs typeface="Times New Roman"/>
              </a:rPr>
              <a:t> </a:t>
            </a:r>
            <a:r>
              <a:rPr sz="1800" dirty="0">
                <a:latin typeface="Times New Roman"/>
                <a:cs typeface="Times New Roman"/>
              </a:rPr>
              <a:t>and</a:t>
            </a:r>
            <a:r>
              <a:rPr sz="1800" spc="-55" dirty="0">
                <a:latin typeface="Times New Roman"/>
                <a:cs typeface="Times New Roman"/>
              </a:rPr>
              <a:t> </a:t>
            </a:r>
            <a:r>
              <a:rPr sz="1800" dirty="0">
                <a:latin typeface="Times New Roman"/>
                <a:cs typeface="Times New Roman"/>
              </a:rPr>
              <a:t>deployment</a:t>
            </a:r>
            <a:r>
              <a:rPr sz="1800" spc="-80" dirty="0">
                <a:latin typeface="Times New Roman"/>
                <a:cs typeface="Times New Roman"/>
              </a:rPr>
              <a:t> </a:t>
            </a:r>
            <a:r>
              <a:rPr sz="1800" dirty="0">
                <a:latin typeface="Times New Roman"/>
                <a:cs typeface="Times New Roman"/>
              </a:rPr>
              <a:t>issues</a:t>
            </a:r>
            <a:r>
              <a:rPr sz="1800" spc="-40" dirty="0">
                <a:latin typeface="Times New Roman"/>
                <a:cs typeface="Times New Roman"/>
              </a:rPr>
              <a:t> </a:t>
            </a:r>
            <a:r>
              <a:rPr sz="1800" dirty="0">
                <a:latin typeface="Times New Roman"/>
                <a:cs typeface="Times New Roman"/>
              </a:rPr>
              <a:t>hinder</a:t>
            </a:r>
            <a:r>
              <a:rPr sz="1800" spc="-60" dirty="0">
                <a:latin typeface="Times New Roman"/>
                <a:cs typeface="Times New Roman"/>
              </a:rPr>
              <a:t> </a:t>
            </a:r>
            <a:r>
              <a:rPr sz="1800" spc="-10" dirty="0">
                <a:latin typeface="Times New Roman"/>
                <a:cs typeface="Times New Roman"/>
              </a:rPr>
              <a:t>practical</a:t>
            </a:r>
            <a:r>
              <a:rPr sz="1800" spc="-85" dirty="0">
                <a:latin typeface="Times New Roman"/>
                <a:cs typeface="Times New Roman"/>
              </a:rPr>
              <a:t> </a:t>
            </a:r>
            <a:r>
              <a:rPr sz="1800" spc="-10" dirty="0">
                <a:latin typeface="Times New Roman"/>
                <a:cs typeface="Times New Roman"/>
              </a:rPr>
              <a:t>implementation.</a:t>
            </a:r>
            <a:endParaRPr sz="18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92A842-1030-7CB9-A504-BDF626E2E3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D4D1AA-3A0B-950C-2C9E-DF72CABB286B}"/>
              </a:ext>
            </a:extLst>
          </p:cNvPr>
          <p:cNvSpPr txBox="1">
            <a:spLocks noGrp="1"/>
          </p:cNvSpPr>
          <p:nvPr>
            <p:ph type="title"/>
          </p:nvPr>
        </p:nvSpPr>
        <p:spPr>
          <a:xfrm>
            <a:off x="1828800" y="457200"/>
            <a:ext cx="7867015" cy="505267"/>
          </a:xfrm>
          <a:prstGeom prst="rect">
            <a:avLst/>
          </a:prstGeom>
        </p:spPr>
        <p:txBody>
          <a:bodyPr vert="horz" wrap="square" lIns="0" tIns="12700" rIns="0" bIns="0" rtlCol="0">
            <a:spAutoFit/>
          </a:bodyPr>
          <a:lstStyle/>
          <a:p>
            <a:pPr marL="1863089">
              <a:lnSpc>
                <a:spcPct val="100000"/>
              </a:lnSpc>
              <a:spcBef>
                <a:spcPts val="100"/>
              </a:spcBef>
            </a:pPr>
            <a:r>
              <a:rPr lang="en-US" sz="3200" dirty="0"/>
              <a:t>TRADITIONAL SYSTEM</a:t>
            </a:r>
            <a:endParaRPr sz="3200" dirty="0"/>
          </a:p>
        </p:txBody>
      </p:sp>
      <p:sp>
        <p:nvSpPr>
          <p:cNvPr id="5" name="TextBox 4">
            <a:extLst>
              <a:ext uri="{FF2B5EF4-FFF2-40B4-BE49-F238E27FC236}">
                <a16:creationId xmlns:a16="http://schemas.microsoft.com/office/drawing/2014/main" id="{9A5D0C17-B112-11FB-ACCE-9DDDF33F10A2}"/>
              </a:ext>
            </a:extLst>
          </p:cNvPr>
          <p:cNvSpPr txBox="1"/>
          <p:nvPr/>
        </p:nvSpPr>
        <p:spPr>
          <a:xfrm>
            <a:off x="1143000" y="1447800"/>
            <a:ext cx="9906000"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1. Traditional System Overview</a:t>
            </a:r>
          </a:p>
          <a:p>
            <a:pPr>
              <a:buNone/>
            </a:pPr>
            <a:r>
              <a:rPr lang="en-US" dirty="0">
                <a:latin typeface="Times New Roman" panose="02020603050405020304" pitchFamily="18" charset="0"/>
                <a:cs typeface="Times New Roman" panose="02020603050405020304" pitchFamily="18" charset="0"/>
              </a:rPr>
              <a:t>Traditional OBUs are designed with fixed hardware and software capabilities, performing predefined functions without adaptability.</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2. Static Resource Allocation</a:t>
            </a:r>
          </a:p>
          <a:p>
            <a:pPr>
              <a:buNone/>
            </a:pPr>
            <a:r>
              <a:rPr lang="en-US" dirty="0">
                <a:latin typeface="Times New Roman" panose="02020603050405020304" pitchFamily="18" charset="0"/>
                <a:cs typeface="Times New Roman" panose="02020603050405020304" pitchFamily="18" charset="0"/>
              </a:rPr>
              <a:t>Resources like CPU, memory, and power are allocated permanently, with no dynamic optimization based on workload.</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3. Limited Communication Scope</a:t>
            </a:r>
          </a:p>
          <a:p>
            <a:pPr>
              <a:buNone/>
            </a:pPr>
            <a:r>
              <a:rPr lang="en-US" dirty="0">
                <a:latin typeface="Times New Roman" panose="02020603050405020304" pitchFamily="18" charset="0"/>
                <a:cs typeface="Times New Roman" panose="02020603050405020304" pitchFamily="18" charset="0"/>
              </a:rPr>
              <a:t>Traditional systems primarily support basic V2V/V2I communication and diagnostic data exchange.</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4. Lack of Real-Time Profiling</a:t>
            </a:r>
          </a:p>
          <a:p>
            <a:pPr>
              <a:buNone/>
            </a:pPr>
            <a:r>
              <a:rPr lang="en-US" dirty="0">
                <a:latin typeface="Times New Roman" panose="02020603050405020304" pitchFamily="18" charset="0"/>
                <a:cs typeface="Times New Roman" panose="02020603050405020304" pitchFamily="18" charset="0"/>
              </a:rPr>
              <a:t>No mechanisms exist to assess system performance, workload variations, or resource utilization in real time.</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5. Manual Configuration</a:t>
            </a:r>
          </a:p>
          <a:p>
            <a:pPr>
              <a:buNone/>
            </a:pPr>
            <a:r>
              <a:rPr lang="en-US" dirty="0">
                <a:latin typeface="Times New Roman" panose="02020603050405020304" pitchFamily="18" charset="0"/>
                <a:cs typeface="Times New Roman" panose="02020603050405020304" pitchFamily="18" charset="0"/>
              </a:rPr>
              <a:t>Updates, configurations, and performance tuning are performed manually rather than automated or adaptive</a:t>
            </a:r>
            <a:r>
              <a:rPr lang="en-US" dirty="0"/>
              <a:t>.</a:t>
            </a:r>
          </a:p>
        </p:txBody>
      </p:sp>
    </p:spTree>
    <p:extLst>
      <p:ext uri="{BB962C8B-B14F-4D97-AF65-F5344CB8AC3E}">
        <p14:creationId xmlns:p14="http://schemas.microsoft.com/office/powerpoint/2010/main" val="247946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6060" rIns="0" bIns="0" rtlCol="0">
            <a:spAutoFit/>
          </a:bodyPr>
          <a:lstStyle/>
          <a:p>
            <a:pPr marL="2099310">
              <a:lnSpc>
                <a:spcPct val="100000"/>
              </a:lnSpc>
              <a:spcBef>
                <a:spcPts val="95"/>
              </a:spcBef>
            </a:pPr>
            <a:r>
              <a:rPr spc="-40" dirty="0"/>
              <a:t>DRAWBACKS</a:t>
            </a:r>
          </a:p>
        </p:txBody>
      </p:sp>
      <p:sp>
        <p:nvSpPr>
          <p:cNvPr id="3" name="object 3"/>
          <p:cNvSpPr txBox="1"/>
          <p:nvPr/>
        </p:nvSpPr>
        <p:spPr>
          <a:xfrm>
            <a:off x="2209800" y="1905000"/>
            <a:ext cx="6383021" cy="2220595"/>
          </a:xfrm>
          <a:prstGeom prst="rect">
            <a:avLst/>
          </a:prstGeom>
        </p:spPr>
        <p:txBody>
          <a:bodyPr vert="horz" wrap="square" lIns="0" tIns="12700" rIns="0" bIns="0" rtlCol="0">
            <a:spAutoFit/>
          </a:bodyPr>
          <a:lstStyle/>
          <a:p>
            <a:pPr marL="12700">
              <a:lnSpc>
                <a:spcPct val="100000"/>
              </a:lnSpc>
              <a:spcBef>
                <a:spcPts val="100"/>
              </a:spcBef>
              <a:tabLst>
                <a:tab pos="299085" algn="l"/>
              </a:tabLst>
            </a:pPr>
            <a:r>
              <a:rPr lang="en-US" sz="2400" dirty="0">
                <a:latin typeface="Times New Roman"/>
                <a:cs typeface="Times New Roman"/>
              </a:rPr>
              <a:t>1. </a:t>
            </a:r>
            <a:r>
              <a:rPr sz="2400" dirty="0">
                <a:latin typeface="Times New Roman"/>
                <a:cs typeface="Times New Roman"/>
              </a:rPr>
              <a:t>Limited</a:t>
            </a:r>
            <a:r>
              <a:rPr sz="2400" spc="-75" dirty="0">
                <a:latin typeface="Times New Roman"/>
                <a:cs typeface="Times New Roman"/>
              </a:rPr>
              <a:t> </a:t>
            </a:r>
            <a:r>
              <a:rPr sz="2400" dirty="0">
                <a:latin typeface="Times New Roman"/>
                <a:cs typeface="Times New Roman"/>
              </a:rPr>
              <a:t>Processing</a:t>
            </a:r>
            <a:r>
              <a:rPr sz="2400" spc="-55" dirty="0">
                <a:latin typeface="Times New Roman"/>
                <a:cs typeface="Times New Roman"/>
              </a:rPr>
              <a:t> </a:t>
            </a:r>
            <a:r>
              <a:rPr sz="2400" spc="-20" dirty="0">
                <a:latin typeface="Times New Roman"/>
                <a:cs typeface="Times New Roman"/>
              </a:rPr>
              <a:t>Power</a:t>
            </a:r>
            <a:endParaRPr sz="2400" dirty="0">
              <a:latin typeface="Times New Roman"/>
              <a:cs typeface="Times New Roman"/>
            </a:endParaRPr>
          </a:p>
          <a:p>
            <a:pPr marL="12700">
              <a:lnSpc>
                <a:spcPct val="100000"/>
              </a:lnSpc>
              <a:tabLst>
                <a:tab pos="299085" algn="l"/>
              </a:tabLst>
            </a:pPr>
            <a:r>
              <a:rPr lang="en-US" sz="2400" dirty="0">
                <a:latin typeface="Times New Roman"/>
                <a:cs typeface="Times New Roman"/>
              </a:rPr>
              <a:t>2. </a:t>
            </a:r>
            <a:r>
              <a:rPr sz="2400" dirty="0">
                <a:latin typeface="Times New Roman"/>
                <a:cs typeface="Times New Roman"/>
              </a:rPr>
              <a:t>Static</a:t>
            </a:r>
            <a:r>
              <a:rPr sz="2400" spc="-50" dirty="0">
                <a:latin typeface="Times New Roman"/>
                <a:cs typeface="Times New Roman"/>
              </a:rPr>
              <a:t> </a:t>
            </a:r>
            <a:r>
              <a:rPr sz="2400" dirty="0">
                <a:latin typeface="Times New Roman"/>
                <a:cs typeface="Times New Roman"/>
              </a:rPr>
              <a:t>Resource</a:t>
            </a:r>
            <a:r>
              <a:rPr sz="2400" spc="-160" dirty="0">
                <a:latin typeface="Times New Roman"/>
                <a:cs typeface="Times New Roman"/>
              </a:rPr>
              <a:t> </a:t>
            </a:r>
            <a:r>
              <a:rPr sz="2400" spc="-10" dirty="0">
                <a:latin typeface="Times New Roman"/>
                <a:cs typeface="Times New Roman"/>
              </a:rPr>
              <a:t>Allocation</a:t>
            </a:r>
            <a:endParaRPr sz="2400" dirty="0">
              <a:latin typeface="Times New Roman"/>
              <a:cs typeface="Times New Roman"/>
            </a:endParaRPr>
          </a:p>
          <a:p>
            <a:pPr marL="12700">
              <a:lnSpc>
                <a:spcPct val="100000"/>
              </a:lnSpc>
              <a:tabLst>
                <a:tab pos="299085" algn="l"/>
              </a:tabLst>
            </a:pPr>
            <a:r>
              <a:rPr lang="en-US" sz="2400" dirty="0">
                <a:latin typeface="Times New Roman"/>
                <a:cs typeface="Times New Roman"/>
              </a:rPr>
              <a:t>3. </a:t>
            </a:r>
            <a:r>
              <a:rPr sz="2400" dirty="0">
                <a:latin typeface="Times New Roman"/>
                <a:cs typeface="Times New Roman"/>
              </a:rPr>
              <a:t>High</a:t>
            </a:r>
            <a:r>
              <a:rPr sz="2400" spc="-45" dirty="0">
                <a:latin typeface="Times New Roman"/>
                <a:cs typeface="Times New Roman"/>
              </a:rPr>
              <a:t> </a:t>
            </a:r>
            <a:r>
              <a:rPr sz="2400" dirty="0">
                <a:latin typeface="Times New Roman"/>
                <a:cs typeface="Times New Roman"/>
              </a:rPr>
              <a:t>Communication</a:t>
            </a:r>
            <a:r>
              <a:rPr sz="2400" spc="-50" dirty="0">
                <a:latin typeface="Times New Roman"/>
                <a:cs typeface="Times New Roman"/>
              </a:rPr>
              <a:t> </a:t>
            </a:r>
            <a:r>
              <a:rPr sz="2400" spc="-10" dirty="0">
                <a:latin typeface="Times New Roman"/>
                <a:cs typeface="Times New Roman"/>
              </a:rPr>
              <a:t>Overhead</a:t>
            </a:r>
            <a:endParaRPr sz="2400" dirty="0">
              <a:latin typeface="Times New Roman"/>
              <a:cs typeface="Times New Roman"/>
            </a:endParaRPr>
          </a:p>
          <a:p>
            <a:pPr marL="12700">
              <a:lnSpc>
                <a:spcPct val="100000"/>
              </a:lnSpc>
              <a:tabLst>
                <a:tab pos="299085" algn="l"/>
              </a:tabLst>
            </a:pPr>
            <a:r>
              <a:rPr lang="en-US" sz="2400" dirty="0">
                <a:latin typeface="Times New Roman"/>
                <a:cs typeface="Times New Roman"/>
              </a:rPr>
              <a:t>4. </a:t>
            </a:r>
            <a:r>
              <a:rPr sz="2400" dirty="0">
                <a:latin typeface="Times New Roman"/>
                <a:cs typeface="Times New Roman"/>
              </a:rPr>
              <a:t>Inadequate</a:t>
            </a:r>
            <a:r>
              <a:rPr sz="2400" spc="-95" dirty="0">
                <a:latin typeface="Times New Roman"/>
                <a:cs typeface="Times New Roman"/>
              </a:rPr>
              <a:t> </a:t>
            </a:r>
            <a:r>
              <a:rPr sz="2400" spc="-10" dirty="0">
                <a:latin typeface="Times New Roman"/>
                <a:cs typeface="Times New Roman"/>
              </a:rPr>
              <a:t>Real-</a:t>
            </a:r>
            <a:r>
              <a:rPr sz="2400" dirty="0">
                <a:latin typeface="Times New Roman"/>
                <a:cs typeface="Times New Roman"/>
              </a:rPr>
              <a:t>Time</a:t>
            </a:r>
            <a:r>
              <a:rPr sz="2400" spc="-80" dirty="0">
                <a:latin typeface="Times New Roman"/>
                <a:cs typeface="Times New Roman"/>
              </a:rPr>
              <a:t> </a:t>
            </a:r>
            <a:r>
              <a:rPr sz="2400" spc="-10" dirty="0">
                <a:latin typeface="Times New Roman"/>
                <a:cs typeface="Times New Roman"/>
              </a:rPr>
              <a:t>CapabilitY</a:t>
            </a:r>
            <a:endParaRPr sz="2400" dirty="0">
              <a:latin typeface="Times New Roman"/>
              <a:cs typeface="Times New Roman"/>
            </a:endParaRPr>
          </a:p>
          <a:p>
            <a:pPr marL="12700">
              <a:lnSpc>
                <a:spcPct val="100000"/>
              </a:lnSpc>
              <a:tabLst>
                <a:tab pos="299085" algn="l"/>
              </a:tabLst>
            </a:pPr>
            <a:r>
              <a:rPr lang="en-US" sz="2400" dirty="0">
                <a:latin typeface="Times New Roman"/>
                <a:cs typeface="Times New Roman"/>
              </a:rPr>
              <a:t>5. </a:t>
            </a:r>
            <a:r>
              <a:rPr sz="2400" dirty="0">
                <a:latin typeface="Times New Roman"/>
                <a:cs typeface="Times New Roman"/>
              </a:rPr>
              <a:t>Scalability</a:t>
            </a:r>
            <a:r>
              <a:rPr sz="2400" spc="-80" dirty="0">
                <a:latin typeface="Times New Roman"/>
                <a:cs typeface="Times New Roman"/>
              </a:rPr>
              <a:t> </a:t>
            </a:r>
            <a:r>
              <a:rPr sz="2400" spc="-10" dirty="0">
                <a:latin typeface="Times New Roman"/>
                <a:cs typeface="Times New Roman"/>
              </a:rPr>
              <a:t>Issues</a:t>
            </a:r>
            <a:endParaRPr sz="2400" dirty="0">
              <a:latin typeface="Times New Roman"/>
              <a:cs typeface="Times New Roman"/>
            </a:endParaRPr>
          </a:p>
          <a:p>
            <a:pPr marL="12700">
              <a:lnSpc>
                <a:spcPct val="100000"/>
              </a:lnSpc>
              <a:tabLst>
                <a:tab pos="299085" algn="l"/>
              </a:tabLst>
            </a:pPr>
            <a:r>
              <a:rPr lang="en-US" sz="2400" dirty="0">
                <a:latin typeface="Times New Roman"/>
                <a:cs typeface="Times New Roman"/>
              </a:rPr>
              <a:t>6. </a:t>
            </a:r>
            <a:r>
              <a:rPr sz="2400" dirty="0">
                <a:latin typeface="Times New Roman"/>
                <a:cs typeface="Times New Roman"/>
              </a:rPr>
              <a:t>Security</a:t>
            </a:r>
            <a:r>
              <a:rPr sz="2400" spc="-5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Privacy</a:t>
            </a:r>
            <a:r>
              <a:rPr sz="2400" spc="-15" dirty="0">
                <a:latin typeface="Times New Roman"/>
                <a:cs typeface="Times New Roman"/>
              </a:rPr>
              <a:t> </a:t>
            </a:r>
            <a:r>
              <a:rPr sz="2400" spc="-10" dirty="0">
                <a:latin typeface="Times New Roman"/>
                <a:cs typeface="Times New Roman"/>
              </a:rPr>
              <a:t>Concerns</a:t>
            </a:r>
            <a:endParaRPr sz="2400"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113145"/>
            <a:ext cx="7867015" cy="548688"/>
          </a:xfrm>
          <a:prstGeom prst="rect">
            <a:avLst/>
          </a:prstGeom>
        </p:spPr>
        <p:txBody>
          <a:bodyPr vert="horz" wrap="square" lIns="0" tIns="116662" rIns="0" bIns="0" rtlCol="0">
            <a:spAutoFit/>
          </a:bodyPr>
          <a:lstStyle/>
          <a:p>
            <a:pPr marL="1204595">
              <a:lnSpc>
                <a:spcPct val="100000"/>
              </a:lnSpc>
              <a:spcBef>
                <a:spcPts val="95"/>
              </a:spcBef>
            </a:pPr>
            <a:r>
              <a:rPr spc="-20" dirty="0"/>
              <a:t>EXISTING</a:t>
            </a:r>
            <a:r>
              <a:rPr lang="en-US" spc="-20" dirty="0"/>
              <a:t> SYSTEM</a:t>
            </a:r>
            <a:endParaRPr spc="-10" dirty="0"/>
          </a:p>
        </p:txBody>
      </p:sp>
      <p:sp>
        <p:nvSpPr>
          <p:cNvPr id="38" name="TextBox 37">
            <a:extLst>
              <a:ext uri="{FF2B5EF4-FFF2-40B4-BE49-F238E27FC236}">
                <a16:creationId xmlns:a16="http://schemas.microsoft.com/office/drawing/2014/main" id="{5D5BD045-10E2-4692-6788-2132AFF916A2}"/>
              </a:ext>
            </a:extLst>
          </p:cNvPr>
          <p:cNvSpPr txBox="1"/>
          <p:nvPr/>
        </p:nvSpPr>
        <p:spPr>
          <a:xfrm>
            <a:off x="990600" y="1219200"/>
            <a:ext cx="9753600" cy="4616648"/>
          </a:xfrm>
          <a:prstGeom prst="rect">
            <a:avLst/>
          </a:prstGeom>
          <a:noFill/>
        </p:spPr>
        <p:txBody>
          <a:bodyPr wrap="square">
            <a:spAutoFit/>
          </a:bodyPr>
          <a:lstStyle/>
          <a:p>
            <a:pPr algn="just"/>
            <a:r>
              <a:rPr lang="en-US" sz="1400" b="1" dirty="0">
                <a:latin typeface="Times New Roman" panose="02020603050405020304" pitchFamily="18" charset="0"/>
                <a:cs typeface="Times New Roman" panose="02020603050405020304" pitchFamily="18" charset="0"/>
              </a:rPr>
              <a:t>1. </a:t>
            </a:r>
            <a:r>
              <a:rPr lang="en-IN" sz="1400" b="1" dirty="0"/>
              <a:t>Decision Tree </a:t>
            </a:r>
            <a:endParaRPr lang="en-IN" sz="1400" dirty="0"/>
          </a:p>
          <a:p>
            <a:pPr algn="just"/>
            <a:r>
              <a:rPr lang="en-IN" sz="1400" dirty="0"/>
              <a:t>A Decision Tree Regressor works like a flowchart where decisions are split step by step to reach a prediction.</a:t>
            </a:r>
          </a:p>
          <a:p>
            <a:pPr lvl="0" algn="just"/>
            <a:r>
              <a:rPr lang="en-IN" sz="1400" dirty="0"/>
              <a:t>It is easy to interpret and helps identify how different OBU parameters (CPU, memory, power, bandwidth) affect overall performance.</a:t>
            </a:r>
          </a:p>
          <a:p>
            <a:pPr lvl="0" algn="just"/>
            <a:r>
              <a:rPr lang="en-IN" sz="1400" dirty="0"/>
              <a:t>Useful for predicting continuous values such as power consumption or latency under different workloads.</a:t>
            </a:r>
          </a:p>
          <a:p>
            <a:pPr algn="just"/>
            <a:r>
              <a:rPr lang="en-IN" sz="1400" b="1" dirty="0"/>
              <a:t>2. K-Nearest </a:t>
            </a:r>
            <a:r>
              <a:rPr lang="en-IN" sz="1400" b="1" dirty="0" err="1"/>
              <a:t>Neighbors</a:t>
            </a:r>
            <a:r>
              <a:rPr lang="en-IN" sz="1400" b="1" dirty="0"/>
              <a:t> (KNN) Regressor</a:t>
            </a:r>
          </a:p>
          <a:p>
            <a:pPr algn="just"/>
            <a:r>
              <a:rPr lang="en-IN" sz="1400" dirty="0"/>
              <a:t>The KNN Regressor predicts a value by looking at the closest similar data points (</a:t>
            </a:r>
            <a:r>
              <a:rPr lang="en-IN" sz="1400" dirty="0" err="1"/>
              <a:t>neighbors</a:t>
            </a:r>
            <a:r>
              <a:rPr lang="en-IN" sz="1400" dirty="0"/>
              <a:t>).</a:t>
            </a:r>
          </a:p>
          <a:p>
            <a:pPr lvl="0" algn="just"/>
            <a:r>
              <a:rPr lang="en-IN" sz="1400" dirty="0"/>
              <a:t>In the OBU context, if the system encounters a new workload, KNN compares it to previous similar workloads and predicts resource usage.</a:t>
            </a:r>
          </a:p>
          <a:p>
            <a:pPr lvl="0" algn="just"/>
            <a:r>
              <a:rPr lang="en-IN" sz="1400" dirty="0"/>
              <a:t>Works well for pattern recognition, such as identifying workload clusters or predicting CPU usage in scenarios similar to past ones.</a:t>
            </a:r>
          </a:p>
          <a:p>
            <a:pPr algn="just"/>
            <a:r>
              <a:rPr lang="en-IN" sz="1400" b="1" dirty="0"/>
              <a:t>3. Orthogonal Matching Pursuit (OMP)</a:t>
            </a:r>
          </a:p>
          <a:p>
            <a:pPr algn="just"/>
            <a:r>
              <a:rPr lang="en-US" sz="1400" dirty="0"/>
              <a:t>OMP is a linear regression method that selects features step-by-step based on their correlation with the residual. It picks the most influential feature at each iteration, updates the residual, and continues until the remaining error is small. It is fast and identifies the most important predictors for the OBU capability score.</a:t>
            </a:r>
          </a:p>
          <a:p>
            <a:pPr algn="just"/>
            <a:r>
              <a:rPr lang="en-US" sz="1400" b="1" dirty="0"/>
              <a:t>4. Hybrid Model (Random Forest + Linear Regression) </a:t>
            </a:r>
            <a:r>
              <a:rPr lang="en-US" sz="1400" dirty="0"/>
              <a:t>The hybrid model uses a Voting Regressor that combines Random Forest and Linear Regression. Random Forest captures complex non-linear relationships, while Linear Regression handles overall linear trends. Both models are trained separately, and their predictions are averaged to produce a more accurate and stable final prediction</a:t>
            </a:r>
          </a:p>
          <a:p>
            <a:pPr algn="just"/>
            <a:endParaRPr lang="en-US" sz="1400" dirty="0"/>
          </a:p>
          <a:p>
            <a:pPr>
              <a:buNone/>
            </a:pP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5496" rIns="0" bIns="0" rtlCol="0">
            <a:spAutoFit/>
          </a:bodyPr>
          <a:lstStyle/>
          <a:p>
            <a:pPr marL="1588770">
              <a:lnSpc>
                <a:spcPct val="100000"/>
              </a:lnSpc>
              <a:spcBef>
                <a:spcPts val="95"/>
              </a:spcBef>
            </a:pPr>
            <a:r>
              <a:rPr spc="-25" dirty="0"/>
              <a:t>PROPOSED</a:t>
            </a:r>
            <a:r>
              <a:rPr spc="-120" dirty="0"/>
              <a:t> </a:t>
            </a:r>
            <a:r>
              <a:rPr spc="-10" dirty="0"/>
              <a:t>SYSTEM</a:t>
            </a:r>
          </a:p>
        </p:txBody>
      </p:sp>
      <p:sp>
        <p:nvSpPr>
          <p:cNvPr id="3" name="object 3"/>
          <p:cNvSpPr txBox="1"/>
          <p:nvPr/>
        </p:nvSpPr>
        <p:spPr>
          <a:xfrm>
            <a:off x="913891" y="928217"/>
            <a:ext cx="8737600" cy="5513070"/>
          </a:xfrm>
          <a:prstGeom prst="rect">
            <a:avLst/>
          </a:prstGeom>
        </p:spPr>
        <p:txBody>
          <a:bodyPr vert="horz" wrap="square" lIns="0" tIns="12700" rIns="0" bIns="0" rtlCol="0">
            <a:spAutoFit/>
          </a:bodyPr>
          <a:lstStyle/>
          <a:p>
            <a:pPr marL="12065" marR="563880" algn="just">
              <a:lnSpc>
                <a:spcPct val="150000"/>
              </a:lnSpc>
              <a:spcBef>
                <a:spcPts val="100"/>
              </a:spcBef>
              <a:tabLst>
                <a:tab pos="299085" algn="l"/>
              </a:tabLst>
            </a:pPr>
            <a:r>
              <a:rPr lang="en-US" sz="2000" b="1" dirty="0">
                <a:latin typeface="Times New Roman"/>
                <a:cs typeface="Times New Roman"/>
              </a:rPr>
              <a:t>1. </a:t>
            </a:r>
            <a:r>
              <a:rPr sz="2000" b="1" dirty="0">
                <a:latin typeface="Times New Roman"/>
                <a:cs typeface="Times New Roman"/>
              </a:rPr>
              <a:t>Real-time</a:t>
            </a:r>
            <a:r>
              <a:rPr sz="2000" b="1" spc="-114" dirty="0">
                <a:latin typeface="Times New Roman"/>
                <a:cs typeface="Times New Roman"/>
              </a:rPr>
              <a:t> </a:t>
            </a:r>
            <a:r>
              <a:rPr sz="2000" b="1" dirty="0">
                <a:latin typeface="Times New Roman"/>
                <a:cs typeface="Times New Roman"/>
              </a:rPr>
              <a:t>Data</a:t>
            </a:r>
            <a:r>
              <a:rPr sz="2000" b="1" spc="-40" dirty="0">
                <a:latin typeface="Times New Roman"/>
                <a:cs typeface="Times New Roman"/>
              </a:rPr>
              <a:t> </a:t>
            </a:r>
            <a:r>
              <a:rPr sz="2000" b="1" dirty="0">
                <a:latin typeface="Times New Roman"/>
                <a:cs typeface="Times New Roman"/>
              </a:rPr>
              <a:t>Collection</a:t>
            </a:r>
            <a:r>
              <a:rPr sz="2000" b="1" spc="-75"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Continuously</a:t>
            </a:r>
            <a:r>
              <a:rPr sz="2000" spc="-85" dirty="0">
                <a:latin typeface="Times New Roman"/>
                <a:cs typeface="Times New Roman"/>
              </a:rPr>
              <a:t> </a:t>
            </a:r>
            <a:r>
              <a:rPr sz="2000" dirty="0">
                <a:latin typeface="Times New Roman"/>
                <a:cs typeface="Times New Roman"/>
              </a:rPr>
              <a:t>collects</a:t>
            </a:r>
            <a:r>
              <a:rPr sz="2000" spc="-45" dirty="0">
                <a:latin typeface="Times New Roman"/>
                <a:cs typeface="Times New Roman"/>
              </a:rPr>
              <a:t> </a:t>
            </a:r>
            <a:r>
              <a:rPr sz="2000" dirty="0">
                <a:latin typeface="Times New Roman"/>
                <a:cs typeface="Times New Roman"/>
              </a:rPr>
              <a:t>data</a:t>
            </a:r>
            <a:r>
              <a:rPr sz="2000" spc="-50" dirty="0">
                <a:latin typeface="Times New Roman"/>
                <a:cs typeface="Times New Roman"/>
              </a:rPr>
              <a:t> </a:t>
            </a:r>
            <a:r>
              <a:rPr sz="2000" dirty="0">
                <a:latin typeface="Times New Roman"/>
                <a:cs typeface="Times New Roman"/>
              </a:rPr>
              <a:t>from</a:t>
            </a:r>
            <a:r>
              <a:rPr sz="2000" spc="-75" dirty="0">
                <a:latin typeface="Times New Roman"/>
                <a:cs typeface="Times New Roman"/>
              </a:rPr>
              <a:t> </a:t>
            </a:r>
            <a:r>
              <a:rPr sz="2000" dirty="0">
                <a:latin typeface="Times New Roman"/>
                <a:cs typeface="Times New Roman"/>
              </a:rPr>
              <a:t>vehicle</a:t>
            </a:r>
            <a:r>
              <a:rPr sz="2000" spc="-45" dirty="0">
                <a:latin typeface="Times New Roman"/>
                <a:cs typeface="Times New Roman"/>
              </a:rPr>
              <a:t> </a:t>
            </a:r>
            <a:r>
              <a:rPr sz="2000" spc="-10" dirty="0">
                <a:latin typeface="Times New Roman"/>
                <a:cs typeface="Times New Roman"/>
              </a:rPr>
              <a:t>sensors </a:t>
            </a:r>
            <a:r>
              <a:rPr sz="2000" dirty="0">
                <a:latin typeface="Times New Roman"/>
                <a:cs typeface="Times New Roman"/>
              </a:rPr>
              <a:t>(speed,</a:t>
            </a:r>
            <a:r>
              <a:rPr sz="2000" spc="-70" dirty="0">
                <a:latin typeface="Times New Roman"/>
                <a:cs typeface="Times New Roman"/>
              </a:rPr>
              <a:t> </a:t>
            </a:r>
            <a:r>
              <a:rPr sz="2000" dirty="0">
                <a:latin typeface="Times New Roman"/>
                <a:cs typeface="Times New Roman"/>
              </a:rPr>
              <a:t>engine</a:t>
            </a:r>
            <a:r>
              <a:rPr sz="2000" spc="-70" dirty="0">
                <a:latin typeface="Times New Roman"/>
                <a:cs typeface="Times New Roman"/>
              </a:rPr>
              <a:t> </a:t>
            </a:r>
            <a:r>
              <a:rPr sz="2000" dirty="0">
                <a:latin typeface="Times New Roman"/>
                <a:cs typeface="Times New Roman"/>
              </a:rPr>
              <a:t>load,</a:t>
            </a:r>
            <a:r>
              <a:rPr sz="2000" spc="-45" dirty="0">
                <a:latin typeface="Times New Roman"/>
                <a:cs typeface="Times New Roman"/>
              </a:rPr>
              <a:t> </a:t>
            </a:r>
            <a:r>
              <a:rPr sz="2000" dirty="0">
                <a:latin typeface="Times New Roman"/>
                <a:cs typeface="Times New Roman"/>
              </a:rPr>
              <a:t>GPS, network</a:t>
            </a:r>
            <a:r>
              <a:rPr sz="2000" spc="-70" dirty="0">
                <a:latin typeface="Times New Roman"/>
                <a:cs typeface="Times New Roman"/>
              </a:rPr>
              <a:t> </a:t>
            </a:r>
            <a:r>
              <a:rPr sz="2000" dirty="0">
                <a:latin typeface="Times New Roman"/>
                <a:cs typeface="Times New Roman"/>
              </a:rPr>
              <a:t>signals,</a:t>
            </a:r>
            <a:r>
              <a:rPr sz="2000" spc="-70" dirty="0">
                <a:latin typeface="Times New Roman"/>
                <a:cs typeface="Times New Roman"/>
              </a:rPr>
              <a:t> </a:t>
            </a:r>
            <a:r>
              <a:rPr sz="2000" spc="-10" dirty="0">
                <a:latin typeface="Times New Roman"/>
                <a:cs typeface="Times New Roman"/>
              </a:rPr>
              <a:t>etc.).</a:t>
            </a:r>
            <a:endParaRPr sz="2000" dirty="0">
              <a:latin typeface="Times New Roman"/>
              <a:cs typeface="Times New Roman"/>
            </a:endParaRPr>
          </a:p>
          <a:p>
            <a:pPr marL="12065" marR="346710" algn="just">
              <a:lnSpc>
                <a:spcPts val="3600"/>
              </a:lnSpc>
              <a:spcBef>
                <a:spcPts val="320"/>
              </a:spcBef>
              <a:tabLst>
                <a:tab pos="299085" algn="l"/>
              </a:tabLst>
            </a:pPr>
            <a:r>
              <a:rPr lang="en-US" sz="2000" b="1" dirty="0">
                <a:latin typeface="Times New Roman"/>
                <a:cs typeface="Times New Roman"/>
              </a:rPr>
              <a:t>2. </a:t>
            </a:r>
            <a:r>
              <a:rPr sz="2000" b="1" dirty="0">
                <a:latin typeface="Times New Roman"/>
                <a:cs typeface="Times New Roman"/>
              </a:rPr>
              <a:t>Capability</a:t>
            </a:r>
            <a:r>
              <a:rPr sz="2000" b="1" spc="-125" dirty="0">
                <a:latin typeface="Times New Roman"/>
                <a:cs typeface="Times New Roman"/>
              </a:rPr>
              <a:t> </a:t>
            </a:r>
            <a:r>
              <a:rPr sz="2000" b="1" dirty="0">
                <a:latin typeface="Times New Roman"/>
                <a:cs typeface="Times New Roman"/>
              </a:rPr>
              <a:t>Profiling</a:t>
            </a:r>
            <a:r>
              <a:rPr sz="2000" b="1" spc="-114" dirty="0">
                <a:latin typeface="Times New Roman"/>
                <a:cs typeface="Times New Roman"/>
              </a:rPr>
              <a:t> </a:t>
            </a:r>
            <a:r>
              <a:rPr sz="2000" dirty="0">
                <a:latin typeface="Times New Roman"/>
                <a:cs typeface="Times New Roman"/>
              </a:rPr>
              <a:t>–</a:t>
            </a:r>
            <a:r>
              <a:rPr sz="2000" spc="-125" dirty="0">
                <a:latin typeface="Times New Roman"/>
                <a:cs typeface="Times New Roman"/>
              </a:rPr>
              <a:t> </a:t>
            </a:r>
            <a:r>
              <a:rPr sz="2000" dirty="0">
                <a:latin typeface="Times New Roman"/>
                <a:cs typeface="Times New Roman"/>
              </a:rPr>
              <a:t>Analyzes</a:t>
            </a:r>
            <a:r>
              <a:rPr sz="2000" spc="-65" dirty="0">
                <a:latin typeface="Times New Roman"/>
                <a:cs typeface="Times New Roman"/>
              </a:rPr>
              <a:t> </a:t>
            </a:r>
            <a:r>
              <a:rPr sz="2000" dirty="0">
                <a:latin typeface="Times New Roman"/>
                <a:cs typeface="Times New Roman"/>
              </a:rPr>
              <a:t>hardware</a:t>
            </a:r>
            <a:r>
              <a:rPr sz="2000" spc="-114" dirty="0">
                <a:latin typeface="Times New Roman"/>
                <a:cs typeface="Times New Roman"/>
              </a:rPr>
              <a:t> </a:t>
            </a:r>
            <a:r>
              <a:rPr sz="2000" dirty="0">
                <a:latin typeface="Times New Roman"/>
                <a:cs typeface="Times New Roman"/>
              </a:rPr>
              <a:t>usage</a:t>
            </a:r>
            <a:r>
              <a:rPr sz="2000" spc="-65" dirty="0">
                <a:latin typeface="Times New Roman"/>
                <a:cs typeface="Times New Roman"/>
              </a:rPr>
              <a:t> </a:t>
            </a:r>
            <a:r>
              <a:rPr sz="2000" dirty="0">
                <a:latin typeface="Times New Roman"/>
                <a:cs typeface="Times New Roman"/>
              </a:rPr>
              <a:t>(CPU,</a:t>
            </a:r>
            <a:r>
              <a:rPr sz="2000" spc="-45" dirty="0">
                <a:latin typeface="Times New Roman"/>
                <a:cs typeface="Times New Roman"/>
              </a:rPr>
              <a:t> </a:t>
            </a:r>
            <a:r>
              <a:rPr sz="2000" spc="-20" dirty="0">
                <a:latin typeface="Times New Roman"/>
                <a:cs typeface="Times New Roman"/>
              </a:rPr>
              <a:t>memory,</a:t>
            </a:r>
            <a:r>
              <a:rPr sz="2000" spc="-25" dirty="0">
                <a:latin typeface="Times New Roman"/>
                <a:cs typeface="Times New Roman"/>
              </a:rPr>
              <a:t> </a:t>
            </a:r>
            <a:r>
              <a:rPr sz="2000" dirty="0">
                <a:latin typeface="Times New Roman"/>
                <a:cs typeface="Times New Roman"/>
              </a:rPr>
              <a:t>bandwidth)</a:t>
            </a:r>
            <a:r>
              <a:rPr sz="2000" spc="-120" dirty="0">
                <a:latin typeface="Times New Roman"/>
                <a:cs typeface="Times New Roman"/>
              </a:rPr>
              <a:t> </a:t>
            </a:r>
            <a:r>
              <a:rPr sz="2000" spc="-25" dirty="0">
                <a:latin typeface="Times New Roman"/>
                <a:cs typeface="Times New Roman"/>
              </a:rPr>
              <a:t>to </a:t>
            </a:r>
            <a:r>
              <a:rPr sz="2000" dirty="0">
                <a:latin typeface="Times New Roman"/>
                <a:cs typeface="Times New Roman"/>
              </a:rPr>
              <a:t>understand</a:t>
            </a:r>
            <a:r>
              <a:rPr sz="2000" spc="-90" dirty="0">
                <a:latin typeface="Times New Roman"/>
                <a:cs typeface="Times New Roman"/>
              </a:rPr>
              <a:t> </a:t>
            </a:r>
            <a:r>
              <a:rPr sz="2000" dirty="0">
                <a:latin typeface="Times New Roman"/>
                <a:cs typeface="Times New Roman"/>
              </a:rPr>
              <a:t>current</a:t>
            </a:r>
            <a:r>
              <a:rPr sz="2000" spc="-90" dirty="0">
                <a:latin typeface="Times New Roman"/>
                <a:cs typeface="Times New Roman"/>
              </a:rPr>
              <a:t> </a:t>
            </a:r>
            <a:r>
              <a:rPr sz="2000" dirty="0">
                <a:latin typeface="Times New Roman"/>
                <a:cs typeface="Times New Roman"/>
              </a:rPr>
              <a:t>system</a:t>
            </a:r>
            <a:r>
              <a:rPr sz="2000" spc="-25" dirty="0">
                <a:latin typeface="Times New Roman"/>
                <a:cs typeface="Times New Roman"/>
              </a:rPr>
              <a:t> </a:t>
            </a:r>
            <a:r>
              <a:rPr sz="2000" spc="-10" dirty="0">
                <a:latin typeface="Times New Roman"/>
                <a:cs typeface="Times New Roman"/>
              </a:rPr>
              <a:t>performance.</a:t>
            </a:r>
            <a:endParaRPr sz="2000" dirty="0">
              <a:latin typeface="Times New Roman"/>
              <a:cs typeface="Times New Roman"/>
            </a:endParaRPr>
          </a:p>
          <a:p>
            <a:pPr marL="12065" marR="181610" algn="just">
              <a:lnSpc>
                <a:spcPts val="3600"/>
              </a:lnSpc>
              <a:tabLst>
                <a:tab pos="299085" algn="l"/>
              </a:tabLst>
            </a:pPr>
            <a:r>
              <a:rPr lang="en-US" sz="2000" b="1" dirty="0">
                <a:latin typeface="Times New Roman"/>
                <a:cs typeface="Times New Roman"/>
              </a:rPr>
              <a:t>3. </a:t>
            </a:r>
            <a:r>
              <a:rPr sz="2000" b="1" dirty="0">
                <a:latin typeface="Times New Roman"/>
                <a:cs typeface="Times New Roman"/>
              </a:rPr>
              <a:t>Machine</a:t>
            </a:r>
            <a:r>
              <a:rPr sz="2000" b="1" spc="-110" dirty="0">
                <a:latin typeface="Times New Roman"/>
                <a:cs typeface="Times New Roman"/>
              </a:rPr>
              <a:t> </a:t>
            </a:r>
            <a:r>
              <a:rPr sz="2000" b="1" dirty="0">
                <a:latin typeface="Times New Roman"/>
                <a:cs typeface="Times New Roman"/>
              </a:rPr>
              <a:t>Learning</a:t>
            </a:r>
            <a:r>
              <a:rPr sz="2000" b="1" spc="-50" dirty="0">
                <a:latin typeface="Times New Roman"/>
                <a:cs typeface="Times New Roman"/>
              </a:rPr>
              <a:t> </a:t>
            </a:r>
            <a:r>
              <a:rPr sz="2000" b="1" dirty="0">
                <a:latin typeface="Times New Roman"/>
                <a:cs typeface="Times New Roman"/>
              </a:rPr>
              <a:t>Optimization</a:t>
            </a:r>
            <a:r>
              <a:rPr sz="2000" b="1" spc="-45" dirty="0">
                <a:latin typeface="Times New Roman"/>
                <a:cs typeface="Times New Roman"/>
              </a:rPr>
              <a:t> </a:t>
            </a:r>
            <a:r>
              <a:rPr sz="2000" dirty="0">
                <a:latin typeface="Times New Roman"/>
                <a:cs typeface="Times New Roman"/>
              </a:rPr>
              <a:t>–</a:t>
            </a:r>
            <a:r>
              <a:rPr sz="2000" spc="-150" dirty="0">
                <a:latin typeface="Times New Roman"/>
                <a:cs typeface="Times New Roman"/>
              </a:rPr>
              <a:t> </a:t>
            </a:r>
            <a:r>
              <a:rPr sz="2000" dirty="0">
                <a:latin typeface="Times New Roman"/>
                <a:cs typeface="Times New Roman"/>
              </a:rPr>
              <a:t>Applies</a:t>
            </a:r>
            <a:r>
              <a:rPr sz="2000" spc="-95" dirty="0">
                <a:latin typeface="Times New Roman"/>
                <a:cs typeface="Times New Roman"/>
              </a:rPr>
              <a:t> </a:t>
            </a:r>
            <a:r>
              <a:rPr sz="2000" dirty="0">
                <a:latin typeface="Times New Roman"/>
                <a:cs typeface="Times New Roman"/>
              </a:rPr>
              <a:t>ML</a:t>
            </a:r>
            <a:r>
              <a:rPr sz="2000" spc="-105" dirty="0">
                <a:latin typeface="Times New Roman"/>
                <a:cs typeface="Times New Roman"/>
              </a:rPr>
              <a:t> </a:t>
            </a:r>
            <a:r>
              <a:rPr sz="2000" dirty="0">
                <a:latin typeface="Times New Roman"/>
                <a:cs typeface="Times New Roman"/>
              </a:rPr>
              <a:t>algorithms</a:t>
            </a:r>
            <a:r>
              <a:rPr sz="2000" spc="-70" dirty="0">
                <a:latin typeface="Times New Roman"/>
                <a:cs typeface="Times New Roman"/>
              </a:rPr>
              <a:t> </a:t>
            </a:r>
            <a:r>
              <a:rPr sz="2000" dirty="0">
                <a:latin typeface="Times New Roman"/>
                <a:cs typeface="Times New Roman"/>
              </a:rPr>
              <a:t>to</a:t>
            </a:r>
            <a:r>
              <a:rPr sz="2000" spc="-50" dirty="0">
                <a:latin typeface="Times New Roman"/>
                <a:cs typeface="Times New Roman"/>
              </a:rPr>
              <a:t> </a:t>
            </a:r>
            <a:r>
              <a:rPr sz="2000" dirty="0">
                <a:latin typeface="Times New Roman"/>
                <a:cs typeface="Times New Roman"/>
              </a:rPr>
              <a:t>predict</a:t>
            </a:r>
            <a:r>
              <a:rPr sz="2000" spc="-95" dirty="0">
                <a:latin typeface="Times New Roman"/>
                <a:cs typeface="Times New Roman"/>
              </a:rPr>
              <a:t> </a:t>
            </a:r>
            <a:r>
              <a:rPr sz="2000" spc="-10" dirty="0">
                <a:latin typeface="Times New Roman"/>
                <a:cs typeface="Times New Roman"/>
              </a:rPr>
              <a:t>processing </a:t>
            </a:r>
            <a:r>
              <a:rPr sz="2000" dirty="0">
                <a:latin typeface="Times New Roman"/>
                <a:cs typeface="Times New Roman"/>
              </a:rPr>
              <a:t>load</a:t>
            </a:r>
            <a:r>
              <a:rPr sz="2000" spc="-8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dynamically</a:t>
            </a:r>
            <a:r>
              <a:rPr sz="2000" spc="-55" dirty="0">
                <a:latin typeface="Times New Roman"/>
                <a:cs typeface="Times New Roman"/>
              </a:rPr>
              <a:t> </a:t>
            </a:r>
            <a:r>
              <a:rPr sz="2000" dirty="0">
                <a:latin typeface="Times New Roman"/>
                <a:cs typeface="Times New Roman"/>
              </a:rPr>
              <a:t>allocate</a:t>
            </a:r>
            <a:r>
              <a:rPr sz="2000" spc="-75" dirty="0">
                <a:latin typeface="Times New Roman"/>
                <a:cs typeface="Times New Roman"/>
              </a:rPr>
              <a:t> </a:t>
            </a:r>
            <a:r>
              <a:rPr sz="2000" spc="-10" dirty="0">
                <a:latin typeface="Times New Roman"/>
                <a:cs typeface="Times New Roman"/>
              </a:rPr>
              <a:t>resources.</a:t>
            </a:r>
            <a:endParaRPr sz="2000" dirty="0">
              <a:latin typeface="Times New Roman"/>
              <a:cs typeface="Times New Roman"/>
            </a:endParaRPr>
          </a:p>
          <a:p>
            <a:pPr marL="12700" algn="just">
              <a:lnSpc>
                <a:spcPct val="100000"/>
              </a:lnSpc>
              <a:spcBef>
                <a:spcPts val="880"/>
              </a:spcBef>
              <a:tabLst>
                <a:tab pos="299085" algn="l"/>
              </a:tabLst>
            </a:pPr>
            <a:r>
              <a:rPr lang="en-US" sz="2000" b="1" dirty="0">
                <a:latin typeface="Times New Roman"/>
                <a:cs typeface="Times New Roman"/>
              </a:rPr>
              <a:t>4. </a:t>
            </a:r>
            <a:r>
              <a:rPr sz="2000" b="1" dirty="0">
                <a:latin typeface="Times New Roman"/>
                <a:cs typeface="Times New Roman"/>
              </a:rPr>
              <a:t>Adaptive</a:t>
            </a:r>
            <a:r>
              <a:rPr sz="2000" b="1" spc="-105" dirty="0">
                <a:latin typeface="Times New Roman"/>
                <a:cs typeface="Times New Roman"/>
              </a:rPr>
              <a:t> </a:t>
            </a:r>
            <a:r>
              <a:rPr sz="2000" b="1" dirty="0">
                <a:latin typeface="Times New Roman"/>
                <a:cs typeface="Times New Roman"/>
              </a:rPr>
              <a:t>Communication</a:t>
            </a:r>
            <a:r>
              <a:rPr sz="2000" b="1" spc="-90" dirty="0">
                <a:latin typeface="Times New Roman"/>
                <a:cs typeface="Times New Roman"/>
              </a:rPr>
              <a:t> </a:t>
            </a:r>
            <a:r>
              <a:rPr sz="2000" dirty="0">
                <a:latin typeface="Times New Roman"/>
                <a:cs typeface="Times New Roman"/>
              </a:rPr>
              <a:t>–</a:t>
            </a:r>
            <a:r>
              <a:rPr sz="2000" spc="-140" dirty="0">
                <a:latin typeface="Times New Roman"/>
                <a:cs typeface="Times New Roman"/>
              </a:rPr>
              <a:t> </a:t>
            </a:r>
            <a:r>
              <a:rPr sz="2000" dirty="0">
                <a:latin typeface="Times New Roman"/>
                <a:cs typeface="Times New Roman"/>
              </a:rPr>
              <a:t>Adjusts</a:t>
            </a:r>
            <a:r>
              <a:rPr sz="2000" spc="-110" dirty="0">
                <a:latin typeface="Times New Roman"/>
                <a:cs typeface="Times New Roman"/>
              </a:rPr>
              <a:t> </a:t>
            </a:r>
            <a:r>
              <a:rPr sz="2000" dirty="0">
                <a:latin typeface="Times New Roman"/>
                <a:cs typeface="Times New Roman"/>
              </a:rPr>
              <a:t>data</a:t>
            </a:r>
            <a:r>
              <a:rPr sz="2000" spc="-60" dirty="0">
                <a:latin typeface="Times New Roman"/>
                <a:cs typeface="Times New Roman"/>
              </a:rPr>
              <a:t> </a:t>
            </a:r>
            <a:r>
              <a:rPr sz="2000" dirty="0">
                <a:latin typeface="Times New Roman"/>
                <a:cs typeface="Times New Roman"/>
              </a:rPr>
              <a:t>transmission</a:t>
            </a:r>
            <a:r>
              <a:rPr sz="2000" spc="-85" dirty="0">
                <a:latin typeface="Times New Roman"/>
                <a:cs typeface="Times New Roman"/>
              </a:rPr>
              <a:t> </a:t>
            </a:r>
            <a:r>
              <a:rPr sz="2000" dirty="0">
                <a:latin typeface="Times New Roman"/>
                <a:cs typeface="Times New Roman"/>
              </a:rPr>
              <a:t>rates</a:t>
            </a:r>
            <a:r>
              <a:rPr sz="2000" spc="-75" dirty="0">
                <a:latin typeface="Times New Roman"/>
                <a:cs typeface="Times New Roman"/>
              </a:rPr>
              <a:t> </a:t>
            </a:r>
            <a:r>
              <a:rPr sz="2000" dirty="0">
                <a:latin typeface="Times New Roman"/>
                <a:cs typeface="Times New Roman"/>
              </a:rPr>
              <a:t>and</a:t>
            </a:r>
            <a:r>
              <a:rPr sz="2000" spc="-50" dirty="0">
                <a:latin typeface="Times New Roman"/>
                <a:cs typeface="Times New Roman"/>
              </a:rPr>
              <a:t> </a:t>
            </a:r>
            <a:r>
              <a:rPr sz="2000" dirty="0">
                <a:latin typeface="Times New Roman"/>
                <a:cs typeface="Times New Roman"/>
              </a:rPr>
              <a:t>priorities</a:t>
            </a:r>
            <a:r>
              <a:rPr sz="2000" spc="-110" dirty="0">
                <a:latin typeface="Times New Roman"/>
                <a:cs typeface="Times New Roman"/>
              </a:rPr>
              <a:t> </a:t>
            </a:r>
            <a:r>
              <a:rPr sz="2000" spc="-10" dirty="0">
                <a:latin typeface="Times New Roman"/>
                <a:cs typeface="Times New Roman"/>
              </a:rPr>
              <a:t>based</a:t>
            </a:r>
            <a:endParaRPr sz="2000" dirty="0">
              <a:latin typeface="Times New Roman"/>
              <a:cs typeface="Times New Roman"/>
            </a:endParaRPr>
          </a:p>
          <a:p>
            <a:pPr marL="299085" algn="just">
              <a:lnSpc>
                <a:spcPct val="100000"/>
              </a:lnSpc>
              <a:spcBef>
                <a:spcPts val="1205"/>
              </a:spcBef>
            </a:pPr>
            <a:r>
              <a:rPr sz="2000" dirty="0">
                <a:latin typeface="Times New Roman"/>
                <a:cs typeface="Times New Roman"/>
              </a:rPr>
              <a:t>on</a:t>
            </a:r>
            <a:r>
              <a:rPr sz="2000" spc="-35" dirty="0">
                <a:latin typeface="Times New Roman"/>
                <a:cs typeface="Times New Roman"/>
              </a:rPr>
              <a:t> </a:t>
            </a:r>
            <a:r>
              <a:rPr sz="2000" dirty="0">
                <a:latin typeface="Times New Roman"/>
                <a:cs typeface="Times New Roman"/>
              </a:rPr>
              <a:t>system</a:t>
            </a:r>
            <a:r>
              <a:rPr sz="2000" spc="-45" dirty="0">
                <a:latin typeface="Times New Roman"/>
                <a:cs typeface="Times New Roman"/>
              </a:rPr>
              <a:t> </a:t>
            </a:r>
            <a:r>
              <a:rPr sz="2000" spc="-10" dirty="0">
                <a:latin typeface="Times New Roman"/>
                <a:cs typeface="Times New Roman"/>
              </a:rPr>
              <a:t>conditions.</a:t>
            </a:r>
            <a:endParaRPr sz="2000" dirty="0">
              <a:latin typeface="Times New Roman"/>
              <a:cs typeface="Times New Roman"/>
            </a:endParaRPr>
          </a:p>
          <a:p>
            <a:pPr marL="12065" marR="532765" algn="just">
              <a:lnSpc>
                <a:spcPct val="150000"/>
              </a:lnSpc>
              <a:tabLst>
                <a:tab pos="299085" algn="l"/>
              </a:tabLst>
            </a:pPr>
            <a:r>
              <a:rPr lang="en-US" sz="2000" b="1" dirty="0">
                <a:latin typeface="Times New Roman"/>
                <a:cs typeface="Times New Roman"/>
              </a:rPr>
              <a:t>5. </a:t>
            </a:r>
            <a:r>
              <a:rPr sz="2000" b="1" dirty="0">
                <a:latin typeface="Times New Roman"/>
                <a:cs typeface="Times New Roman"/>
              </a:rPr>
              <a:t>Cloud</a:t>
            </a:r>
            <a:r>
              <a:rPr sz="2000" b="1" spc="-65" dirty="0">
                <a:latin typeface="Times New Roman"/>
                <a:cs typeface="Times New Roman"/>
              </a:rPr>
              <a:t> </a:t>
            </a:r>
            <a:r>
              <a:rPr sz="2000" b="1" dirty="0">
                <a:latin typeface="Times New Roman"/>
                <a:cs typeface="Times New Roman"/>
              </a:rPr>
              <a:t>Integration</a:t>
            </a:r>
            <a:r>
              <a:rPr sz="2000" b="1" spc="-90" dirty="0">
                <a:latin typeface="Times New Roman"/>
                <a:cs typeface="Times New Roman"/>
              </a:rPr>
              <a:t> </a:t>
            </a:r>
            <a:r>
              <a:rPr sz="2000" dirty="0">
                <a:latin typeface="Times New Roman"/>
                <a:cs typeface="Times New Roman"/>
              </a:rPr>
              <a:t>–</a:t>
            </a:r>
            <a:r>
              <a:rPr sz="2000" spc="-40" dirty="0">
                <a:latin typeface="Times New Roman"/>
                <a:cs typeface="Times New Roman"/>
              </a:rPr>
              <a:t> </a:t>
            </a:r>
            <a:r>
              <a:rPr sz="2000" dirty="0">
                <a:latin typeface="Times New Roman"/>
                <a:cs typeface="Times New Roman"/>
              </a:rPr>
              <a:t>Stores</a:t>
            </a:r>
            <a:r>
              <a:rPr sz="2000" spc="-90" dirty="0">
                <a:latin typeface="Times New Roman"/>
                <a:cs typeface="Times New Roman"/>
              </a:rPr>
              <a:t> </a:t>
            </a:r>
            <a:r>
              <a:rPr sz="2000" dirty="0">
                <a:latin typeface="Times New Roman"/>
                <a:cs typeface="Times New Roman"/>
              </a:rPr>
              <a:t>and</a:t>
            </a:r>
            <a:r>
              <a:rPr sz="2000" spc="-45" dirty="0">
                <a:latin typeface="Times New Roman"/>
                <a:cs typeface="Times New Roman"/>
              </a:rPr>
              <a:t> </a:t>
            </a:r>
            <a:r>
              <a:rPr sz="2000" dirty="0">
                <a:latin typeface="Times New Roman"/>
                <a:cs typeface="Times New Roman"/>
              </a:rPr>
              <a:t>compares</a:t>
            </a:r>
            <a:r>
              <a:rPr sz="2000" spc="-60" dirty="0">
                <a:latin typeface="Times New Roman"/>
                <a:cs typeface="Times New Roman"/>
              </a:rPr>
              <a:t> </a:t>
            </a:r>
            <a:r>
              <a:rPr sz="2000" dirty="0">
                <a:latin typeface="Times New Roman"/>
                <a:cs typeface="Times New Roman"/>
              </a:rPr>
              <a:t>OBU</a:t>
            </a:r>
            <a:r>
              <a:rPr sz="2000" spc="-40" dirty="0">
                <a:latin typeface="Times New Roman"/>
                <a:cs typeface="Times New Roman"/>
              </a:rPr>
              <a:t> </a:t>
            </a:r>
            <a:r>
              <a:rPr sz="2000" dirty="0">
                <a:latin typeface="Times New Roman"/>
                <a:cs typeface="Times New Roman"/>
              </a:rPr>
              <a:t>performance</a:t>
            </a:r>
            <a:r>
              <a:rPr sz="2000" spc="-90" dirty="0">
                <a:latin typeface="Times New Roman"/>
                <a:cs typeface="Times New Roman"/>
              </a:rPr>
              <a:t> </a:t>
            </a:r>
            <a:r>
              <a:rPr sz="2000" dirty="0">
                <a:latin typeface="Times New Roman"/>
                <a:cs typeface="Times New Roman"/>
              </a:rPr>
              <a:t>data</a:t>
            </a:r>
            <a:r>
              <a:rPr sz="2000" spc="-55" dirty="0">
                <a:latin typeface="Times New Roman"/>
                <a:cs typeface="Times New Roman"/>
              </a:rPr>
              <a:t> </a:t>
            </a:r>
            <a:r>
              <a:rPr sz="2000" dirty="0">
                <a:latin typeface="Times New Roman"/>
                <a:cs typeface="Times New Roman"/>
              </a:rPr>
              <a:t>with</a:t>
            </a:r>
            <a:r>
              <a:rPr sz="2000" spc="-50" dirty="0">
                <a:latin typeface="Times New Roman"/>
                <a:cs typeface="Times New Roman"/>
              </a:rPr>
              <a:t> </a:t>
            </a:r>
            <a:r>
              <a:rPr sz="2000" spc="-10" dirty="0">
                <a:latin typeface="Times New Roman"/>
                <a:cs typeface="Times New Roman"/>
              </a:rPr>
              <a:t>global </a:t>
            </a:r>
            <a:r>
              <a:rPr sz="2000" dirty="0">
                <a:latin typeface="Times New Roman"/>
                <a:cs typeface="Times New Roman"/>
              </a:rPr>
              <a:t>benchmarks</a:t>
            </a:r>
            <a:r>
              <a:rPr sz="2000" spc="-80" dirty="0">
                <a:latin typeface="Times New Roman"/>
                <a:cs typeface="Times New Roman"/>
              </a:rPr>
              <a:t> </a:t>
            </a:r>
            <a:r>
              <a:rPr sz="2000" dirty="0">
                <a:latin typeface="Times New Roman"/>
                <a:cs typeface="Times New Roman"/>
              </a:rPr>
              <a:t>for</a:t>
            </a:r>
            <a:r>
              <a:rPr sz="2000" spc="-50" dirty="0">
                <a:latin typeface="Times New Roman"/>
                <a:cs typeface="Times New Roman"/>
              </a:rPr>
              <a:t> </a:t>
            </a:r>
            <a:r>
              <a:rPr sz="2000" spc="-10" dirty="0">
                <a:latin typeface="Times New Roman"/>
                <a:cs typeface="Times New Roman"/>
              </a:rPr>
              <a:t>improvement.</a:t>
            </a:r>
            <a:endParaRPr sz="2000" dirty="0">
              <a:latin typeface="Times New Roman"/>
              <a:cs typeface="Times New Roman"/>
            </a:endParaRPr>
          </a:p>
          <a:p>
            <a:pPr marL="12065" marR="5080" algn="just">
              <a:lnSpc>
                <a:spcPct val="150000"/>
              </a:lnSpc>
              <a:tabLst>
                <a:tab pos="299085" algn="l"/>
              </a:tabLst>
            </a:pPr>
            <a:r>
              <a:rPr lang="en-US" sz="2000" b="1" dirty="0">
                <a:latin typeface="Times New Roman"/>
                <a:cs typeface="Times New Roman"/>
              </a:rPr>
              <a:t>6. </a:t>
            </a:r>
            <a:r>
              <a:rPr sz="2000" b="1" dirty="0">
                <a:latin typeface="Times New Roman"/>
                <a:cs typeface="Times New Roman"/>
              </a:rPr>
              <a:t>Alert</a:t>
            </a:r>
            <a:r>
              <a:rPr sz="2000" b="1" spc="-50" dirty="0">
                <a:latin typeface="Times New Roman"/>
                <a:cs typeface="Times New Roman"/>
              </a:rPr>
              <a:t> </a:t>
            </a:r>
            <a:r>
              <a:rPr sz="2000" b="1" dirty="0">
                <a:latin typeface="Times New Roman"/>
                <a:cs typeface="Times New Roman"/>
              </a:rPr>
              <a:t>System</a:t>
            </a:r>
            <a:r>
              <a:rPr sz="2000" b="1" spc="-65"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Notifies</a:t>
            </a:r>
            <a:r>
              <a:rPr sz="2000" spc="-70" dirty="0">
                <a:latin typeface="Times New Roman"/>
                <a:cs typeface="Times New Roman"/>
              </a:rPr>
              <a:t> </a:t>
            </a:r>
            <a:r>
              <a:rPr sz="2000" dirty="0">
                <a:latin typeface="Times New Roman"/>
                <a:cs typeface="Times New Roman"/>
              </a:rPr>
              <a:t>the</a:t>
            </a:r>
            <a:r>
              <a:rPr sz="2000" spc="-40" dirty="0">
                <a:latin typeface="Times New Roman"/>
                <a:cs typeface="Times New Roman"/>
              </a:rPr>
              <a:t> </a:t>
            </a:r>
            <a:r>
              <a:rPr sz="2000" dirty="0">
                <a:latin typeface="Times New Roman"/>
                <a:cs typeface="Times New Roman"/>
              </a:rPr>
              <a:t>driver</a:t>
            </a:r>
            <a:r>
              <a:rPr sz="2000" spc="-75" dirty="0">
                <a:latin typeface="Times New Roman"/>
                <a:cs typeface="Times New Roman"/>
              </a:rPr>
              <a:t> </a:t>
            </a:r>
            <a:r>
              <a:rPr sz="2000" dirty="0">
                <a:latin typeface="Times New Roman"/>
                <a:cs typeface="Times New Roman"/>
              </a:rPr>
              <a:t>or</a:t>
            </a:r>
            <a:r>
              <a:rPr sz="2000" spc="-30" dirty="0">
                <a:latin typeface="Times New Roman"/>
                <a:cs typeface="Times New Roman"/>
              </a:rPr>
              <a:t> </a:t>
            </a:r>
            <a:r>
              <a:rPr sz="2000" dirty="0">
                <a:latin typeface="Times New Roman"/>
                <a:cs typeface="Times New Roman"/>
              </a:rPr>
              <a:t>control</a:t>
            </a:r>
            <a:r>
              <a:rPr sz="2000" spc="-65" dirty="0">
                <a:latin typeface="Times New Roman"/>
                <a:cs typeface="Times New Roman"/>
              </a:rPr>
              <a:t> </a:t>
            </a:r>
            <a:r>
              <a:rPr sz="2000" dirty="0">
                <a:latin typeface="Times New Roman"/>
                <a:cs typeface="Times New Roman"/>
              </a:rPr>
              <a:t>center</a:t>
            </a:r>
            <a:r>
              <a:rPr sz="2000" spc="-55" dirty="0">
                <a:latin typeface="Times New Roman"/>
                <a:cs typeface="Times New Roman"/>
              </a:rPr>
              <a:t> </a:t>
            </a:r>
            <a:r>
              <a:rPr sz="2000" dirty="0">
                <a:latin typeface="Times New Roman"/>
                <a:cs typeface="Times New Roman"/>
              </a:rPr>
              <a:t>when</a:t>
            </a:r>
            <a:r>
              <a:rPr sz="2000" spc="-40" dirty="0">
                <a:latin typeface="Times New Roman"/>
                <a:cs typeface="Times New Roman"/>
              </a:rPr>
              <a:t> </a:t>
            </a:r>
            <a:r>
              <a:rPr sz="2000" dirty="0">
                <a:latin typeface="Times New Roman"/>
                <a:cs typeface="Times New Roman"/>
              </a:rPr>
              <a:t>performance</a:t>
            </a:r>
            <a:r>
              <a:rPr sz="2000" spc="-70" dirty="0">
                <a:latin typeface="Times New Roman"/>
                <a:cs typeface="Times New Roman"/>
              </a:rPr>
              <a:t> </a:t>
            </a:r>
            <a:r>
              <a:rPr sz="2000" spc="-10" dirty="0">
                <a:latin typeface="Times New Roman"/>
                <a:cs typeface="Times New Roman"/>
              </a:rPr>
              <a:t>degradation </a:t>
            </a:r>
            <a:r>
              <a:rPr sz="2000" dirty="0">
                <a:latin typeface="Times New Roman"/>
                <a:cs typeface="Times New Roman"/>
              </a:rPr>
              <a:t>or</a:t>
            </a:r>
            <a:r>
              <a:rPr sz="2000" spc="-35" dirty="0">
                <a:latin typeface="Times New Roman"/>
                <a:cs typeface="Times New Roman"/>
              </a:rPr>
              <a:t> </a:t>
            </a:r>
            <a:r>
              <a:rPr sz="2000" dirty="0">
                <a:latin typeface="Times New Roman"/>
                <a:cs typeface="Times New Roman"/>
              </a:rPr>
              <a:t>abnormal</a:t>
            </a:r>
            <a:r>
              <a:rPr sz="2000" spc="-65" dirty="0">
                <a:latin typeface="Times New Roman"/>
                <a:cs typeface="Times New Roman"/>
              </a:rPr>
              <a:t> </a:t>
            </a:r>
            <a:r>
              <a:rPr sz="2000" dirty="0">
                <a:latin typeface="Times New Roman"/>
                <a:cs typeface="Times New Roman"/>
              </a:rPr>
              <a:t>behavior</a:t>
            </a:r>
            <a:r>
              <a:rPr sz="2000" spc="-75"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spc="-10" dirty="0">
                <a:latin typeface="Times New Roman"/>
                <a:cs typeface="Times New Roman"/>
              </a:rPr>
              <a:t>detected.</a:t>
            </a:r>
            <a:endParaRPr sz="20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81600" y="609600"/>
            <a:ext cx="2419985" cy="452120"/>
          </a:xfrm>
          <a:prstGeom prst="rect">
            <a:avLst/>
          </a:prstGeom>
        </p:spPr>
        <p:txBody>
          <a:bodyPr vert="horz" wrap="square" lIns="0" tIns="12065" rIns="0" bIns="0" rtlCol="0">
            <a:spAutoFit/>
          </a:bodyPr>
          <a:lstStyle/>
          <a:p>
            <a:pPr marL="12700">
              <a:lnSpc>
                <a:spcPct val="100000"/>
              </a:lnSpc>
              <a:spcBef>
                <a:spcPts val="95"/>
              </a:spcBef>
            </a:pPr>
            <a:r>
              <a:rPr spc="-10" dirty="0"/>
              <a:t>CONCLUSION</a:t>
            </a:r>
          </a:p>
        </p:txBody>
      </p:sp>
      <p:sp>
        <p:nvSpPr>
          <p:cNvPr id="3" name="object 3"/>
          <p:cNvSpPr txBox="1"/>
          <p:nvPr/>
        </p:nvSpPr>
        <p:spPr>
          <a:xfrm>
            <a:off x="1295400" y="1828800"/>
            <a:ext cx="10363200" cy="3862596"/>
          </a:xfrm>
          <a:prstGeom prst="rect">
            <a:avLst/>
          </a:prstGeom>
        </p:spPr>
        <p:txBody>
          <a:bodyPr vert="horz" wrap="square" lIns="0" tIns="12700" rIns="0" bIns="0" rtlCol="0">
            <a:spAutoFit/>
          </a:bodyPr>
          <a:lstStyle/>
          <a:p>
            <a:pPr marL="12700" marR="411480" algn="just">
              <a:lnSpc>
                <a:spcPct val="100000"/>
              </a:lnSpc>
              <a:spcBef>
                <a:spcPts val="100"/>
              </a:spcBef>
            </a:pPr>
            <a:r>
              <a:rPr sz="1800" dirty="0">
                <a:latin typeface="Times New Roman"/>
                <a:cs typeface="Times New Roman"/>
              </a:rPr>
              <a:t>In</a:t>
            </a:r>
            <a:r>
              <a:rPr sz="1800" spc="-25" dirty="0">
                <a:latin typeface="Times New Roman"/>
                <a:cs typeface="Times New Roman"/>
              </a:rPr>
              <a:t> </a:t>
            </a:r>
            <a:r>
              <a:rPr sz="1800" dirty="0">
                <a:latin typeface="Times New Roman"/>
                <a:cs typeface="Times New Roman"/>
              </a:rPr>
              <a:t>conclusion,</a:t>
            </a:r>
            <a:r>
              <a:rPr sz="1800" spc="-35" dirty="0">
                <a:latin typeface="Times New Roman"/>
                <a:cs typeface="Times New Roman"/>
              </a:rPr>
              <a:t> </a:t>
            </a:r>
            <a:r>
              <a:rPr sz="1800" dirty="0">
                <a:latin typeface="Times New Roman"/>
                <a:cs typeface="Times New Roman"/>
              </a:rPr>
              <a:t>this</a:t>
            </a:r>
            <a:r>
              <a:rPr sz="1800" spc="-25" dirty="0">
                <a:latin typeface="Times New Roman"/>
                <a:cs typeface="Times New Roman"/>
              </a:rPr>
              <a:t> </a:t>
            </a:r>
            <a:r>
              <a:rPr sz="1800" dirty="0">
                <a:latin typeface="Times New Roman"/>
                <a:cs typeface="Times New Roman"/>
              </a:rPr>
              <a:t>project</a:t>
            </a:r>
            <a:r>
              <a:rPr sz="1800" spc="-35" dirty="0">
                <a:latin typeface="Times New Roman"/>
                <a:cs typeface="Times New Roman"/>
              </a:rPr>
              <a:t> </a:t>
            </a:r>
            <a:r>
              <a:rPr sz="1800" dirty="0">
                <a:latin typeface="Times New Roman"/>
                <a:cs typeface="Times New Roman"/>
              </a:rPr>
              <a:t>demonstrates</a:t>
            </a:r>
            <a:r>
              <a:rPr sz="1800" spc="-40"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spc="-10" dirty="0">
                <a:latin typeface="Times New Roman"/>
                <a:cs typeface="Times New Roman"/>
              </a:rPr>
              <a:t>effectiveness</a:t>
            </a:r>
            <a:r>
              <a:rPr sz="1800" spc="-50"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capability</a:t>
            </a:r>
            <a:r>
              <a:rPr sz="1800" spc="-40" dirty="0">
                <a:latin typeface="Times New Roman"/>
                <a:cs typeface="Times New Roman"/>
              </a:rPr>
              <a:t> </a:t>
            </a:r>
            <a:r>
              <a:rPr sz="1800" dirty="0">
                <a:latin typeface="Times New Roman"/>
                <a:cs typeface="Times New Roman"/>
              </a:rPr>
              <a:t>profiling</a:t>
            </a:r>
            <a:r>
              <a:rPr sz="1800" spc="-3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optimization</a:t>
            </a:r>
            <a:r>
              <a:rPr sz="1800" spc="-35" dirty="0">
                <a:latin typeface="Times New Roman"/>
                <a:cs typeface="Times New Roman"/>
              </a:rPr>
              <a:t> </a:t>
            </a:r>
            <a:r>
              <a:rPr sz="1800" dirty="0">
                <a:latin typeface="Times New Roman"/>
                <a:cs typeface="Times New Roman"/>
              </a:rPr>
              <a:t>techniques</a:t>
            </a:r>
            <a:r>
              <a:rPr sz="1800" spc="-40" dirty="0">
                <a:latin typeface="Times New Roman"/>
                <a:cs typeface="Times New Roman"/>
              </a:rPr>
              <a:t> </a:t>
            </a:r>
            <a:r>
              <a:rPr sz="1800" spc="-25" dirty="0">
                <a:latin typeface="Times New Roman"/>
                <a:cs typeface="Times New Roman"/>
              </a:rPr>
              <a:t>for </a:t>
            </a:r>
            <a:r>
              <a:rPr sz="1800" dirty="0">
                <a:latin typeface="Times New Roman"/>
                <a:cs typeface="Times New Roman"/>
              </a:rPr>
              <a:t>vehicle</a:t>
            </a:r>
            <a:r>
              <a:rPr sz="1800" spc="-40" dirty="0">
                <a:latin typeface="Times New Roman"/>
                <a:cs typeface="Times New Roman"/>
              </a:rPr>
              <a:t> </a:t>
            </a:r>
            <a:r>
              <a:rPr sz="1800" spc="-10" dirty="0">
                <a:latin typeface="Times New Roman"/>
                <a:cs typeface="Times New Roman"/>
              </a:rPr>
              <a:t>on-</a:t>
            </a:r>
            <a:r>
              <a:rPr sz="1800" dirty="0">
                <a:latin typeface="Times New Roman"/>
                <a:cs typeface="Times New Roman"/>
              </a:rPr>
              <a:t>board</a:t>
            </a:r>
            <a:r>
              <a:rPr sz="1800" spc="-35" dirty="0">
                <a:latin typeface="Times New Roman"/>
                <a:cs typeface="Times New Roman"/>
              </a:rPr>
              <a:t> </a:t>
            </a:r>
            <a:r>
              <a:rPr sz="1800" dirty="0">
                <a:latin typeface="Times New Roman"/>
                <a:cs typeface="Times New Roman"/>
              </a:rPr>
              <a:t>units</a:t>
            </a:r>
            <a:r>
              <a:rPr sz="1800" spc="-35" dirty="0">
                <a:latin typeface="Times New Roman"/>
                <a:cs typeface="Times New Roman"/>
              </a:rPr>
              <a:t> </a:t>
            </a:r>
            <a:r>
              <a:rPr sz="1800" dirty="0">
                <a:latin typeface="Times New Roman"/>
                <a:cs typeface="Times New Roman"/>
              </a:rPr>
              <a:t>(OBUs).</a:t>
            </a:r>
            <a:r>
              <a:rPr sz="1800" spc="-20" dirty="0">
                <a:latin typeface="Times New Roman"/>
                <a:cs typeface="Times New Roman"/>
              </a:rPr>
              <a:t> </a:t>
            </a:r>
            <a:r>
              <a:rPr sz="1800" dirty="0">
                <a:latin typeface="Times New Roman"/>
                <a:cs typeface="Times New Roman"/>
              </a:rPr>
              <a:t>By</a:t>
            </a:r>
            <a:r>
              <a:rPr sz="1800" spc="-25" dirty="0">
                <a:latin typeface="Times New Roman"/>
                <a:cs typeface="Times New Roman"/>
              </a:rPr>
              <a:t> </a:t>
            </a:r>
            <a:r>
              <a:rPr sz="1800" dirty="0">
                <a:latin typeface="Times New Roman"/>
                <a:cs typeface="Times New Roman"/>
              </a:rPr>
              <a:t>leveraging</a:t>
            </a:r>
            <a:r>
              <a:rPr sz="1800" spc="-45" dirty="0">
                <a:latin typeface="Times New Roman"/>
                <a:cs typeface="Times New Roman"/>
              </a:rPr>
              <a:t> </a:t>
            </a:r>
            <a:r>
              <a:rPr sz="1800" dirty="0">
                <a:latin typeface="Times New Roman"/>
                <a:cs typeface="Times New Roman"/>
              </a:rPr>
              <a:t>machine</a:t>
            </a:r>
            <a:r>
              <a:rPr sz="1800" spc="-35" dirty="0">
                <a:latin typeface="Times New Roman"/>
                <a:cs typeface="Times New Roman"/>
              </a:rPr>
              <a:t> </a:t>
            </a:r>
            <a:r>
              <a:rPr sz="1800" dirty="0">
                <a:latin typeface="Times New Roman"/>
                <a:cs typeface="Times New Roman"/>
              </a:rPr>
              <a:t>learning</a:t>
            </a:r>
            <a:r>
              <a:rPr sz="1800" spc="-25"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optimization</a:t>
            </a:r>
            <a:r>
              <a:rPr sz="1800" spc="-45" dirty="0">
                <a:latin typeface="Times New Roman"/>
                <a:cs typeface="Times New Roman"/>
              </a:rPr>
              <a:t> </a:t>
            </a:r>
            <a:r>
              <a:rPr sz="1800" dirty="0">
                <a:latin typeface="Times New Roman"/>
                <a:cs typeface="Times New Roman"/>
              </a:rPr>
              <a:t>methods,</a:t>
            </a:r>
            <a:r>
              <a:rPr sz="1800" spc="-20" dirty="0">
                <a:latin typeface="Times New Roman"/>
                <a:cs typeface="Times New Roman"/>
              </a:rPr>
              <a:t> </a:t>
            </a:r>
            <a:r>
              <a:rPr sz="1800" dirty="0">
                <a:latin typeface="Times New Roman"/>
                <a:cs typeface="Times New Roman"/>
              </a:rPr>
              <a:t>we</a:t>
            </a:r>
            <a:r>
              <a:rPr sz="1800" spc="-25" dirty="0">
                <a:latin typeface="Times New Roman"/>
                <a:cs typeface="Times New Roman"/>
              </a:rPr>
              <a:t> </a:t>
            </a:r>
            <a:r>
              <a:rPr sz="1800" dirty="0">
                <a:latin typeface="Times New Roman"/>
                <a:cs typeface="Times New Roman"/>
              </a:rPr>
              <a:t>can</a:t>
            </a:r>
            <a:r>
              <a:rPr sz="1800" spc="-35" dirty="0">
                <a:latin typeface="Times New Roman"/>
                <a:cs typeface="Times New Roman"/>
              </a:rPr>
              <a:t> </a:t>
            </a:r>
            <a:r>
              <a:rPr sz="1800" spc="-10" dirty="0">
                <a:latin typeface="Times New Roman"/>
                <a:cs typeface="Times New Roman"/>
              </a:rPr>
              <a:t>significantly </a:t>
            </a:r>
            <a:r>
              <a:rPr sz="1800" dirty="0">
                <a:latin typeface="Times New Roman"/>
                <a:cs typeface="Times New Roman"/>
              </a:rPr>
              <a:t>improve</a:t>
            </a:r>
            <a:r>
              <a:rPr sz="1800" spc="-45" dirty="0">
                <a:latin typeface="Times New Roman"/>
                <a:cs typeface="Times New Roman"/>
              </a:rPr>
              <a:t> </a:t>
            </a:r>
            <a:r>
              <a:rPr sz="1800" dirty="0">
                <a:latin typeface="Times New Roman"/>
                <a:cs typeface="Times New Roman"/>
              </a:rPr>
              <a:t>OBU</a:t>
            </a:r>
            <a:r>
              <a:rPr sz="1800" spc="-35" dirty="0">
                <a:latin typeface="Times New Roman"/>
                <a:cs typeface="Times New Roman"/>
              </a:rPr>
              <a:t> </a:t>
            </a:r>
            <a:r>
              <a:rPr sz="1800" dirty="0">
                <a:latin typeface="Times New Roman"/>
                <a:cs typeface="Times New Roman"/>
              </a:rPr>
              <a:t>performance,</a:t>
            </a:r>
            <a:r>
              <a:rPr sz="1800" spc="-50" dirty="0">
                <a:latin typeface="Times New Roman"/>
                <a:cs typeface="Times New Roman"/>
              </a:rPr>
              <a:t> </a:t>
            </a:r>
            <a:r>
              <a:rPr sz="1800" dirty="0">
                <a:latin typeface="Times New Roman"/>
                <a:cs typeface="Times New Roman"/>
              </a:rPr>
              <a:t>reduce</a:t>
            </a:r>
            <a:r>
              <a:rPr sz="1800" spc="-40" dirty="0">
                <a:latin typeface="Times New Roman"/>
                <a:cs typeface="Times New Roman"/>
              </a:rPr>
              <a:t> </a:t>
            </a:r>
            <a:r>
              <a:rPr sz="1800" dirty="0">
                <a:latin typeface="Times New Roman"/>
                <a:cs typeface="Times New Roman"/>
              </a:rPr>
              <a:t>power</a:t>
            </a:r>
            <a:r>
              <a:rPr sz="1800" spc="-45" dirty="0">
                <a:latin typeface="Times New Roman"/>
                <a:cs typeface="Times New Roman"/>
              </a:rPr>
              <a:t> </a:t>
            </a:r>
            <a:r>
              <a:rPr sz="1800" dirty="0">
                <a:latin typeface="Times New Roman"/>
                <a:cs typeface="Times New Roman"/>
              </a:rPr>
              <a:t>consumption,</a:t>
            </a:r>
            <a:r>
              <a:rPr sz="1800" spc="-4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enhance</a:t>
            </a:r>
            <a:r>
              <a:rPr sz="1800" spc="-60" dirty="0">
                <a:latin typeface="Times New Roman"/>
                <a:cs typeface="Times New Roman"/>
              </a:rPr>
              <a:t> </a:t>
            </a:r>
            <a:r>
              <a:rPr sz="1800" dirty="0">
                <a:latin typeface="Times New Roman"/>
                <a:cs typeface="Times New Roman"/>
              </a:rPr>
              <a:t>overall</a:t>
            </a:r>
            <a:r>
              <a:rPr sz="1800" spc="-40" dirty="0">
                <a:latin typeface="Times New Roman"/>
                <a:cs typeface="Times New Roman"/>
              </a:rPr>
              <a:t> </a:t>
            </a:r>
            <a:r>
              <a:rPr sz="1800" dirty="0">
                <a:latin typeface="Times New Roman"/>
                <a:cs typeface="Times New Roman"/>
              </a:rPr>
              <a:t>system</a:t>
            </a:r>
            <a:r>
              <a:rPr sz="1800" spc="-65" dirty="0">
                <a:latin typeface="Times New Roman"/>
                <a:cs typeface="Times New Roman"/>
              </a:rPr>
              <a:t> </a:t>
            </a:r>
            <a:r>
              <a:rPr sz="1800" spc="-10" dirty="0">
                <a:latin typeface="Times New Roman"/>
                <a:cs typeface="Times New Roman"/>
              </a:rPr>
              <a:t>efficiency</a:t>
            </a:r>
            <a:r>
              <a:rPr lang="en-US" sz="1800" spc="-10" dirty="0">
                <a:latin typeface="Times New Roman"/>
                <a:cs typeface="Times New Roman"/>
              </a:rPr>
              <a:t>.</a:t>
            </a:r>
          </a:p>
          <a:p>
            <a:pPr marL="12700" marR="411480" algn="just">
              <a:lnSpc>
                <a:spcPct val="100000"/>
              </a:lnSpc>
              <a:spcBef>
                <a:spcPts val="100"/>
              </a:spcBef>
            </a:pPr>
            <a:endParaRPr sz="1800" dirty="0">
              <a:latin typeface="Times New Roman"/>
              <a:cs typeface="Times New Roman"/>
            </a:endParaRPr>
          </a:p>
          <a:p>
            <a:pPr marL="355600" indent="-342900" algn="just">
              <a:lnSpc>
                <a:spcPct val="100000"/>
              </a:lnSpc>
              <a:spcBef>
                <a:spcPts val="805"/>
              </a:spcBef>
              <a:buFont typeface="Symbol"/>
              <a:buChar char=""/>
              <a:tabLst>
                <a:tab pos="355600" algn="l"/>
              </a:tabLst>
            </a:pPr>
            <a:r>
              <a:rPr sz="1800" b="1" dirty="0">
                <a:latin typeface="Times New Roman"/>
                <a:cs typeface="Times New Roman"/>
              </a:rPr>
              <a:t>Capability</a:t>
            </a:r>
            <a:r>
              <a:rPr sz="1800" b="1" spc="-35" dirty="0">
                <a:latin typeface="Times New Roman"/>
                <a:cs typeface="Times New Roman"/>
              </a:rPr>
              <a:t> </a:t>
            </a:r>
            <a:r>
              <a:rPr sz="1800" b="1" dirty="0">
                <a:latin typeface="Times New Roman"/>
                <a:cs typeface="Times New Roman"/>
              </a:rPr>
              <a:t>profiling:</a:t>
            </a:r>
            <a:r>
              <a:rPr sz="1800" b="1" spc="-10" dirty="0">
                <a:latin typeface="Times New Roman"/>
                <a:cs typeface="Times New Roman"/>
              </a:rPr>
              <a:t> </a:t>
            </a:r>
            <a:r>
              <a:rPr sz="1800" dirty="0">
                <a:latin typeface="Times New Roman"/>
                <a:cs typeface="Times New Roman"/>
              </a:rPr>
              <a:t>Analyzing</a:t>
            </a:r>
            <a:r>
              <a:rPr sz="1800" spc="-60" dirty="0">
                <a:latin typeface="Times New Roman"/>
                <a:cs typeface="Times New Roman"/>
              </a:rPr>
              <a:t> </a:t>
            </a:r>
            <a:r>
              <a:rPr sz="1800" dirty="0">
                <a:latin typeface="Times New Roman"/>
                <a:cs typeface="Times New Roman"/>
              </a:rPr>
              <a:t>OBU</a:t>
            </a:r>
            <a:r>
              <a:rPr sz="1800" spc="-25" dirty="0">
                <a:latin typeface="Times New Roman"/>
                <a:cs typeface="Times New Roman"/>
              </a:rPr>
              <a:t> </a:t>
            </a:r>
            <a:r>
              <a:rPr sz="1800" dirty="0">
                <a:latin typeface="Times New Roman"/>
                <a:cs typeface="Times New Roman"/>
              </a:rPr>
              <a:t>performance</a:t>
            </a:r>
            <a:r>
              <a:rPr sz="1800" spc="-20" dirty="0">
                <a:latin typeface="Times New Roman"/>
                <a:cs typeface="Times New Roman"/>
              </a:rPr>
              <a:t> </a:t>
            </a:r>
            <a:r>
              <a:rPr sz="1800" dirty="0">
                <a:latin typeface="Times New Roman"/>
                <a:cs typeface="Times New Roman"/>
              </a:rPr>
              <a:t>metrics</a:t>
            </a:r>
            <a:r>
              <a:rPr sz="1800" spc="-35" dirty="0">
                <a:latin typeface="Times New Roman"/>
                <a:cs typeface="Times New Roman"/>
              </a:rPr>
              <a:t> </a:t>
            </a:r>
            <a:r>
              <a:rPr sz="1800" dirty="0">
                <a:latin typeface="Times New Roman"/>
                <a:cs typeface="Times New Roman"/>
              </a:rPr>
              <a:t>to</a:t>
            </a:r>
            <a:r>
              <a:rPr sz="1800" spc="-25" dirty="0">
                <a:latin typeface="Times New Roman"/>
                <a:cs typeface="Times New Roman"/>
              </a:rPr>
              <a:t> </a:t>
            </a:r>
            <a:r>
              <a:rPr sz="1800" dirty="0">
                <a:latin typeface="Times New Roman"/>
                <a:cs typeface="Times New Roman"/>
              </a:rPr>
              <a:t>identify</a:t>
            </a:r>
            <a:r>
              <a:rPr sz="1800" spc="-30" dirty="0">
                <a:latin typeface="Times New Roman"/>
                <a:cs typeface="Times New Roman"/>
              </a:rPr>
              <a:t> </a:t>
            </a:r>
            <a:r>
              <a:rPr sz="1800" dirty="0">
                <a:latin typeface="Times New Roman"/>
                <a:cs typeface="Times New Roman"/>
              </a:rPr>
              <a:t>areas</a:t>
            </a:r>
            <a:r>
              <a:rPr sz="1800" spc="-45" dirty="0">
                <a:latin typeface="Times New Roman"/>
                <a:cs typeface="Times New Roman"/>
              </a:rPr>
              <a:t> </a:t>
            </a:r>
            <a:r>
              <a:rPr sz="1800" dirty="0">
                <a:latin typeface="Times New Roman"/>
                <a:cs typeface="Times New Roman"/>
              </a:rPr>
              <a:t>for</a:t>
            </a:r>
            <a:r>
              <a:rPr sz="1800" spc="-15" dirty="0">
                <a:latin typeface="Times New Roman"/>
                <a:cs typeface="Times New Roman"/>
              </a:rPr>
              <a:t> </a:t>
            </a:r>
            <a:r>
              <a:rPr sz="1800" spc="-10" dirty="0">
                <a:latin typeface="Times New Roman"/>
                <a:cs typeface="Times New Roman"/>
              </a:rPr>
              <a:t>optimization.</a:t>
            </a:r>
            <a:endParaRPr lang="en-US" sz="1800" spc="-10" dirty="0">
              <a:latin typeface="Times New Roman"/>
              <a:cs typeface="Times New Roman"/>
            </a:endParaRPr>
          </a:p>
          <a:p>
            <a:pPr marL="355600" indent="-342900" algn="just">
              <a:lnSpc>
                <a:spcPct val="100000"/>
              </a:lnSpc>
              <a:spcBef>
                <a:spcPts val="805"/>
              </a:spcBef>
              <a:buFont typeface="Symbol"/>
              <a:buChar char=""/>
              <a:tabLst>
                <a:tab pos="355600" algn="l"/>
              </a:tabLst>
            </a:pPr>
            <a:endParaRPr sz="1800" dirty="0">
              <a:latin typeface="Times New Roman"/>
              <a:cs typeface="Times New Roman"/>
            </a:endParaRPr>
          </a:p>
          <a:p>
            <a:pPr marL="355600" marR="864235" indent="-343535" algn="just">
              <a:lnSpc>
                <a:spcPct val="100000"/>
              </a:lnSpc>
              <a:spcBef>
                <a:spcPts val="795"/>
              </a:spcBef>
              <a:buFont typeface="Symbol"/>
              <a:buChar char=""/>
              <a:tabLst>
                <a:tab pos="355600" algn="l"/>
              </a:tabLst>
            </a:pPr>
            <a:r>
              <a:rPr sz="1800" b="1" dirty="0">
                <a:latin typeface="Times New Roman"/>
                <a:cs typeface="Times New Roman"/>
              </a:rPr>
              <a:t>Machine</a:t>
            </a:r>
            <a:r>
              <a:rPr sz="1800" b="1" spc="-35" dirty="0">
                <a:latin typeface="Times New Roman"/>
                <a:cs typeface="Times New Roman"/>
              </a:rPr>
              <a:t> </a:t>
            </a:r>
            <a:r>
              <a:rPr sz="1800" b="1" dirty="0">
                <a:latin typeface="Times New Roman"/>
                <a:cs typeface="Times New Roman"/>
              </a:rPr>
              <a:t>learning:</a:t>
            </a:r>
            <a:r>
              <a:rPr sz="1800" b="1" spc="-35" dirty="0">
                <a:latin typeface="Times New Roman"/>
                <a:cs typeface="Times New Roman"/>
              </a:rPr>
              <a:t> </a:t>
            </a:r>
            <a:r>
              <a:rPr sz="1800" dirty="0">
                <a:latin typeface="Times New Roman"/>
                <a:cs typeface="Times New Roman"/>
              </a:rPr>
              <a:t>Applying</a:t>
            </a:r>
            <a:r>
              <a:rPr sz="1800" spc="-60" dirty="0">
                <a:latin typeface="Times New Roman"/>
                <a:cs typeface="Times New Roman"/>
              </a:rPr>
              <a:t> </a:t>
            </a:r>
            <a:r>
              <a:rPr sz="1800" dirty="0">
                <a:latin typeface="Times New Roman"/>
                <a:cs typeface="Times New Roman"/>
              </a:rPr>
              <a:t>machine</a:t>
            </a:r>
            <a:r>
              <a:rPr sz="1800" spc="-35" dirty="0">
                <a:latin typeface="Times New Roman"/>
                <a:cs typeface="Times New Roman"/>
              </a:rPr>
              <a:t> </a:t>
            </a:r>
            <a:r>
              <a:rPr sz="1800" dirty="0">
                <a:latin typeface="Times New Roman"/>
                <a:cs typeface="Times New Roman"/>
              </a:rPr>
              <a:t>learning</a:t>
            </a:r>
            <a:r>
              <a:rPr sz="1800" spc="-45" dirty="0">
                <a:latin typeface="Times New Roman"/>
                <a:cs typeface="Times New Roman"/>
              </a:rPr>
              <a:t> </a:t>
            </a:r>
            <a:r>
              <a:rPr sz="1800" dirty="0">
                <a:latin typeface="Times New Roman"/>
                <a:cs typeface="Times New Roman"/>
              </a:rPr>
              <a:t>algorithms</a:t>
            </a:r>
            <a:r>
              <a:rPr sz="1800" spc="-50"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classify</a:t>
            </a:r>
            <a:r>
              <a:rPr sz="1800" spc="-40" dirty="0">
                <a:latin typeface="Times New Roman"/>
                <a:cs typeface="Times New Roman"/>
              </a:rPr>
              <a:t> </a:t>
            </a:r>
            <a:r>
              <a:rPr sz="1800" dirty="0">
                <a:latin typeface="Times New Roman"/>
                <a:cs typeface="Times New Roman"/>
              </a:rPr>
              <a:t>driver</a:t>
            </a:r>
            <a:r>
              <a:rPr sz="1800" spc="-35" dirty="0">
                <a:latin typeface="Times New Roman"/>
                <a:cs typeface="Times New Roman"/>
              </a:rPr>
              <a:t> </a:t>
            </a:r>
            <a:r>
              <a:rPr sz="1800" dirty="0">
                <a:latin typeface="Times New Roman"/>
                <a:cs typeface="Times New Roman"/>
              </a:rPr>
              <a:t>behavior</a:t>
            </a:r>
            <a:r>
              <a:rPr sz="1800" spc="-5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predict</a:t>
            </a:r>
            <a:r>
              <a:rPr sz="1800" spc="-45" dirty="0">
                <a:latin typeface="Times New Roman"/>
                <a:cs typeface="Times New Roman"/>
              </a:rPr>
              <a:t> </a:t>
            </a:r>
            <a:r>
              <a:rPr sz="1800" spc="-25" dirty="0">
                <a:latin typeface="Times New Roman"/>
                <a:cs typeface="Times New Roman"/>
              </a:rPr>
              <a:t>OBU </a:t>
            </a:r>
            <a:r>
              <a:rPr sz="1800" spc="-10" dirty="0">
                <a:latin typeface="Times New Roman"/>
                <a:cs typeface="Times New Roman"/>
              </a:rPr>
              <a:t>performance.</a:t>
            </a:r>
            <a:endParaRPr lang="en-US" sz="1800" spc="-10" dirty="0">
              <a:latin typeface="Times New Roman"/>
              <a:cs typeface="Times New Roman"/>
            </a:endParaRPr>
          </a:p>
          <a:p>
            <a:pPr marL="355600" marR="864235" indent="-343535" algn="just">
              <a:lnSpc>
                <a:spcPct val="100000"/>
              </a:lnSpc>
              <a:spcBef>
                <a:spcPts val="795"/>
              </a:spcBef>
              <a:buFont typeface="Symbol"/>
              <a:buChar char=""/>
              <a:tabLst>
                <a:tab pos="355600" algn="l"/>
              </a:tabLst>
            </a:pPr>
            <a:endParaRPr sz="1800" dirty="0">
              <a:latin typeface="Times New Roman"/>
              <a:cs typeface="Times New Roman"/>
            </a:endParaRPr>
          </a:p>
          <a:p>
            <a:pPr marL="355600" indent="-342900" algn="just">
              <a:lnSpc>
                <a:spcPct val="100000"/>
              </a:lnSpc>
              <a:spcBef>
                <a:spcPts val="800"/>
              </a:spcBef>
              <a:buFont typeface="Symbol"/>
              <a:buChar char=""/>
              <a:tabLst>
                <a:tab pos="355600" algn="l"/>
              </a:tabLst>
            </a:pPr>
            <a:r>
              <a:rPr sz="1800" b="1" dirty="0">
                <a:latin typeface="Times New Roman"/>
                <a:cs typeface="Times New Roman"/>
              </a:rPr>
              <a:t>Optimization</a:t>
            </a:r>
            <a:r>
              <a:rPr sz="1800" b="1" spc="-25" dirty="0">
                <a:latin typeface="Times New Roman"/>
                <a:cs typeface="Times New Roman"/>
              </a:rPr>
              <a:t> </a:t>
            </a:r>
            <a:r>
              <a:rPr sz="1800" b="1" dirty="0">
                <a:latin typeface="Times New Roman"/>
                <a:cs typeface="Times New Roman"/>
              </a:rPr>
              <a:t>techniques</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Implementing</a:t>
            </a:r>
            <a:r>
              <a:rPr sz="1800" spc="-10" dirty="0">
                <a:latin typeface="Times New Roman"/>
                <a:cs typeface="Times New Roman"/>
              </a:rPr>
              <a:t> </a:t>
            </a:r>
            <a:r>
              <a:rPr sz="1800" dirty="0">
                <a:latin typeface="Times New Roman"/>
                <a:cs typeface="Times New Roman"/>
              </a:rPr>
              <a:t>optimization</a:t>
            </a:r>
            <a:r>
              <a:rPr sz="1800" spc="-30" dirty="0">
                <a:latin typeface="Times New Roman"/>
                <a:cs typeface="Times New Roman"/>
              </a:rPr>
              <a:t> </a:t>
            </a:r>
            <a:r>
              <a:rPr sz="1800" dirty="0">
                <a:latin typeface="Times New Roman"/>
                <a:cs typeface="Times New Roman"/>
              </a:rPr>
              <a:t>methods,</a:t>
            </a:r>
            <a:r>
              <a:rPr sz="1800" spc="-10" dirty="0">
                <a:latin typeface="Times New Roman"/>
                <a:cs typeface="Times New Roman"/>
              </a:rPr>
              <a:t> </a:t>
            </a:r>
            <a:r>
              <a:rPr sz="1800" dirty="0">
                <a:latin typeface="Times New Roman"/>
                <a:cs typeface="Times New Roman"/>
              </a:rPr>
              <a:t>such as</a:t>
            </a:r>
            <a:r>
              <a:rPr sz="1800" spc="-20" dirty="0">
                <a:latin typeface="Times New Roman"/>
                <a:cs typeface="Times New Roman"/>
              </a:rPr>
              <a:t> </a:t>
            </a:r>
            <a:r>
              <a:rPr sz="1800" dirty="0">
                <a:latin typeface="Times New Roman"/>
                <a:cs typeface="Times New Roman"/>
              </a:rPr>
              <a:t>dynamic</a:t>
            </a:r>
            <a:r>
              <a:rPr sz="1800" spc="-25" dirty="0">
                <a:latin typeface="Times New Roman"/>
                <a:cs typeface="Times New Roman"/>
              </a:rPr>
              <a:t> </a:t>
            </a:r>
            <a:r>
              <a:rPr sz="1800" dirty="0">
                <a:latin typeface="Times New Roman"/>
                <a:cs typeface="Times New Roman"/>
              </a:rPr>
              <a:t>voltage</a:t>
            </a:r>
            <a:r>
              <a:rPr sz="1800" spc="-2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frequency</a:t>
            </a:r>
            <a:r>
              <a:rPr sz="1800" spc="-30" dirty="0">
                <a:latin typeface="Times New Roman"/>
                <a:cs typeface="Times New Roman"/>
              </a:rPr>
              <a:t> </a:t>
            </a:r>
            <a:r>
              <a:rPr sz="1800" spc="-10" dirty="0">
                <a:latin typeface="Times New Roman"/>
                <a:cs typeface="Times New Roman"/>
              </a:rPr>
              <a:t>scaling,</a:t>
            </a:r>
            <a:endParaRPr sz="1800" dirty="0">
              <a:latin typeface="Times New Roman"/>
              <a:cs typeface="Times New Roman"/>
            </a:endParaRPr>
          </a:p>
          <a:p>
            <a:pPr marL="355600" algn="just">
              <a:lnSpc>
                <a:spcPct val="100000"/>
              </a:lnSpc>
              <a:spcBef>
                <a:spcPts val="5"/>
              </a:spcBef>
            </a:pPr>
            <a:r>
              <a:rPr sz="1800" dirty="0">
                <a:latin typeface="Times New Roman"/>
                <a:cs typeface="Times New Roman"/>
              </a:rPr>
              <a:t>to</a:t>
            </a:r>
            <a:r>
              <a:rPr sz="1800" spc="-40" dirty="0">
                <a:latin typeface="Times New Roman"/>
                <a:cs typeface="Times New Roman"/>
              </a:rPr>
              <a:t> </a:t>
            </a:r>
            <a:r>
              <a:rPr sz="1800" dirty="0">
                <a:latin typeface="Times New Roman"/>
                <a:cs typeface="Times New Roman"/>
              </a:rPr>
              <a:t>improve</a:t>
            </a:r>
            <a:r>
              <a:rPr sz="1800" spc="-35" dirty="0">
                <a:latin typeface="Times New Roman"/>
                <a:cs typeface="Times New Roman"/>
              </a:rPr>
              <a:t> </a:t>
            </a:r>
            <a:r>
              <a:rPr sz="1800" dirty="0">
                <a:latin typeface="Times New Roman"/>
                <a:cs typeface="Times New Roman"/>
              </a:rPr>
              <a:t>OBU</a:t>
            </a:r>
            <a:r>
              <a:rPr sz="1800" spc="-40" dirty="0">
                <a:latin typeface="Times New Roman"/>
                <a:cs typeface="Times New Roman"/>
              </a:rPr>
              <a:t> </a:t>
            </a:r>
            <a:r>
              <a:rPr sz="1800" dirty="0">
                <a:latin typeface="Times New Roman"/>
                <a:cs typeface="Times New Roman"/>
              </a:rPr>
              <a:t>performance</a:t>
            </a:r>
            <a:r>
              <a:rPr sz="1800" spc="-3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reduce</a:t>
            </a:r>
            <a:r>
              <a:rPr sz="1800" spc="-50" dirty="0">
                <a:latin typeface="Times New Roman"/>
                <a:cs typeface="Times New Roman"/>
              </a:rPr>
              <a:t> </a:t>
            </a:r>
            <a:r>
              <a:rPr sz="1800" dirty="0">
                <a:latin typeface="Times New Roman"/>
                <a:cs typeface="Times New Roman"/>
              </a:rPr>
              <a:t>power</a:t>
            </a:r>
            <a:r>
              <a:rPr sz="1800" spc="-35" dirty="0">
                <a:latin typeface="Times New Roman"/>
                <a:cs typeface="Times New Roman"/>
              </a:rPr>
              <a:t> </a:t>
            </a:r>
            <a:r>
              <a:rPr sz="1800" spc="-10" dirty="0">
                <a:latin typeface="Times New Roman"/>
                <a:cs typeface="Times New Roman"/>
              </a:rPr>
              <a:t>consumption.</a:t>
            </a:r>
            <a:endParaRPr sz="18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8056" rIns="0" bIns="0" rtlCol="0">
            <a:spAutoFit/>
          </a:bodyPr>
          <a:lstStyle/>
          <a:p>
            <a:pPr marL="2271395">
              <a:lnSpc>
                <a:spcPct val="100000"/>
              </a:lnSpc>
              <a:spcBef>
                <a:spcPts val="95"/>
              </a:spcBef>
            </a:pPr>
            <a:r>
              <a:rPr spc="-20" dirty="0"/>
              <a:t>REFERENCES</a:t>
            </a:r>
          </a:p>
        </p:txBody>
      </p:sp>
      <p:sp>
        <p:nvSpPr>
          <p:cNvPr id="5" name="TextBox 4">
            <a:extLst>
              <a:ext uri="{FF2B5EF4-FFF2-40B4-BE49-F238E27FC236}">
                <a16:creationId xmlns:a16="http://schemas.microsoft.com/office/drawing/2014/main" id="{48650AAC-0AEC-9CE4-DFA7-61A747F78C65}"/>
              </a:ext>
            </a:extLst>
          </p:cNvPr>
          <p:cNvSpPr txBox="1"/>
          <p:nvPr/>
        </p:nvSpPr>
        <p:spPr>
          <a:xfrm>
            <a:off x="685800" y="990600"/>
            <a:ext cx="10668000" cy="5444247"/>
          </a:xfrm>
          <a:prstGeom prst="rect">
            <a:avLst/>
          </a:prstGeom>
          <a:noFill/>
        </p:spPr>
        <p:txBody>
          <a:bodyPr wrap="square">
            <a:spAutoFit/>
          </a:bodyPr>
          <a:lstStyle/>
          <a:p>
            <a:pPr marL="0" marR="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1. Shankar R, Marco J, </a:t>
            </a:r>
            <a:r>
              <a:rPr lang="en-US" b="1" kern="100" dirty="0" err="1">
                <a:effectLst/>
                <a:latin typeface="Times New Roman" panose="02020603050405020304" pitchFamily="18" charset="0"/>
                <a:ea typeface="Calibri" panose="020F0502020204030204" pitchFamily="34" charset="0"/>
                <a:cs typeface="Times New Roman" panose="02020603050405020304" pitchFamily="18" charset="0"/>
              </a:rPr>
              <a:t>Assadian</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 F.</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The Novel Application of Optimization and Charge Blended Energy Management Control for Component Downsizing within a Plug‐in Hybrid Electric Vehicle. </a:t>
            </a:r>
            <a:r>
              <a:rPr lang="en-US" i="1" kern="100" dirty="0">
                <a:effectLst/>
                <a:latin typeface="Times New Roman" panose="02020603050405020304" pitchFamily="18" charset="0"/>
                <a:ea typeface="Calibri" panose="020F0502020204030204" pitchFamily="34" charset="0"/>
                <a:cs typeface="Times New Roman" panose="02020603050405020304" pitchFamily="18" charset="0"/>
              </a:rPr>
              <a:t>Energies</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2012; 5(12):4892-4923. </a:t>
            </a:r>
            <a:r>
              <a:rPr lang="en-US"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https://doi.org/10.3390/en5124892</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Jiménez F, Cabrera-Montiel W.</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System for Road Vehicle Energy Optimization Using Real-Time Road and Traffic Information. </a:t>
            </a:r>
            <a:r>
              <a:rPr lang="en-US" i="1" kern="100" dirty="0">
                <a:effectLst/>
                <a:latin typeface="Times New Roman" panose="02020603050405020304" pitchFamily="18" charset="0"/>
                <a:ea typeface="Calibri" panose="020F0502020204030204" pitchFamily="34" charset="0"/>
                <a:cs typeface="Times New Roman" panose="02020603050405020304" pitchFamily="18" charset="0"/>
              </a:rPr>
              <a:t>Energies</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2014; 7(6):3576-3598. </a:t>
            </a:r>
            <a:r>
              <a:rPr lang="en-US"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https://doi.org/10.3390/en7063576</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Wang S, Tao F, Shi Y, Wen H.</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Optimization of Vehicle Routing Problem with Time Windows for Cold Chain Logistics Based on Carbon Tax. </a:t>
            </a:r>
            <a:r>
              <a:rPr lang="en-US" i="1" kern="100" dirty="0">
                <a:effectLst/>
                <a:latin typeface="Times New Roman" panose="02020603050405020304" pitchFamily="18" charset="0"/>
                <a:ea typeface="Calibri" panose="020F0502020204030204" pitchFamily="34" charset="0"/>
                <a:cs typeface="Times New Roman" panose="02020603050405020304" pitchFamily="18" charset="0"/>
              </a:rPr>
              <a:t>Sustainability</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2017; 9(5):694. </a:t>
            </a:r>
            <a:r>
              <a:rPr lang="en-US"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https://doi.org/10.3390/su9050694</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kern="100" dirty="0" err="1">
                <a:effectLst/>
                <a:latin typeface="Times New Roman" panose="02020603050405020304" pitchFamily="18" charset="0"/>
                <a:ea typeface="Calibri" panose="020F0502020204030204" pitchFamily="34" charset="0"/>
                <a:cs typeface="Times New Roman" panose="02020603050405020304" pitchFamily="18" charset="0"/>
              </a:rPr>
              <a:t>Levermore</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 T, </a:t>
            </a:r>
            <a:r>
              <a:rPr lang="en-US" b="1" kern="100" dirty="0" err="1">
                <a:effectLst/>
                <a:latin typeface="Times New Roman" panose="02020603050405020304" pitchFamily="18" charset="0"/>
                <a:ea typeface="Calibri" panose="020F0502020204030204" pitchFamily="34" charset="0"/>
                <a:cs typeface="Times New Roman" panose="02020603050405020304" pitchFamily="18" charset="0"/>
              </a:rPr>
              <a:t>Sahinkaya</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 MN, </a:t>
            </a:r>
            <a:r>
              <a:rPr lang="en-US" b="1" kern="100" dirty="0" err="1">
                <a:effectLst/>
                <a:latin typeface="Times New Roman" panose="02020603050405020304" pitchFamily="18" charset="0"/>
                <a:ea typeface="Calibri" panose="020F0502020204030204" pitchFamily="34" charset="0"/>
                <a:cs typeface="Times New Roman" panose="02020603050405020304" pitchFamily="18" charset="0"/>
              </a:rPr>
              <a:t>Zweiri</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 Y, Neaves B.</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Real-Time Velocity Optimization to Minimize Energy Use in Passenger Vehicles. </a:t>
            </a:r>
            <a:r>
              <a:rPr lang="en-US" i="1" kern="100" dirty="0">
                <a:effectLst/>
                <a:latin typeface="Times New Roman" panose="02020603050405020304" pitchFamily="18" charset="0"/>
                <a:ea typeface="Calibri" panose="020F0502020204030204" pitchFamily="34" charset="0"/>
                <a:cs typeface="Times New Roman" panose="02020603050405020304" pitchFamily="18" charset="0"/>
              </a:rPr>
              <a:t>Energies</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2017; 10(1):30. </a:t>
            </a:r>
            <a:r>
              <a:rPr lang="en-US"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https://doi.org/10.3390/en10010030</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5.</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Hur D-J, Jeong S-H, Song S-I, Noh J-H.</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Optimization Based on Product and Desirability Functions for Flow Distribution in Multi-Channel Cooling Systems of Power Inverters in Electric Vehicles. </a:t>
            </a:r>
            <a:r>
              <a:rPr lang="en-US" i="1" kern="100" dirty="0">
                <a:effectLst/>
                <a:latin typeface="Times New Roman" panose="02020603050405020304" pitchFamily="18" charset="0"/>
                <a:ea typeface="Calibri" panose="020F0502020204030204" pitchFamily="34" charset="0"/>
                <a:cs typeface="Times New Roman" panose="02020603050405020304" pitchFamily="18" charset="0"/>
              </a:rPr>
              <a:t>Applied Sciences</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 2019; 9(22):4844. </a:t>
            </a:r>
            <a:r>
              <a:rPr lang="en-US"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https://doi.org/10.3390/app9224844</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0617" y="145491"/>
            <a:ext cx="2396490" cy="452120"/>
          </a:xfrm>
          <a:prstGeom prst="rect">
            <a:avLst/>
          </a:prstGeom>
        </p:spPr>
        <p:txBody>
          <a:bodyPr vert="horz" wrap="square" lIns="0" tIns="12065" rIns="0" bIns="0" rtlCol="0">
            <a:spAutoFit/>
          </a:bodyPr>
          <a:lstStyle/>
          <a:p>
            <a:pPr marL="12700">
              <a:lnSpc>
                <a:spcPct val="100000"/>
              </a:lnSpc>
              <a:spcBef>
                <a:spcPts val="95"/>
              </a:spcBef>
            </a:pPr>
            <a:r>
              <a:rPr spc="-20" dirty="0"/>
              <a:t>REFERENCES</a:t>
            </a:r>
          </a:p>
        </p:txBody>
      </p:sp>
      <p:sp>
        <p:nvSpPr>
          <p:cNvPr id="7" name="TextBox 6">
            <a:extLst>
              <a:ext uri="{FF2B5EF4-FFF2-40B4-BE49-F238E27FC236}">
                <a16:creationId xmlns:a16="http://schemas.microsoft.com/office/drawing/2014/main" id="{9B2250A0-C7EA-770D-7A35-784D64E52E40}"/>
              </a:ext>
            </a:extLst>
          </p:cNvPr>
          <p:cNvSpPr txBox="1"/>
          <p:nvPr/>
        </p:nvSpPr>
        <p:spPr>
          <a:xfrm>
            <a:off x="1012062" y="762000"/>
            <a:ext cx="9753600" cy="5859746"/>
          </a:xfrm>
          <a:prstGeom prst="rect">
            <a:avLst/>
          </a:prstGeom>
          <a:noFill/>
        </p:spPr>
        <p:txBody>
          <a:bodyPr wrap="square">
            <a:spAutoFit/>
          </a:bodyPr>
          <a:lstStyle/>
          <a:p>
            <a:pPr marL="0" marR="0"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6</a:t>
            </a:r>
            <a:r>
              <a:rPr lang="en-US" b="1" kern="100" dirty="0">
                <a:latin typeface="Times New Roman" panose="02020603050405020304" pitchFamily="18" charset="0"/>
                <a:ea typeface="Calibri" panose="020F0502020204030204" pitchFamily="34" charset="0"/>
                <a:cs typeface="Times New Roman" panose="02020603050405020304" pitchFamily="18" charset="0"/>
              </a:rPr>
              <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Al-Saadi M, Mathes M,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Käsgen</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J, Robert K,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Mayrock</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M, Mierlo JV,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Berecibar</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Optimization and Analysis of Electric Vehicle Operation with Fast-Charging Technologies. </a:t>
            </a: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World Electric Vehicle Journal</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2022; 13(1):20.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https://doi.org/10.3390/wevj13010020</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latin typeface="Times New Roman" panose="02020603050405020304" pitchFamily="18" charset="0"/>
                <a:ea typeface="Calibri" panose="020F0502020204030204" pitchFamily="34" charset="0"/>
                <a:cs typeface="Times New Roman" panose="02020603050405020304" pitchFamily="18" charset="0"/>
              </a:rPr>
              <a:t>7.</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Guerna</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 Bitam S, Calafate CT.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Roadside Unit Deployment in Internet of Vehicles Systems: A Survey. </a:t>
            </a: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Sensors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2022; 22(9):3190.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https://doi.org/10.3390/s22093190</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latin typeface="Times New Roman" panose="02020603050405020304" pitchFamily="18" charset="0"/>
                <a:ea typeface="Calibri" panose="020F0502020204030204" pitchFamily="34" charset="0"/>
                <a:cs typeface="Times New Roman" panose="02020603050405020304" pitchFamily="18" charset="0"/>
              </a:rPr>
              <a:t>8.</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Olariu 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Vehicular Crowdsourcing for Congestion Support in Smart Cities. </a:t>
            </a: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Smart Cities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2021; 4(2):662-685.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https://doi.org/10.3390/smartcities4020034</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latin typeface="Times New Roman" panose="02020603050405020304" pitchFamily="18" charset="0"/>
                <a:ea typeface="Calibri" panose="020F0502020204030204" pitchFamily="34" charset="0"/>
                <a:cs typeface="Times New Roman" panose="02020603050405020304" pitchFamily="18" charset="0"/>
              </a:rPr>
              <a:t>9.</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Pérez W, Tulpule P, Midlam-Mohler S,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Rizzoni</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G.</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Data-Driven Adaptive Equivalent Consumption Minimization Strategy for Hybrid Electric and Connected Vehicles. </a:t>
            </a: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Applied Sciences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2022; 12(5):2705.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https://doi.org/10.3390/app12052705</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50000"/>
              </a:lnSpc>
              <a:spcAft>
                <a:spcPts val="800"/>
              </a:spcAft>
              <a:buNone/>
            </a:pPr>
            <a:r>
              <a:rPr lang="en-US" b="1" kern="100" dirty="0">
                <a:latin typeface="Times New Roman" panose="02020603050405020304" pitchFamily="18" charset="0"/>
                <a:ea typeface="Calibri" panose="020F0502020204030204" pitchFamily="34" charset="0"/>
                <a:cs typeface="Times New Roman" panose="02020603050405020304" pitchFamily="18" charset="0"/>
              </a:rPr>
              <a:t>10.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Hanzl J,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Pečman</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J,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Bartuška</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L, Stopka O, </a:t>
            </a:r>
            <a:r>
              <a:rPr lang="en-US" sz="1800" b="1" kern="100" dirty="0" err="1">
                <a:effectLst/>
                <a:latin typeface="Times New Roman" panose="02020603050405020304" pitchFamily="18" charset="0"/>
                <a:ea typeface="Calibri" panose="020F0502020204030204" pitchFamily="34" charset="0"/>
                <a:cs typeface="Times New Roman" panose="02020603050405020304" pitchFamily="18" charset="0"/>
              </a:rPr>
              <a:t>Šarkan</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B.</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Research on the Effect of Road Height Profile on Fuel Consumption during Vehicle Acceleration. </a:t>
            </a:r>
            <a:r>
              <a:rPr lang="en-US" sz="1800" i="1" kern="100" dirty="0">
                <a:effectLst/>
                <a:latin typeface="Times New Roman" panose="02020603050405020304" pitchFamily="18" charset="0"/>
                <a:ea typeface="Calibri" panose="020F0502020204030204" pitchFamily="34" charset="0"/>
                <a:cs typeface="Times New Roman" panose="02020603050405020304" pitchFamily="18" charset="0"/>
              </a:rPr>
              <a:t>Technologies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2022; 10(6):128.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6"/>
              </a:rPr>
              <a:t>https://doi.org/10.3390/technologies10060128</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8192" y="152647"/>
            <a:ext cx="7867015" cy="799922"/>
          </a:xfrm>
          <a:prstGeom prst="rect">
            <a:avLst/>
          </a:prstGeom>
        </p:spPr>
        <p:txBody>
          <a:bodyPr vert="horz" wrap="square" lIns="0" tIns="259029" rIns="0" bIns="0" rtlCol="0">
            <a:spAutoFit/>
          </a:bodyPr>
          <a:lstStyle/>
          <a:p>
            <a:pPr marL="2388870">
              <a:lnSpc>
                <a:spcPct val="100000"/>
              </a:lnSpc>
              <a:spcBef>
                <a:spcPts val="95"/>
              </a:spcBef>
            </a:pPr>
            <a:r>
              <a:rPr spc="-20" dirty="0"/>
              <a:t>REFERENCES</a:t>
            </a:r>
          </a:p>
        </p:txBody>
      </p:sp>
      <p:sp>
        <p:nvSpPr>
          <p:cNvPr id="3" name="object 3"/>
          <p:cNvSpPr txBox="1">
            <a:spLocks noGrp="1"/>
          </p:cNvSpPr>
          <p:nvPr>
            <p:ph type="body" idx="1"/>
          </p:nvPr>
        </p:nvSpPr>
        <p:spPr>
          <a:xfrm>
            <a:off x="762000" y="1219200"/>
            <a:ext cx="10896600" cy="5288627"/>
          </a:xfrm>
          <a:prstGeom prst="rect">
            <a:avLst/>
          </a:prstGeom>
        </p:spPr>
        <p:txBody>
          <a:bodyPr vert="horz" wrap="square" lIns="0" tIns="12700" rIns="0" bIns="0" rtlCol="0">
            <a:spAutoFit/>
          </a:bodyPr>
          <a:lstStyle/>
          <a:p>
            <a:pPr algn="just"/>
            <a:r>
              <a:rPr lang="en-US" b="1" dirty="0"/>
              <a:t>11.</a:t>
            </a:r>
            <a:r>
              <a:rPr lang="en-US" dirty="0"/>
              <a:t> </a:t>
            </a:r>
            <a:r>
              <a:rPr lang="en-US" b="1" dirty="0"/>
              <a:t>Shahbazi Z, Nowaczyk S.</a:t>
            </a:r>
            <a:r>
              <a:rPr lang="en-US" dirty="0"/>
              <a:t> Enhancing Energy Efficiency in Connected Vehicles for Traffic Flow Optimization. </a:t>
            </a:r>
            <a:r>
              <a:rPr lang="en-US" i="1" dirty="0"/>
              <a:t>Smart Cities</a:t>
            </a:r>
            <a:r>
              <a:rPr lang="en-US" dirty="0"/>
              <a:t>. 2023; 6(5):2574-2592. </a:t>
            </a:r>
            <a:r>
              <a:rPr lang="en-US" u="sng" dirty="0">
                <a:hlinkClick r:id="rId2"/>
              </a:rPr>
              <a:t>https://doi.org/10.3390/smartcities6050116</a:t>
            </a:r>
            <a:endParaRPr lang="en-US" u="sng" dirty="0"/>
          </a:p>
          <a:p>
            <a:pPr algn="just"/>
            <a:endParaRPr lang="en-US" dirty="0"/>
          </a:p>
          <a:p>
            <a:pPr algn="just"/>
            <a:r>
              <a:rPr lang="en-US" b="1" dirty="0"/>
              <a:t>12.</a:t>
            </a:r>
            <a:r>
              <a:rPr lang="en-US" dirty="0"/>
              <a:t> </a:t>
            </a:r>
            <a:r>
              <a:rPr lang="en-US" b="1" dirty="0" err="1"/>
              <a:t>Tsoukas</a:t>
            </a:r>
            <a:r>
              <a:rPr lang="en-US" b="1" dirty="0"/>
              <a:t> V, </a:t>
            </a:r>
            <a:r>
              <a:rPr lang="en-US" b="1" dirty="0" err="1"/>
              <a:t>Boumpa</a:t>
            </a:r>
            <a:r>
              <a:rPr lang="en-US" b="1" dirty="0"/>
              <a:t> E, </a:t>
            </a:r>
            <a:r>
              <a:rPr lang="en-US" b="1" dirty="0" err="1"/>
              <a:t>Chioktour</a:t>
            </a:r>
            <a:r>
              <a:rPr lang="en-US" b="1" dirty="0"/>
              <a:t> V, </a:t>
            </a:r>
            <a:r>
              <a:rPr lang="en-US" b="1" dirty="0" err="1"/>
              <a:t>Kalafati</a:t>
            </a:r>
            <a:r>
              <a:rPr lang="en-US" b="1" dirty="0"/>
              <a:t> M, </a:t>
            </a:r>
            <a:r>
              <a:rPr lang="en-US" b="1" dirty="0" err="1"/>
              <a:t>Spathoulas</a:t>
            </a:r>
            <a:r>
              <a:rPr lang="en-US" b="1" dirty="0"/>
              <a:t> G, </a:t>
            </a:r>
            <a:r>
              <a:rPr lang="en-US" b="1" dirty="0" err="1"/>
              <a:t>Kakarountas</a:t>
            </a:r>
            <a:r>
              <a:rPr lang="en-US" b="1" dirty="0"/>
              <a:t> A.</a:t>
            </a:r>
            <a:r>
              <a:rPr lang="en-US" dirty="0"/>
              <a:t> Development of a Dynamically Adaptable Routing System for Data Analytics Insights in Logistic Services. </a:t>
            </a:r>
            <a:r>
              <a:rPr lang="en-US" i="1" dirty="0"/>
              <a:t>Analytics</a:t>
            </a:r>
            <a:r>
              <a:rPr lang="en-US" dirty="0"/>
              <a:t>. 2023; 2(2):328-345. </a:t>
            </a:r>
            <a:r>
              <a:rPr lang="en-US" u="sng" dirty="0">
                <a:hlinkClick r:id="rId3"/>
              </a:rPr>
              <a:t>https://doi.org/10.3390/analytics2020018</a:t>
            </a:r>
            <a:endParaRPr lang="en-US" u="sng" dirty="0"/>
          </a:p>
          <a:p>
            <a:pPr algn="just"/>
            <a:endParaRPr lang="en-US" dirty="0"/>
          </a:p>
          <a:p>
            <a:pPr algn="just"/>
            <a:r>
              <a:rPr lang="en-US" b="1" dirty="0"/>
              <a:t>13.</a:t>
            </a:r>
            <a:r>
              <a:rPr lang="en-US" dirty="0"/>
              <a:t> </a:t>
            </a:r>
            <a:r>
              <a:rPr lang="en-US" b="1" dirty="0"/>
              <a:t>Vasile I, Tudor E, </a:t>
            </a:r>
            <a:r>
              <a:rPr lang="en-US" b="1" dirty="0" err="1"/>
              <a:t>Sburlan</a:t>
            </a:r>
            <a:r>
              <a:rPr lang="en-US" b="1" dirty="0"/>
              <a:t> I-C, Matache M-G, Cristea M.</a:t>
            </a:r>
            <a:r>
              <a:rPr lang="en-US" dirty="0"/>
              <a:t> Optimization of the Electronic Control Unit of Electric-Powered Agricultural Vehicles. </a:t>
            </a:r>
            <a:r>
              <a:rPr lang="en-US" i="1" dirty="0"/>
              <a:t>World Electric Vehicle Journal</a:t>
            </a:r>
            <a:r>
              <a:rPr lang="en-US" dirty="0"/>
              <a:t>. 2023; 14(10):267. </a:t>
            </a:r>
            <a:r>
              <a:rPr lang="en-US" u="sng" dirty="0">
                <a:hlinkClick r:id="rId4"/>
              </a:rPr>
              <a:t>https://doi.org/10.3390/wevj14100267</a:t>
            </a:r>
            <a:endParaRPr lang="en-US" u="sng" dirty="0"/>
          </a:p>
          <a:p>
            <a:pPr algn="just"/>
            <a:endParaRPr lang="en-US" dirty="0"/>
          </a:p>
          <a:p>
            <a:pPr algn="just"/>
            <a:r>
              <a:rPr lang="en-US" b="1" dirty="0"/>
              <a:t>14.</a:t>
            </a:r>
            <a:r>
              <a:rPr lang="en-US" dirty="0"/>
              <a:t> </a:t>
            </a:r>
            <a:r>
              <a:rPr lang="en-US" b="1" dirty="0"/>
              <a:t>Justin S, Saleh W, </a:t>
            </a:r>
            <a:r>
              <a:rPr lang="en-US" b="1" dirty="0" err="1"/>
              <a:t>Lashin</a:t>
            </a:r>
            <a:r>
              <a:rPr lang="en-US" b="1" dirty="0"/>
              <a:t> MMA, </a:t>
            </a:r>
            <a:r>
              <a:rPr lang="en-US" b="1" dirty="0" err="1"/>
              <a:t>Albalawi</a:t>
            </a:r>
            <a:r>
              <a:rPr lang="en-US" b="1" dirty="0"/>
              <a:t> HM.</a:t>
            </a:r>
            <a:r>
              <a:rPr lang="en-US" dirty="0"/>
              <a:t> Design of Metaheuristic Optimization with Deep-Learning-Assisted Solar-Operated On-Board Smart Charging Station for Mass Transport Passenger Vehicle. </a:t>
            </a:r>
            <a:r>
              <a:rPr lang="en-US" i="1" dirty="0"/>
              <a:t>Sustainability</a:t>
            </a:r>
            <a:r>
              <a:rPr lang="en-US" dirty="0"/>
              <a:t>. 2023; 15(10):7845. </a:t>
            </a:r>
            <a:r>
              <a:rPr lang="en-US" u="sng" dirty="0">
                <a:hlinkClick r:id="rId5"/>
              </a:rPr>
              <a:t>https://doi.org/10.3390/su15107845</a:t>
            </a:r>
            <a:endParaRPr lang="en-US" u="sng" dirty="0"/>
          </a:p>
          <a:p>
            <a:pPr algn="just"/>
            <a:endParaRPr lang="en-US" dirty="0"/>
          </a:p>
          <a:p>
            <a:pPr algn="just"/>
            <a:r>
              <a:rPr lang="en-US" b="1" dirty="0"/>
              <a:t>15.</a:t>
            </a:r>
            <a:r>
              <a:rPr lang="en-US" dirty="0"/>
              <a:t> </a:t>
            </a:r>
            <a:r>
              <a:rPr lang="en-US" b="1" dirty="0"/>
              <a:t>Kumar M, Panda KP, Naayagi RT, Thakur R, Panda G.</a:t>
            </a:r>
            <a:r>
              <a:rPr lang="en-US" dirty="0"/>
              <a:t> Comprehensive Review of Electric Vehicle Technology and Its Impacts: Detailed Investigation of Charging Infrastructure, Power Management, and Control Techniques. </a:t>
            </a:r>
            <a:r>
              <a:rPr lang="en-US" i="1" dirty="0"/>
              <a:t>Applied Sciences</a:t>
            </a:r>
            <a:r>
              <a:rPr lang="en-US" dirty="0"/>
              <a:t>. 2023; 13(15):8919. </a:t>
            </a:r>
            <a:r>
              <a:rPr lang="en-US" u="sng" dirty="0">
                <a:hlinkClick r:id="rId6"/>
              </a:rPr>
              <a:t>https://doi.org/10.3390/app13158919</a:t>
            </a:r>
            <a:endParaRPr lang="en-US" dirty="0"/>
          </a:p>
          <a:p>
            <a:pPr marL="12700" marR="981710" indent="342900">
              <a:lnSpc>
                <a:spcPct val="100000"/>
              </a:lnSpc>
              <a:spcBef>
                <a:spcPts val="100"/>
              </a:spcBef>
              <a:buAutoNum type="arabicPeriod" startAt="15"/>
              <a:tabLst>
                <a:tab pos="355600" algn="l"/>
              </a:tabLst>
            </a:pPr>
            <a:endParaRPr lang="en-US" u="sng" spc="-10" dirty="0">
              <a:solidFill>
                <a:srgbClr val="0461C1"/>
              </a:solidFill>
              <a:uFill>
                <a:solidFill>
                  <a:srgbClr val="0461C1"/>
                </a:solidFill>
              </a:uFill>
              <a:latin typeface="Calibri"/>
              <a:cs typeface="Calibri"/>
              <a:hlinkClick r:id="rId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54C20D-6D39-B72E-F045-AA15375708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07F83D7-7DB8-EAE8-DDF2-75FE87BBC9BC}"/>
              </a:ext>
            </a:extLst>
          </p:cNvPr>
          <p:cNvSpPr txBox="1">
            <a:spLocks noGrp="1"/>
          </p:cNvSpPr>
          <p:nvPr>
            <p:ph type="title"/>
          </p:nvPr>
        </p:nvSpPr>
        <p:spPr>
          <a:prstGeom prst="rect">
            <a:avLst/>
          </a:prstGeom>
        </p:spPr>
        <p:txBody>
          <a:bodyPr vert="horz" wrap="square" lIns="0" tIns="259029" rIns="0" bIns="0" rtlCol="0">
            <a:spAutoFit/>
          </a:bodyPr>
          <a:lstStyle/>
          <a:p>
            <a:pPr marL="2388870">
              <a:lnSpc>
                <a:spcPct val="100000"/>
              </a:lnSpc>
              <a:spcBef>
                <a:spcPts val="95"/>
              </a:spcBef>
            </a:pPr>
            <a:r>
              <a:rPr spc="-20" dirty="0"/>
              <a:t>REFERENCES</a:t>
            </a:r>
          </a:p>
        </p:txBody>
      </p:sp>
      <p:sp>
        <p:nvSpPr>
          <p:cNvPr id="3" name="object 3">
            <a:extLst>
              <a:ext uri="{FF2B5EF4-FFF2-40B4-BE49-F238E27FC236}">
                <a16:creationId xmlns:a16="http://schemas.microsoft.com/office/drawing/2014/main" id="{C8D2A4BA-28C8-8136-0473-CBA117127191}"/>
              </a:ext>
            </a:extLst>
          </p:cNvPr>
          <p:cNvSpPr txBox="1">
            <a:spLocks noGrp="1"/>
          </p:cNvSpPr>
          <p:nvPr>
            <p:ph type="body" idx="1"/>
          </p:nvPr>
        </p:nvSpPr>
        <p:spPr>
          <a:xfrm>
            <a:off x="685800" y="1371600"/>
            <a:ext cx="11049000" cy="5011628"/>
          </a:xfrm>
          <a:prstGeom prst="rect">
            <a:avLst/>
          </a:prstGeom>
        </p:spPr>
        <p:txBody>
          <a:bodyPr vert="horz" wrap="square" lIns="0" tIns="12700" rIns="0" bIns="0" rtlCol="0">
            <a:spAutoFit/>
          </a:bodyPr>
          <a:lstStyle/>
          <a:p>
            <a:r>
              <a:rPr lang="en-US" b="1" dirty="0"/>
              <a:t>16. Visconti P, Rausa G, Del-Valle-Soto C, Velázquez R, </a:t>
            </a:r>
            <a:r>
              <a:rPr lang="en-US" b="1" dirty="0" err="1"/>
              <a:t>Cafagna</a:t>
            </a:r>
            <a:r>
              <a:rPr lang="en-US" b="1" dirty="0"/>
              <a:t> D, De Fazio R.</a:t>
            </a:r>
            <a:r>
              <a:rPr lang="en-US" dirty="0"/>
              <a:t> Innovative Driver Monitoring Systems and On-Board-Vehicle Devices in a Smart-Road Scenario Based on the Internet of Vehicle Paradigm: A Literature and Commercial Solutions Overview. </a:t>
            </a:r>
            <a:r>
              <a:rPr lang="en-US" i="1" dirty="0"/>
              <a:t>Sensors.</a:t>
            </a:r>
            <a:r>
              <a:rPr lang="en-US" dirty="0"/>
              <a:t> 2025; 25(2):562. </a:t>
            </a:r>
            <a:r>
              <a:rPr lang="en-US" u="sng" dirty="0">
                <a:hlinkClick r:id="rId2"/>
              </a:rPr>
              <a:t>https://doi.org/10.3390/s25020562</a:t>
            </a:r>
            <a:endParaRPr lang="en-US" u="sng" dirty="0"/>
          </a:p>
          <a:p>
            <a:endParaRPr lang="en-US" dirty="0"/>
          </a:p>
          <a:p>
            <a:r>
              <a:rPr lang="en-US" b="1" dirty="0"/>
              <a:t>17. Mansouri N, </a:t>
            </a:r>
            <a:r>
              <a:rPr lang="en-US" b="1" dirty="0" err="1"/>
              <a:t>Mnassri</a:t>
            </a:r>
            <a:r>
              <a:rPr lang="en-US" b="1" dirty="0"/>
              <a:t> A, Nasri S, Ali M, </a:t>
            </a:r>
            <a:r>
              <a:rPr lang="en-US" b="1" dirty="0" err="1"/>
              <a:t>Lashab</a:t>
            </a:r>
            <a:r>
              <a:rPr lang="en-US" b="1" dirty="0"/>
              <a:t> A, Vasquez JC, Guerrero JM.</a:t>
            </a:r>
            <a:r>
              <a:rPr lang="en-US" dirty="0"/>
              <a:t> Control and Optimization of Hydrogen Hybrid Electric Vehicles Using GPS-Based Speed Estimation. </a:t>
            </a:r>
            <a:r>
              <a:rPr lang="en-US" i="1" dirty="0"/>
              <a:t>Electronics.</a:t>
            </a:r>
            <a:r>
              <a:rPr lang="en-US" dirty="0"/>
              <a:t> 2025; 14(1):110. </a:t>
            </a:r>
            <a:r>
              <a:rPr lang="en-US" u="sng" dirty="0">
                <a:hlinkClick r:id="rId3"/>
              </a:rPr>
              <a:t>https://doi.org/10.3390/electronics14010110</a:t>
            </a:r>
            <a:endParaRPr lang="en-US" u="sng" dirty="0"/>
          </a:p>
          <a:p>
            <a:endParaRPr lang="en-US" dirty="0"/>
          </a:p>
          <a:p>
            <a:r>
              <a:rPr lang="en-US" b="1" dirty="0"/>
              <a:t>18. Wang T, Qu D.</a:t>
            </a:r>
            <a:r>
              <a:rPr lang="en-US" dirty="0"/>
              <a:t> Dynamic Stability Analysis and Optimization of Multi-Vehicle Systems in Heterogeneous Connected Traffic. </a:t>
            </a:r>
            <a:r>
              <a:rPr lang="en-US" i="1" dirty="0"/>
              <a:t>Sensors.</a:t>
            </a:r>
            <a:r>
              <a:rPr lang="en-US" dirty="0"/>
              <a:t> 2025; 25(3):727. </a:t>
            </a:r>
            <a:r>
              <a:rPr lang="en-US" u="sng" dirty="0">
                <a:hlinkClick r:id="rId4"/>
              </a:rPr>
              <a:t>https://doi.org/10.3390/s25030727</a:t>
            </a:r>
            <a:endParaRPr lang="en-US" u="sng" dirty="0"/>
          </a:p>
          <a:p>
            <a:endParaRPr lang="en-US" dirty="0"/>
          </a:p>
          <a:p>
            <a:r>
              <a:rPr lang="en-US" b="1" dirty="0"/>
              <a:t>19. </a:t>
            </a:r>
            <a:r>
              <a:rPr lang="en-US" b="1" dirty="0" err="1"/>
              <a:t>Bilban</a:t>
            </a:r>
            <a:r>
              <a:rPr lang="en-US" b="1" dirty="0"/>
              <a:t> M, </a:t>
            </a:r>
            <a:r>
              <a:rPr lang="en-US" b="1" dirty="0" err="1"/>
              <a:t>İnan</a:t>
            </a:r>
            <a:r>
              <a:rPr lang="en-US" b="1" dirty="0"/>
              <a:t> O.</a:t>
            </a:r>
            <a:r>
              <a:rPr lang="en-US" dirty="0"/>
              <a:t> Optimizing Autonomous Vehicle Performance Using Improved Proximal Policy Optimization. </a:t>
            </a:r>
            <a:r>
              <a:rPr lang="en-US" i="1" dirty="0"/>
              <a:t>Sensors.</a:t>
            </a:r>
            <a:r>
              <a:rPr lang="en-US" dirty="0"/>
              <a:t> 2025; 25(6):1941. </a:t>
            </a:r>
            <a:r>
              <a:rPr lang="en-US" u="sng" dirty="0">
                <a:hlinkClick r:id="rId5"/>
              </a:rPr>
              <a:t>https://doi.org/10.3390/s25061941</a:t>
            </a:r>
            <a:endParaRPr lang="en-US" u="sng" dirty="0"/>
          </a:p>
          <a:p>
            <a:endParaRPr lang="en-US" dirty="0"/>
          </a:p>
          <a:p>
            <a:r>
              <a:rPr lang="en-US" b="1" dirty="0"/>
              <a:t>20. Zhang B, Shen G, Wang Y, Zhang Y, Zhang C, Wang X, Liu Z, Luo X.</a:t>
            </a:r>
            <a:r>
              <a:rPr lang="en-US" dirty="0"/>
              <a:t> Multi-Objective Optimization of Speed Profile for Railway Catenary Maintenance Vehicle Operations Based on Improved Non-Dominated Sorting Genetic Algorithm III. </a:t>
            </a:r>
            <a:r>
              <a:rPr lang="en-US" i="1" dirty="0"/>
              <a:t>Applied Sciences.</a:t>
            </a:r>
            <a:r>
              <a:rPr lang="en-US" dirty="0"/>
              <a:t> 2025; 15(8):4361. </a:t>
            </a:r>
            <a:r>
              <a:rPr lang="en-US" u="sng" dirty="0">
                <a:hlinkClick r:id="rId6"/>
              </a:rPr>
              <a:t>https://doi.org/10.3390/app15084361</a:t>
            </a:r>
            <a:endParaRPr lang="en-US" dirty="0"/>
          </a:p>
          <a:p>
            <a:pPr marL="12700" marR="981710">
              <a:lnSpc>
                <a:spcPct val="100000"/>
              </a:lnSpc>
              <a:spcBef>
                <a:spcPts val="100"/>
              </a:spcBef>
              <a:tabLst>
                <a:tab pos="355600" algn="l"/>
              </a:tabLst>
            </a:pPr>
            <a:endParaRPr lang="en-US" u="sng" spc="-10" dirty="0">
              <a:solidFill>
                <a:srgbClr val="0461C1"/>
              </a:solidFill>
              <a:uFill>
                <a:solidFill>
                  <a:srgbClr val="0461C1"/>
                </a:solidFill>
              </a:uFill>
              <a:latin typeface="Calibri"/>
              <a:cs typeface="Calibri"/>
              <a:hlinkClick r:id="rId7"/>
            </a:endParaRPr>
          </a:p>
        </p:txBody>
      </p:sp>
    </p:spTree>
    <p:extLst>
      <p:ext uri="{BB962C8B-B14F-4D97-AF65-F5344CB8AC3E}">
        <p14:creationId xmlns:p14="http://schemas.microsoft.com/office/powerpoint/2010/main" val="2597257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1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299</TotalTime>
  <Words>3147</Words>
  <Application>Microsoft Office PowerPoint</Application>
  <PresentationFormat>Widescreen</PresentationFormat>
  <Paragraphs>356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Symbol</vt:lpstr>
      <vt:lpstr>Times New Roman</vt:lpstr>
      <vt:lpstr>Wingdings</vt:lpstr>
      <vt:lpstr>Office Theme</vt:lpstr>
      <vt:lpstr>PowerPoint Presentation</vt:lpstr>
      <vt:lpstr>INDEX</vt:lpstr>
      <vt:lpstr>ABSTRACT</vt:lpstr>
      <vt:lpstr>INTRODUCTION</vt:lpstr>
      <vt:lpstr>MOTIVATION</vt:lpstr>
      <vt:lpstr>PROBLEM DEFINITION</vt:lpstr>
      <vt:lpstr>LITERATURE SURVEY</vt:lpstr>
      <vt:lpstr>LITERATURE SURVEY</vt:lpstr>
      <vt:lpstr>LITERATURE SURVEY</vt:lpstr>
      <vt:lpstr>LITERATURE SURVEY</vt:lpstr>
      <vt:lpstr>RESEARCH GAPS</vt:lpstr>
      <vt:lpstr>TRADITIONAL SYSTEM</vt:lpstr>
      <vt:lpstr>DRAWBACKS</vt:lpstr>
      <vt:lpstr>EXISTING SYSTEM</vt:lpstr>
      <vt:lpstr>PROPOSED SYSTEM</vt:lpstr>
      <vt:lpstr>CONCLUSION</vt:lpstr>
      <vt:lpstr>REFERENCES</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vilasini naradasu</dc:creator>
  <cp:lastModifiedBy>vilasini naradasu</cp:lastModifiedBy>
  <cp:revision>3</cp:revision>
  <dcterms:created xsi:type="dcterms:W3CDTF">2025-11-24T13:36:10Z</dcterms:created>
  <dcterms:modified xsi:type="dcterms:W3CDTF">2025-11-25T06:13:56Z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2025-10-23T00:00:00Z</vt:filetime>
  </property>
  <property fmtid="{D5CDD505-2E9C-101B-9397-08002B2CF9AE}" pid="3" name="Creator">
    <vt:lpwstr>Microsoft® PowerPoint® 2019</vt:lpwstr>
  </property>
  <property fmtid="{D5CDD505-2E9C-101B-9397-08002B2CF9AE}" pid="4" name="LastSaved">
    <vt:filetime>2025-11-24T00:00:00Z</vt:filetime>
  </property>
  <property fmtid="{D5CDD505-2E9C-101B-9397-08002B2CF9AE}" pid="5" name="Producer">
    <vt:lpwstr>Microsoft® PowerPoint® 2019</vt:lpwstr>
  </property>
</Properties>
</file>